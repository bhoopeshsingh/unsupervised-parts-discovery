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9144000" cy="5143500"/>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2880"/>
        <p:guide pos="1620" orient="horz"/>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tableStyles" Target="tableStyles.xml"/><Relationship Id="rId2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roundedCorners val="0"/>
  <mc:AlternateContent>
    <mc:Choice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Accuracy (%)</c:v>
                </c:pt>
              </c:strCache>
            </c:strRef>
          </c:tx>
          <c:spPr bwMode="auto">
            <a:prstGeom prst="rect">
              <a:avLst/>
            </a:prstGeom>
            <a:solidFill>
              <a:srgbClr val="94A3B8"/>
            </a:solidFill>
            <a:effectLst/>
          </c:spPr>
          <c:invertIfNegative val="0"/>
          <c:dPt>
            <c:idx val="0"/>
            <c:invertIfNegative val="0"/>
            <c:bubble3D val="0"/>
            <c:spPr bwMode="auto">
              <a:prstGeom prst="rect">
                <a:avLst/>
              </a:prstGeom>
              <a:solidFill>
                <a:srgbClr val="94A3B8"/>
              </a:solidFill>
              <a:effectLst/>
            </c:spPr>
          </c:dPt>
          <c:dPt>
            <c:idx val="1"/>
            <c:invertIfNegative val="0"/>
            <c:bubble3D val="0"/>
            <c:spPr bwMode="auto">
              <a:prstGeom prst="rect">
                <a:avLst/>
              </a:prstGeom>
              <a:solidFill>
                <a:srgbClr val="0D9488"/>
              </a:solidFill>
              <a:effectLst/>
            </c:spPr>
          </c:dPt>
          <c:dPt>
            <c:idx val="2"/>
            <c:invertIfNegative val="0"/>
            <c:bubble3D val="0"/>
            <c:spPr bwMode="auto">
              <a:prstGeom prst="rect">
                <a:avLst/>
              </a:prstGeom>
              <a:solidFill>
                <a:srgbClr val="2D3A6A"/>
              </a:solidFill>
              <a:effectLst/>
            </c:spPr>
          </c:dPt>
          <c:dLbls>
            <c:numFmt formatCode="#,##0" sourceLinked="0"/>
            <c:showBubbleSize val="0"/>
            <c:showCatName val="0"/>
            <c:showLeaderLines val="0"/>
            <c:showLegendKey val="0"/>
            <c:showPercent val="0"/>
            <c:showSerName val="0"/>
            <c:showVal val="1"/>
            <c:txPr>
              <a:bodyPr/>
              <a:lstStyle/>
              <a:p>
                <a:pPr>
                  <a:defRPr sz="1300" b="0" i="0" u="none" strike="noStrike">
                    <a:solidFill>
                      <a:srgbClr val="1E293B"/>
                    </a:solidFill>
                    <a:latin typeface="Arial"/>
                  </a:defRPr>
                </a:pPr>
                <a:endParaRPr/>
              </a:p>
            </c:txPr>
          </c:dLbls>
          <c:cat>
            <c:multiLvlStrRef>
              <c:f>Sheet1!$A$2:$A$4</c:f>
              <c:multiLvlStrCache>
                <c:ptCount val="3"/>
                <c:lvl>
                  <c:pt idx="0">
                    <c:v>Chance
Baseline</c:v>
                  </c:pt>
                  <c:pt idx="1">
                    <c:v>Our System
(concepts only)</c:v>
                  </c:pt>
                  <c:pt idx="2">
                    <c:v>Supervised
Upper Bound</c:v>
                  </c:pt>
                </c:lvl>
              </c:multiLvlStrCache>
            </c:multiLvlStrRef>
          </c:cat>
          <c:val>
            <c:numRef>
              <c:f>Sheet1!$B$2:$B$4</c:f>
              <c:numCache>
                <c:formatCode>General</c:formatCode>
                <c:ptCount val="3"/>
                <c:pt idx="0">
                  <c:v>33.3</c:v>
                </c:pt>
                <c:pt idx="1">
                  <c:v>50.9</c:v>
                </c:pt>
                <c:pt idx="2">
                  <c:v>70</c:v>
                </c:pt>
              </c:numCache>
            </c:numRef>
          </c:val>
        </c:ser>
        <c:dLbls>
          <c:numFmt formatCode="#,##0" sourceLinked="0"/>
          <c:showBubbleSize val="0"/>
          <c:showCatName val="0"/>
          <c:showLeaderLines val="0"/>
          <c:showLegendKey val="0"/>
          <c:showPercent val="0"/>
          <c:showSerName val="0"/>
          <c:showVal val="1"/>
          <c:txPr>
            <a:bodyPr/>
            <a:lstStyle/>
            <a:p>
              <a:pPr>
                <a:defRPr sz="1300" b="0" i="0" u="none" strike="noStrike">
                  <a:solidFill>
                    <a:srgbClr val="1E293B"/>
                  </a:solidFill>
                  <a:latin typeface="Arial"/>
                </a:defRPr>
              </a:pPr>
              <a:endParaRPr/>
            </a:p>
          </c:txPr>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bwMode="auto">
          <a:prstGeom prst="rect">
            <a:avLst/>
          </a:prstGeom>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max val="100.000000"/>
          <c:min val="0.000000"/>
        </c:scaling>
        <c:delete val="0"/>
        <c:axPos val="l"/>
        <c:majorGridlines>
          <c:spPr bwMode="auto">
            <a:prstGeom prst="rect">
              <a:avLst/>
            </a:prstGeom>
            <a:ln w="6350" cap="flat">
              <a:solidFill>
                <a:srgbClr val="E2E8F0"/>
              </a:solidFill>
              <a:prstDash val="solid"/>
              <a:round/>
            </a:ln>
          </c:spPr>
        </c:majorGridlines>
        <c:numFmt formatCode="General" sourceLinked="0"/>
        <c:majorTickMark val="out"/>
        <c:minorTickMark val="none"/>
        <c:tickLblPos val="nextTo"/>
        <c:spPr bwMode="auto">
          <a:prstGeom prst="rect">
            <a:avLst/>
          </a:prstGeom>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bwMode="auto">
        <a:prstGeom prst="rect">
          <a:avLst/>
        </a:prstGeom>
        <a:noFill/>
        <a:ln>
          <a:noFill/>
        </a:ln>
        <a:effectLst/>
      </c:spPr>
    </c:plotArea>
    <c:plotVisOnly val="1"/>
    <c:dispBlanksAs val="span"/>
    <c:showDLblsOverMax val="0"/>
  </c:chart>
  <c:spPr bwMode="auto">
    <a:xfrm rot="0">
      <a:off x="228600" y="1051560"/>
      <a:ext cx="4251960" cy="2926080"/>
    </a:xfrm>
    <a:prstGeom prst="rect">
      <a:avLst/>
    </a:prstGeom>
    <a:solidFill>
      <a:srgbClr val="FFFFFF"/>
    </a:solidFill>
    <a:ln>
      <a:noFill/>
    </a:ln>
    <a:effectLst/>
  </c:spPr>
  <c:externalData r:id="rId1">
    <c:autoUpdate val="1"/>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503838470"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025073124"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619255808"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572352131"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1045325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591492468"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3513139" name="Slide Image Placeholder 1"/>
          <p:cNvSpPr>
            <a:spLocks noChangeAspect="1" noGrp="1" noRot="1"/>
          </p:cNvSpPr>
          <p:nvPr>
            <p:ph type="sldImg"/>
          </p:nvPr>
        </p:nvSpPr>
        <p:spPr bwMode="auto"/>
      </p:sp>
      <p:sp>
        <p:nvSpPr>
          <p:cNvPr id="47383507" name="Notes Placeholder 2"/>
          <p:cNvSpPr>
            <a:spLocks noGrp="1"/>
          </p:cNvSpPr>
          <p:nvPr>
            <p:ph type="body" idx="1"/>
          </p:nvPr>
        </p:nvSpPr>
        <p:spPr bwMode="auto"/>
        <p:txBody>
          <a:bodyPr/>
          <a:lstStyle/>
          <a:p>
            <a:pPr>
              <a:defRPr/>
            </a:pPr>
            <a:r>
              <a:rPr lang="en-US"/>
              <a:t>Good morning / afternoon. This dissertation presents a two-domain pipeline for discovering interpretable concepts from unlabeled data — no concept labels needed at any stage.</a:t>
            </a:r>
            <a:br>
              <a:rPr lang="en-US"/>
            </a:br>
            <a:br>
              <a:rPr lang="en-US"/>
            </a:br>
            <a:r>
              <a:rPr lang="en-US"/>
              <a:t>The core claim is simple: meaningful semantic concepts can emerge from data structure alone, and once named, those concepts produce auditable predictions that clinicians or examiners can actually inspect.</a:t>
            </a:r>
            <a:br>
              <a:rPr lang="en-US"/>
            </a:br>
            <a:br>
              <a:rPr lang="en-US"/>
            </a:br>
            <a:r>
              <a:rPr lang="en-US"/>
              <a:t>I'll cover the motivation and literature gaps, the architecture, results across both visual and lab domains, and an honest assessment of what worked and what remains open.</a:t>
            </a:r>
            <a:endParaRPr lang="en-US"/>
          </a:p>
        </p:txBody>
      </p:sp>
      <p:sp>
        <p:nvSpPr>
          <p:cNvPr id="1518826600"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3442517" name="Slide Image Placeholder 1"/>
          <p:cNvSpPr>
            <a:spLocks noChangeAspect="1" noGrp="1" noRot="1"/>
          </p:cNvSpPr>
          <p:nvPr>
            <p:ph type="sldImg"/>
          </p:nvPr>
        </p:nvSpPr>
        <p:spPr bwMode="auto"/>
      </p:sp>
      <p:sp>
        <p:nvSpPr>
          <p:cNvPr id="1033544805" name="Notes Placeholder 2"/>
          <p:cNvSpPr>
            <a:spLocks noGrp="1"/>
          </p:cNvSpPr>
          <p:nvPr>
            <p:ph type="body" idx="1"/>
          </p:nvPr>
        </p:nvSpPr>
        <p:spPr bwMode="auto"/>
        <p:txBody>
          <a:bodyPr/>
          <a:lstStyle/>
          <a:p>
            <a:pPr>
              <a:defRPr/>
            </a:pPr>
            <a:r>
              <a:rPr lang="en-US"/>
              <a:t>Clinical AI has a well-documented trust problem. Models can be highly accurate but completely opaque — a clinician cannot verify why a specific prediction was made, which is unacceptable for high-stakes decisions.</a:t>
            </a:r>
            <a:br>
              <a:rPr lang="en-US"/>
            </a:br>
            <a:br>
              <a:rPr lang="en-US"/>
            </a:br>
            <a:r>
              <a:rPr lang="en-US"/>
              <a:t>GDPR Article 22 and the EU AI Act both create legal obligations for explainability in automated patient-affecting systems. Existing methods — TCAV, CBM, ACE — address this, but they all share a critical dependency: concept definitions must be specified before or during training. In clinical settings that annotation is expensive, scarce, and often unavailable.</a:t>
            </a:r>
            <a:br>
              <a:rPr lang="en-US"/>
            </a:br>
            <a:br>
              <a:rPr lang="en-US"/>
            </a:br>
            <a:r>
              <a:rPr lang="en-US"/>
              <a:t>Our approach flips the order: we discover first, then name. The research question is whether that discovered structure is semantically meaningful enough to be useful.</a:t>
            </a:r>
            <a:endParaRPr lang="en-US"/>
          </a:p>
        </p:txBody>
      </p:sp>
      <p:sp>
        <p:nvSpPr>
          <p:cNvPr id="123298879"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8972699" name="Slide Image Placeholder 1"/>
          <p:cNvSpPr>
            <a:spLocks noChangeAspect="1" noGrp="1" noRot="1"/>
          </p:cNvSpPr>
          <p:nvPr>
            <p:ph type="sldImg"/>
          </p:nvPr>
        </p:nvSpPr>
        <p:spPr bwMode="auto"/>
      </p:sp>
      <p:sp>
        <p:nvSpPr>
          <p:cNvPr id="432827796" name="Notes Placeholder 2"/>
          <p:cNvSpPr>
            <a:spLocks noGrp="1"/>
          </p:cNvSpPr>
          <p:nvPr>
            <p:ph type="body" idx="1"/>
          </p:nvPr>
        </p:nvSpPr>
        <p:spPr bwMode="auto"/>
        <p:txBody>
          <a:bodyPr/>
          <a:lstStyle/>
          <a:p>
            <a:pPr>
              <a:defRPr/>
            </a:pPr>
            <a:r>
              <a:rPr lang="en-US"/>
              <a:t>The dissertation is structured around three specific literature gaps, each motivating one design pillar.</a:t>
            </a:r>
            <a:br>
              <a:rPr lang="en-US"/>
            </a:br>
            <a:br>
              <a:rPr lang="en-US"/>
            </a:br>
            <a:r>
              <a:rPr lang="en-US"/>
              <a:t>Gap 1: TCAV, CBM, and ACE all require pre-specified concept labels. Our response is unsupervised GMM clustering — concepts are discovered from data structure, labeled post-hoc only. Zero annotation at training time.</a:t>
            </a:r>
            <a:br>
              <a:rPr lang="en-US"/>
            </a:br>
            <a:br>
              <a:rPr lang="en-US"/>
            </a:br>
            <a:r>
              <a:rPr lang="en-US"/>
              <a:t>Gap 2: DINO and FT-Transformer papers never analysed their intermediate layers for concept content — they only used the final layer. We extract from three layers simultaneously and show that intermediate layers carry richer concept structure than the final layer alone. This is validated by ablation.</a:t>
            </a:r>
            <a:br>
              <a:rPr lang="en-US"/>
            </a:br>
            <a:br>
              <a:rPr lang="en-US"/>
            </a:br>
            <a:r>
              <a:rPr lang="en-US"/>
              <a:t>Gap 3: ClusterLLM showed LLMs can guide concept formation, but only for text and NLP data. We extend this to numerical clinical data: the LLM reads statistical deviation profiles and suggests clinical concept names. This is novel.</a:t>
            </a:r>
            <a:endParaRPr lang="en-US"/>
          </a:p>
        </p:txBody>
      </p:sp>
      <p:sp>
        <p:nvSpPr>
          <p:cNvPr id="735035037"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69976390" name="Slide Image Placeholder 1"/>
          <p:cNvSpPr>
            <a:spLocks noChangeAspect="1" noGrp="1" noRot="1"/>
          </p:cNvSpPr>
          <p:nvPr>
            <p:ph type="sldImg"/>
          </p:nvPr>
        </p:nvSpPr>
        <p:spPr bwMode="auto"/>
      </p:sp>
      <p:sp>
        <p:nvSpPr>
          <p:cNvPr id="569837518" name="Notes Placeholder 2"/>
          <p:cNvSpPr>
            <a:spLocks noGrp="1"/>
          </p:cNvSpPr>
          <p:nvPr>
            <p:ph type="body" idx="1"/>
          </p:nvPr>
        </p:nvSpPr>
        <p:spPr bwMode="auto"/>
        <p:txBody>
          <a:bodyPr/>
          <a:lstStyle/>
          <a:p>
            <a:pPr>
              <a:defRPr/>
            </a:pPr>
            <a:r>
              <a:rPr lang="en-US"/>
              <a:t>The pipeline has three stages, and this same structure applies identically to both domains.</a:t>
            </a:r>
            <a:br>
              <a:rPr lang="en-US"/>
            </a:br>
            <a:br>
              <a:rPr lang="en-US"/>
            </a:br>
            <a:r>
              <a:rPr lang="en-US"/>
              <a:t>Stage 1 — Discover: an encoder processes unlabeled data, and GMM finds 30 natural cluster groupings. No labels of any kind are used here.</a:t>
            </a:r>
            <a:br>
              <a:rPr lang="en-US"/>
            </a:br>
            <a:br>
              <a:rPr lang="en-US"/>
            </a:br>
            <a:r>
              <a:rPr lang="en-US"/>
              <a:t>Stage 2 — Name: a human SME or LLM looks at each cluster and assigns a semantic name. Labels only appear here, post-hoc.</a:t>
            </a:r>
            <a:br>
              <a:rPr lang="en-US"/>
            </a:br>
            <a:br>
              <a:rPr lang="en-US"/>
            </a:br>
            <a:r>
              <a:rPr lang="en-US"/>
              <a:t>Stage 3 — Predict: concept activation scores replace raw features as the input to a classifier. The key property: Stage 3 works even though Stage 1 never saw any class or diagnosis labels.</a:t>
            </a:r>
            <a:br>
              <a:rPr lang="en-US"/>
            </a:br>
            <a:br>
              <a:rPr lang="en-US"/>
            </a:br>
            <a:r>
              <a:rPr lang="en-US"/>
              <a:t>This three-stage structure is not just a pipeline — it is the architecture-level response to Gap 1. Concept discovery precedes labeling, which precedes prediction.</a:t>
            </a:r>
            <a:endParaRPr lang="en-US"/>
          </a:p>
        </p:txBody>
      </p:sp>
      <p:sp>
        <p:nvSpPr>
          <p:cNvPr id="1439266342"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0037262" name="Slide Image Placeholder 1"/>
          <p:cNvSpPr>
            <a:spLocks noChangeAspect="1" noGrp="1" noRot="1"/>
          </p:cNvSpPr>
          <p:nvPr>
            <p:ph type="sldImg"/>
          </p:nvPr>
        </p:nvSpPr>
        <p:spPr bwMode="auto"/>
      </p:sp>
      <p:sp>
        <p:nvSpPr>
          <p:cNvPr id="408295681" name="Notes Placeholder 2"/>
          <p:cNvSpPr>
            <a:spLocks noGrp="1"/>
          </p:cNvSpPr>
          <p:nvPr>
            <p:ph type="body" idx="1"/>
          </p:nvPr>
        </p:nvSpPr>
        <p:spPr bwMode="auto"/>
        <p:txBody>
          <a:bodyPr/>
          <a:lstStyle/>
          <a:p>
            <a:pPr>
              <a:defRPr/>
            </a:pPr>
            <a:r>
              <a:rPr lang="en-US"/>
              <a:t>Domain A is the primary contribution. This is where the full architecture was designed, implemented, and validated against four controlled ablation baselines.</a:t>
            </a:r>
            <a:br>
              <a:rPr lang="en-US"/>
            </a:br>
            <a:br>
              <a:rPr lang="en-US"/>
            </a:br>
            <a:r>
              <a:rPr lang="en-US"/>
              <a:t>The data is 14,000 images across Oxford Pets, Stanford Cars, and CUB-200. No class labels are used during concept discovery — only for the final SVM probe.</a:t>
            </a:r>
            <a:br>
              <a:rPr lang="en-US"/>
            </a:br>
            <a:br>
              <a:rPr lang="en-US"/>
            </a:br>
            <a:r>
              <a:rPr lang="en-US"/>
              <a:t>DINO ViT-S/8 extracts patch features from three layers simultaneously. L8 captures low-level texture, L10 captures part-level shapes, L12 captures semantic structure. Concatenating these gives a 1,152-dimensional vector per patch. PCA reduces this to 128 dimensions before GMM.</a:t>
            </a:r>
            <a:br>
              <a:rPr lang="en-US"/>
            </a:br>
            <a:br>
              <a:rPr lang="en-US"/>
            </a:br>
            <a:r>
              <a:rPr lang="en-US"/>
              <a:t>The labeling interface — label_tool.py — is a Streamlit application I built that presents a grid of patch thumbnails per cluster. The human SME types a concept name for each cluster.</a:t>
            </a:r>
            <a:endParaRPr lang="en-US"/>
          </a:p>
        </p:txBody>
      </p:sp>
      <p:sp>
        <p:nvSpPr>
          <p:cNvPr id="1409578883"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6017439" name="Slide Image Placeholder 1"/>
          <p:cNvSpPr>
            <a:spLocks noChangeAspect="1" noGrp="1" noRot="1"/>
          </p:cNvSpPr>
          <p:nvPr>
            <p:ph type="sldImg"/>
          </p:nvPr>
        </p:nvSpPr>
        <p:spPr bwMode="auto"/>
      </p:sp>
      <p:sp>
        <p:nvSpPr>
          <p:cNvPr id="1823589864" name="Notes Placeholder 2"/>
          <p:cNvSpPr>
            <a:spLocks noGrp="1"/>
          </p:cNvSpPr>
          <p:nvPr>
            <p:ph type="body" idx="1"/>
          </p:nvPr>
        </p:nvSpPr>
        <p:spPr bwMode="auto"/>
        <p:txBody>
          <a:bodyPr/>
          <a:lstStyle/>
          <a:p>
            <a:pPr>
              <a:defRPr/>
            </a:pPr>
            <a:r>
              <a:rPr lang="en-US"/>
              <a:t>This is what the pipeline actually produces for a test image it has never seen.</a:t>
            </a:r>
            <a:br>
              <a:rPr lang="en-US"/>
            </a:br>
            <a:br>
              <a:rPr lang="en-US"/>
            </a:br>
            <a:r>
              <a:rPr lang="en-US"/>
              <a:t>The semantic part map overlays every image patch with the colour of its dominant concept cluster. You can see the blue-green region covering the neck area, the dark patches on the tail, the wing pattern in brown. These are the named concepts activating spatially on the image.</a:t>
            </a:r>
            <a:br>
              <a:rPr lang="en-US"/>
            </a:br>
            <a:br>
              <a:rPr lang="en-US"/>
            </a:br>
            <a:r>
              <a:rPr lang="en-US"/>
              <a:t>The bar chart ranks all 30 concepts by their contribution — activation times the classifier weight. Bird: eye, neck, tail, and wings all score highly. Every single cat and car concept is near zero.</a:t>
            </a:r>
            <a:br>
              <a:rPr lang="en-US"/>
            </a:br>
            <a:br>
              <a:rPr lang="en-US"/>
            </a:br>
            <a:r>
              <a:rPr lang="en-US"/>
              <a:t>The system has never seen a class label during concept discovery. Yet the concepts it found naturally align with the visual parts that distinguish birds from cats and cars. This is the qualitative evidence that the approach works.</a:t>
            </a:r>
            <a:endParaRPr lang="en-US"/>
          </a:p>
        </p:txBody>
      </p:sp>
      <p:sp>
        <p:nvSpPr>
          <p:cNvPr id="2077761228"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7993807" name="Slide Image Placeholder 1"/>
          <p:cNvSpPr>
            <a:spLocks noChangeAspect="1" noGrp="1" noRot="1"/>
          </p:cNvSpPr>
          <p:nvPr>
            <p:ph type="sldImg"/>
          </p:nvPr>
        </p:nvSpPr>
        <p:spPr bwMode="auto"/>
      </p:sp>
      <p:sp>
        <p:nvSpPr>
          <p:cNvPr id="1730794269" name="Notes Placeholder 2"/>
          <p:cNvSpPr>
            <a:spLocks noGrp="1"/>
          </p:cNvSpPr>
          <p:nvPr>
            <p:ph type="body" idx="1"/>
          </p:nvPr>
        </p:nvSpPr>
        <p:spPr bwMode="auto"/>
        <p:txBody>
          <a:bodyPr/>
          <a:lstStyle/>
          <a:p>
            <a:pPr>
              <a:defRPr/>
            </a:pPr>
            <a:r>
              <a:rPr lang="en-US"/>
              <a:t>Scaling to all three classes confirms the pattern is not specific to birds.</a:t>
            </a:r>
            <a:br>
              <a:rPr lang="en-US"/>
            </a:br>
            <a:br>
              <a:rPr lang="en-US"/>
            </a:br>
            <a:r>
              <a:rPr lang="en-US"/>
              <a:t>For CAT: cat:face dominates at 2.12, followed by nose, eye, ear, and fur. The face and facial features are exactly what visually distinguishes cats.</a:t>
            </a:r>
            <a:br>
              <a:rPr lang="en-US"/>
            </a:br>
            <a:br>
              <a:rPr lang="en-US"/>
            </a:br>
            <a:r>
              <a:rPr lang="en-US"/>
              <a:t>For CAR: car:bumpe corner leads at 1.44, followed by side fender and wheel arch. These are the structural body parts of a car — exactly the right concepts.</a:t>
            </a:r>
            <a:br>
              <a:rPr lang="en-US"/>
            </a:br>
            <a:br>
              <a:rPr lang="en-US"/>
            </a:br>
            <a:r>
              <a:rPr lang="en-US"/>
              <a:t>For BIRD: eye, neck, and tail are equal at around 0.70, wings close behind. Feather and beak follow.</a:t>
            </a:r>
            <a:br>
              <a:rPr lang="en-US"/>
            </a:br>
            <a:br>
              <a:rPr lang="en-US"/>
            </a:br>
            <a:r>
              <a:rPr lang="en-US"/>
              <a:t>In every case, the grey bars — cross-class concepts — are near-zero. A cat image does not activate bird or car concepts. A car image does not activate cat or bird concepts. This confirms the concepts are semantically specific, not arbitrary, and that the unsupervised discovery captured genuine class-discriminative structure.</a:t>
            </a:r>
            <a:endParaRPr lang="en-US"/>
          </a:p>
        </p:txBody>
      </p:sp>
      <p:sp>
        <p:nvSpPr>
          <p:cNvPr id="1027350478"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9531208" name="Slide Image Placeholder 1"/>
          <p:cNvSpPr>
            <a:spLocks noChangeAspect="1" noGrp="1" noRot="1"/>
          </p:cNvSpPr>
          <p:nvPr>
            <p:ph type="sldImg"/>
          </p:nvPr>
        </p:nvSpPr>
        <p:spPr bwMode="auto"/>
      </p:sp>
      <p:sp>
        <p:nvSpPr>
          <p:cNvPr id="1321269761" name="Notes Placeholder 2"/>
          <p:cNvSpPr>
            <a:spLocks noGrp="1"/>
          </p:cNvSpPr>
          <p:nvPr>
            <p:ph type="body" idx="1"/>
          </p:nvPr>
        </p:nvSpPr>
        <p:spPr bwMode="auto"/>
        <p:txBody>
          <a:bodyPr/>
          <a:lstStyle/>
          <a:p>
            <a:pPr>
              <a:defRPr/>
            </a:pPr>
            <a:r>
              <a:rPr lang="en-US"/>
              <a:t>Domain B is a generalisation study. The question is: does the same three-stage architecture transfer to a completely different kind of data?</a:t>
            </a:r>
            <a:br>
              <a:rPr lang="en-US"/>
            </a:br>
            <a:br>
              <a:rPr lang="en-US"/>
            </a:br>
            <a:r>
              <a:rPr lang="en-US"/>
              <a:t>NHANES provides 18,673 patient records with 34 lab test values across three clinical panels: CBC, BMP, and Lipid. No diagnosis labels are used at any point in concept discovery.</a:t>
            </a:r>
            <a:br>
              <a:rPr lang="en-US"/>
            </a:br>
            <a:br>
              <a:rPr lang="en-US"/>
            </a:br>
            <a:r>
              <a:rPr lang="en-US"/>
              <a:t>The key architectural adaptation is the PanelFTTransformer — PSFTT — which I designed specifically for panel-structured tabular data. Each lab test gets its own weight vector. Panel Positional Encoding explicitly encodes which panel — CBC, BMP, or Lipid — each token belongs to. Two-scale SSL pretrains the encoder to learn both within-panel biochemistry and cross-panel correlations.</a:t>
            </a:r>
            <a:br>
              <a:rPr lang="en-US"/>
            </a:br>
            <a:br>
              <a:rPr lang="en-US"/>
            </a:br>
            <a:r>
              <a:rPr lang="en-US"/>
              <a:t>Labeling shifts from human SME to LLM: the LLM reads statistical deviation profiles of each cluster centroid and suggests a clinical name.</a:t>
            </a:r>
            <a:endParaRPr lang="en-US"/>
          </a:p>
        </p:txBody>
      </p:sp>
      <p:sp>
        <p:nvSpPr>
          <p:cNvPr id="1386266656"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2705214" name="Slide Image Placeholder 1"/>
          <p:cNvSpPr>
            <a:spLocks noChangeAspect="1" noGrp="1" noRot="1"/>
          </p:cNvSpPr>
          <p:nvPr>
            <p:ph type="sldImg"/>
          </p:nvPr>
        </p:nvSpPr>
        <p:spPr bwMode="auto"/>
      </p:sp>
      <p:sp>
        <p:nvSpPr>
          <p:cNvPr id="181740835" name="Notes Placeholder 2"/>
          <p:cNvSpPr>
            <a:spLocks noGrp="1"/>
          </p:cNvSpPr>
          <p:nvPr>
            <p:ph type="body" idx="1"/>
          </p:nvPr>
        </p:nvSpPr>
        <p:spPr bwMode="auto"/>
        <p:txBody>
          <a:bodyPr/>
          <a:lstStyle/>
          <a:p>
            <a:pPr>
              <a:defRPr/>
            </a:pPr>
            <a:r>
              <a:rPr lang="en-US"/>
              <a:t>All 30 LLM-suggested labels were independently validated as clinically plausible. I want to highlight what that means: the GMM found these clusters without any supervision, and the LLM correctly identified their clinical meaning from the numbers alone.</a:t>
            </a:r>
            <a:br>
              <a:rPr lang="en-US"/>
            </a:br>
            <a:br>
              <a:rPr lang="en-US"/>
            </a:br>
            <a:r>
              <a:rPr lang="en-US"/>
              <a:t>Particularly notable: the Lipid panel produced a 'healthy_population' cluster with 1,221 records. The model discovered that some patients simply have normal lipid values — without ever being told what 'healthy' means. That is an emergent finding.</a:t>
            </a:r>
            <a:br>
              <a:rPr lang="en-US"/>
            </a:br>
            <a:br>
              <a:rPr lang="en-US"/>
            </a:br>
            <a:r>
              <a:rPr lang="en-US"/>
              <a:t>Other highlights: 'postprandial_hyperglycemia' in the BMP panel — a very specific clinical term suggesting elevated blood sugar after eating — emerged from the cluster centroid pattern. 'mildly_elevated_risk_cardiovascular_disease' in the Lipid panel also appeared. These are not generic names — they reflect genuine clinical knowledge captured from the data distribution.</a:t>
            </a:r>
            <a:endParaRPr lang="en-US"/>
          </a:p>
        </p:txBody>
      </p:sp>
      <p:sp>
        <p:nvSpPr>
          <p:cNvPr id="1039324965"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400902" name="Slide Image Placeholder 1"/>
          <p:cNvSpPr>
            <a:spLocks noChangeAspect="1" noGrp="1" noRot="1"/>
          </p:cNvSpPr>
          <p:nvPr>
            <p:ph type="sldImg"/>
          </p:nvPr>
        </p:nvSpPr>
        <p:spPr bwMode="auto"/>
      </p:sp>
      <p:sp>
        <p:nvSpPr>
          <p:cNvPr id="417832159" name="Notes Placeholder 2"/>
          <p:cNvSpPr>
            <a:spLocks noGrp="1"/>
          </p:cNvSpPr>
          <p:nvPr>
            <p:ph type="body" idx="1"/>
          </p:nvPr>
        </p:nvSpPr>
        <p:spPr bwMode="auto"/>
        <p:txBody>
          <a:bodyPr/>
          <a:lstStyle/>
          <a:p>
            <a:pPr>
              <a:defRPr/>
            </a:pPr>
            <a:r>
              <a:rPr lang="en-US"/>
              <a:t>I want to be direct about this result: 50.9% accuracy against a 33.3% baseline. That is 1.53 times chance, and I report it honestly.</a:t>
            </a:r>
            <a:br>
              <a:rPr lang="en-US"/>
            </a:br>
            <a:br>
              <a:rPr lang="en-US"/>
            </a:br>
            <a:r>
              <a:rPr lang="en-US"/>
              <a:t>The per-class recall tells the important story: normal achieves 0.98, diabetes 0.05, hypertension 0.01. The classifier collapses to predicting normal. This is expected — GMM optimises cluster cohesion, not diagnostic separability. A cluster labelled 'metabolic_syndrome' will contain a mix of diabetic, hypertensive, and normal patients, because metabolic syndrome is a biochemical pattern, not a diagnosis.</a:t>
            </a:r>
            <a:br>
              <a:rPr lang="en-US"/>
            </a:br>
            <a:br>
              <a:rPr lang="en-US"/>
            </a:br>
            <a:r>
              <a:rPr lang="en-US"/>
              <a:t>The result partially supports the core claim. It does not falsify it — 33% would have falsified it. But it identifies a clear gap: we need non-linear concept classifiers, or GMM variants that account for diagnostic boundaries.</a:t>
            </a:r>
            <a:br>
              <a:rPr lang="en-US"/>
            </a:br>
            <a:br>
              <a:rPr lang="en-US"/>
            </a:br>
            <a:r>
              <a:rPr lang="en-US"/>
              <a:t>The stronger evidence for the generalisation claim is the semantic coherence of the 30 concept names — not the classification accuracy.</a:t>
            </a:r>
            <a:endParaRPr lang="en-US"/>
          </a:p>
        </p:txBody>
      </p:sp>
      <p:sp>
        <p:nvSpPr>
          <p:cNvPr id="388507443"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2740214" name="Slide Image Placeholder 1"/>
          <p:cNvSpPr>
            <a:spLocks noChangeAspect="1" noGrp="1" noRot="1"/>
          </p:cNvSpPr>
          <p:nvPr>
            <p:ph type="sldImg"/>
          </p:nvPr>
        </p:nvSpPr>
        <p:spPr bwMode="auto"/>
      </p:sp>
      <p:sp>
        <p:nvSpPr>
          <p:cNvPr id="654887668" name="Notes Placeholder 2"/>
          <p:cNvSpPr>
            <a:spLocks noGrp="1"/>
          </p:cNvSpPr>
          <p:nvPr>
            <p:ph type="body" idx="1"/>
          </p:nvPr>
        </p:nvSpPr>
        <p:spPr bwMode="auto"/>
        <p:txBody>
          <a:bodyPr/>
          <a:lstStyle/>
          <a:p>
            <a:pPr>
              <a:defRPr/>
            </a:pPr>
            <a:r>
              <a:rPr lang="en-US"/>
              <a:t>Three design decisions each address one gap directly, and each is validated by an ablation.</a:t>
            </a:r>
            <a:br>
              <a:rPr lang="en-US"/>
            </a:br>
            <a:br>
              <a:rPr lang="en-US"/>
            </a:br>
            <a:r>
              <a:rPr lang="en-US"/>
              <a:t>Multi-layer extraction addresses Gap 2. Ablation B — single-layer versus multi-layer — shows measurable drops in silhouette score, NMI, and class purity when only the final layer is used. Different layers capture different levels of abstraction; losing any layer loses information.</a:t>
            </a:r>
            <a:br>
              <a:rPr lang="en-US"/>
            </a:br>
            <a:br>
              <a:rPr lang="en-US"/>
            </a:br>
            <a:r>
              <a:rPr lang="en-US"/>
              <a:t>Panel Positional Encoding is domain-specific. Without it, the encoder treats CBC, BMP, and Lipid tests identically — but clinically they measure different biological systems. Panel PE encodes that domain knowledge directly into the model architecture. The ablation shows that removing it causes inter-panel concept blending — clusters that should be panel-specific become mixed.</a:t>
            </a:r>
            <a:br>
              <a:rPr lang="en-US"/>
            </a:br>
            <a:br>
              <a:rPr lang="en-US"/>
            </a:br>
            <a:r>
              <a:rPr lang="en-US"/>
              <a:t>Two-scale SSL addresses the Lab-MAE gap. Random masking only learns individual test-level patterns. Our approach — within-panel masking plus cross-panel dropout — forces the encoder to learn both local panel biochemistry and cross-panel metabolic correlations simultaneously.</a:t>
            </a:r>
            <a:endParaRPr lang="en-US"/>
          </a:p>
        </p:txBody>
      </p:sp>
      <p:sp>
        <p:nvSpPr>
          <p:cNvPr id="229787770"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1605221" name="Slide Image Placeholder 1"/>
          <p:cNvSpPr>
            <a:spLocks noChangeAspect="1" noGrp="1" noRot="1"/>
          </p:cNvSpPr>
          <p:nvPr>
            <p:ph type="sldImg"/>
          </p:nvPr>
        </p:nvSpPr>
        <p:spPr bwMode="auto"/>
      </p:sp>
      <p:sp>
        <p:nvSpPr>
          <p:cNvPr id="633251128" name="Notes Placeholder 2"/>
          <p:cNvSpPr>
            <a:spLocks noGrp="1"/>
          </p:cNvSpPr>
          <p:nvPr>
            <p:ph type="body" idx="1"/>
          </p:nvPr>
        </p:nvSpPr>
        <p:spPr bwMode="auto"/>
        <p:txBody>
          <a:bodyPr/>
          <a:lstStyle/>
          <a:p>
            <a:pPr>
              <a:defRPr/>
            </a:pPr>
            <a:r>
              <a:rPr lang="en-US"/>
              <a:t>To summarise the three contributions explicitly.</a:t>
            </a:r>
            <a:br>
              <a:rPr lang="en-US"/>
            </a:br>
            <a:br>
              <a:rPr lang="en-US"/>
            </a:br>
            <a:r>
              <a:rPr lang="en-US"/>
              <a:t>Pillar 1 closes Gap 1: fully unsupervised concept discovery with no annotation at any stage, demonstrated on both image and clinical tabular data.</a:t>
            </a:r>
            <a:br>
              <a:rPr lang="en-US"/>
            </a:br>
            <a:br>
              <a:rPr lang="en-US"/>
            </a:br>
            <a:r>
              <a:rPr lang="en-US"/>
              <a:t>Pillar 2 closes Gap 2: domain-informed multi-layer encoder design. Multi-layer extraction is validated by ablation on the visual domain; Panel PE and two-scale SSL are validated on the lab domain. Together they show that intermediate layer structure carries concept-level information that final-layer-only approaches miss.</a:t>
            </a:r>
            <a:br>
              <a:rPr lang="en-US"/>
            </a:br>
            <a:br>
              <a:rPr lang="en-US"/>
            </a:br>
            <a:r>
              <a:rPr lang="en-US"/>
              <a:t>Pillar 3 closes Gap 3: the first application of LLM-mediated semantic grounding to numerical clinical data. ClusterLLM showed this worked for text — we showed it works when the LLM reads deviation profiles of lab centroid values. The human validation loop ensures clinical accuracy.</a:t>
            </a:r>
            <a:br>
              <a:rPr lang="en-US"/>
            </a:br>
            <a:br>
              <a:rPr lang="en-US"/>
            </a:br>
            <a:r>
              <a:rPr lang="en-US"/>
              <a:t>These three pillars form a framework, not just a pipeline — the same logic applies across both domains.</a:t>
            </a:r>
            <a:endParaRPr lang="en-US"/>
          </a:p>
        </p:txBody>
      </p:sp>
      <p:sp>
        <p:nvSpPr>
          <p:cNvPr id="1918975360"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9640901" name="Slide Image Placeholder 1"/>
          <p:cNvSpPr>
            <a:spLocks noChangeAspect="1" noGrp="1" noRot="1"/>
          </p:cNvSpPr>
          <p:nvPr>
            <p:ph type="sldImg"/>
          </p:nvPr>
        </p:nvSpPr>
        <p:spPr bwMode="auto"/>
      </p:sp>
      <p:sp>
        <p:nvSpPr>
          <p:cNvPr id="294730572" name="Notes Placeholder 2"/>
          <p:cNvSpPr>
            <a:spLocks noGrp="1"/>
          </p:cNvSpPr>
          <p:nvPr>
            <p:ph type="body" idx="1"/>
          </p:nvPr>
        </p:nvSpPr>
        <p:spPr bwMode="auto"/>
        <p:txBody>
          <a:bodyPr/>
          <a:lstStyle/>
          <a:p>
            <a:pPr>
              <a:defRPr/>
            </a:pPr>
            <a:r>
              <a:rPr lang="en-US"/>
              <a:t>In conclusion: the primary contribution is a validated unsupervised concept discovery pipeline for the visual domain, with four ablations confirming each design decision. The secondary contribution is a generalisation study on NHANES lab data, demonstrating that the same three-stage architecture transfers to tabular clinical data.</a:t>
            </a:r>
            <a:br>
              <a:rPr lang="en-US"/>
            </a:br>
            <a:br>
              <a:rPr lang="en-US"/>
            </a:br>
            <a:r>
              <a:rPr lang="en-US"/>
              <a:t>The visual results are strong: 100% accurate predictions on all three classes, with named concept attributions that match human visual understanding of those classes. The lab results are honest: above-chance accuracy but with class collapse, which I have explained and framed correctly.</a:t>
            </a:r>
            <a:br>
              <a:rPr lang="en-US"/>
            </a:br>
            <a:br>
              <a:rPr lang="en-US"/>
            </a:br>
            <a:r>
              <a:rPr lang="en-US"/>
              <a:t>For future work: MIMIC-IV would provide physician-confirmed diagnoses at scale for stronger clinical validation. Non-linear concept classifiers would address the recall problem. Formal EU AI Act Article 13 compliance assessment would be needed before any clinical deployment.</a:t>
            </a:r>
            <a:br>
              <a:rPr lang="en-US"/>
            </a:br>
            <a:br>
              <a:rPr lang="en-US"/>
            </a:br>
            <a:r>
              <a:rPr lang="en-US"/>
              <a:t>Happy to take questions.</a:t>
            </a:r>
            <a:endParaRPr lang="en-US"/>
          </a:p>
        </p:txBody>
      </p:sp>
      <p:sp>
        <p:nvSpPr>
          <p:cNvPr id="1941068091"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9720198" name="Slide Image Placeholder 1"/>
          <p:cNvSpPr>
            <a:spLocks noChangeAspect="1" noGrp="1" noRot="1"/>
          </p:cNvSpPr>
          <p:nvPr>
            <p:ph type="sldImg"/>
          </p:nvPr>
        </p:nvSpPr>
        <p:spPr bwMode="auto"/>
      </p:sp>
      <p:sp>
        <p:nvSpPr>
          <p:cNvPr id="359396599" name="Notes Placeholder 2"/>
          <p:cNvSpPr>
            <a:spLocks noGrp="1"/>
          </p:cNvSpPr>
          <p:nvPr>
            <p:ph type="body" idx="1"/>
          </p:nvPr>
        </p:nvSpPr>
        <p:spPr bwMode="auto"/>
        <p:txBody>
          <a:bodyPr/>
          <a:lstStyle/>
          <a:p>
            <a:pPr>
              <a:defRPr/>
            </a:pPr>
            <a:r>
              <a:rPr lang="en-US"/>
              <a:t>Thank you. A few numbers worth remembering for the discussion:</a:t>
            </a:r>
            <a:br>
              <a:rPr lang="en-US"/>
            </a:br>
            <a:br>
              <a:rPr lang="en-US"/>
            </a:br>
            <a:r>
              <a:rPr lang="en-US"/>
              <a:t>- 18,673 NHANES records processed with no diagnosis labels</a:t>
            </a:r>
            <a:br>
              <a:rPr lang="en-US"/>
            </a:br>
            <a:r>
              <a:rPr lang="en-US"/>
              <a:t>- 30 clinically coherent concept names discovered, all independently validated</a:t>
            </a:r>
            <a:br>
              <a:rPr lang="en-US"/>
            </a:br>
            <a:r>
              <a:rPr lang="en-US"/>
              <a:t>- 1.53x above-chance accuracy on the lab classification probe</a:t>
            </a:r>
            <a:br>
              <a:rPr lang="en-US"/>
            </a:br>
            <a:r>
              <a:rPr lang="en-US"/>
              <a:t>- 100% prediction accuracy on visual domain with named concept explanations</a:t>
            </a:r>
            <a:br>
              <a:rPr lang="en-US"/>
            </a:br>
            <a:br>
              <a:rPr lang="en-US"/>
            </a:br>
            <a:r>
              <a:rPr lang="en-US"/>
              <a:t>I am happy to go deeper on any aspect — the architecture choices, the ablation methodology, the LLM labeling process, the honest framing of the lab results, or the literature positioning.</a:t>
            </a:r>
            <a:endParaRPr lang="en-US"/>
          </a:p>
        </p:txBody>
      </p:sp>
      <p:sp>
        <p:nvSpPr>
          <p:cNvPr id="351250619"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1A1F3A"/>
        </a:solidFill>
      </p:bgPr>
    </p:bg>
    <p:spTree>
      <p:nvGrpSpPr>
        <p:cNvPr id="1" name=""/>
        <p:cNvGrpSpPr/>
        <p:nvPr/>
      </p:nvGrpSpPr>
      <p:grpSpPr bwMode="auto">
        <a:xfrm>
          <a:off x="0" y="0"/>
          <a:ext cx="0" cy="0"/>
          <a:chOff x="0" y="0"/>
          <a:chExt cx="0" cy="0"/>
        </a:xfrm>
      </p:grpSpPr>
      <p:sp>
        <p:nvSpPr>
          <p:cNvPr id="1110304077" name="Shape 0"/>
          <p:cNvSpPr/>
          <p:nvPr/>
        </p:nvSpPr>
        <p:spPr bwMode="auto">
          <a:xfrm>
            <a:off x="0" y="0"/>
            <a:ext cx="9144000" cy="64008"/>
          </a:xfrm>
          <a:prstGeom prst="rect">
            <a:avLst/>
          </a:prstGeom>
          <a:solidFill>
            <a:srgbClr val="0D9488"/>
          </a:solidFill>
          <a:ln w="12700">
            <a:solidFill>
              <a:srgbClr val="0D9488"/>
            </a:solidFill>
            <a:prstDash val="solid"/>
          </a:ln>
        </p:spPr>
        <p:txBody>
          <a:bodyPr/>
          <a:p/>
        </p:txBody>
      </p:sp>
      <p:sp>
        <p:nvSpPr>
          <p:cNvPr id="638424586" name="Shape 1"/>
          <p:cNvSpPr/>
          <p:nvPr/>
        </p:nvSpPr>
        <p:spPr bwMode="auto">
          <a:xfrm>
            <a:off x="0" y="5079492"/>
            <a:ext cx="9144000" cy="64008"/>
          </a:xfrm>
          <a:prstGeom prst="rect">
            <a:avLst/>
          </a:prstGeom>
          <a:solidFill>
            <a:srgbClr val="0D9488"/>
          </a:solidFill>
          <a:ln w="12700">
            <a:solidFill>
              <a:srgbClr val="0D9488"/>
            </a:solidFill>
            <a:prstDash val="solid"/>
          </a:ln>
        </p:spPr>
        <p:txBody>
          <a:bodyPr/>
          <a:p/>
        </p:txBody>
      </p:sp>
      <p:sp>
        <p:nvSpPr>
          <p:cNvPr id="730160315" name="Text 2"/>
          <p:cNvSpPr/>
          <p:nvPr/>
        </p:nvSpPr>
        <p:spPr bwMode="auto">
          <a:xfrm>
            <a:off x="457200" y="868680"/>
            <a:ext cx="8229600" cy="658368"/>
          </a:xfrm>
          <a:prstGeom prst="rect">
            <a:avLst/>
          </a:prstGeom>
          <a:noFill/>
          <a:ln/>
        </p:spPr>
        <p:txBody>
          <a:bodyPr wrap="square" lIns="0" tIns="0" rIns="0" bIns="0" rtlCol="0" anchor="ctr"/>
          <a:lstStyle/>
          <a:p>
            <a:r>
              <a:t>Learning Interpretable Feature Spaces</a:t>
            </a:r>
          </a:p>
        </p:txBody>
      </p:sp>
      <p:sp>
        <p:nvSpPr>
          <p:cNvPr id="1636979222" name="Shape 3"/>
          <p:cNvSpPr/>
          <p:nvPr/>
        </p:nvSpPr>
        <p:spPr bwMode="auto">
          <a:xfrm>
            <a:off x="1371600" y="1545336"/>
            <a:ext cx="6400800" cy="36576"/>
          </a:xfrm>
          <a:prstGeom prst="rect">
            <a:avLst/>
          </a:prstGeom>
          <a:solidFill>
            <a:srgbClr val="F59E0B"/>
          </a:solidFill>
          <a:ln w="12700">
            <a:solidFill>
              <a:srgbClr val="F59E0B"/>
            </a:solidFill>
            <a:prstDash val="solid"/>
          </a:ln>
        </p:spPr>
        <p:txBody>
          <a:bodyPr/>
          <a:p/>
        </p:txBody>
      </p:sp>
      <p:sp>
        <p:nvSpPr>
          <p:cNvPr id="1661217124" name="Text 4"/>
          <p:cNvSpPr/>
          <p:nvPr/>
        </p:nvSpPr>
        <p:spPr bwMode="auto">
          <a:xfrm>
            <a:off x="457200" y="1618488"/>
            <a:ext cx="8229600" cy="502920"/>
          </a:xfrm>
          <a:prstGeom prst="rect">
            <a:avLst/>
          </a:prstGeom>
          <a:noFill/>
          <a:ln/>
        </p:spPr>
        <p:txBody>
          <a:bodyPr wrap="square" lIns="0" tIns="0" rIns="0" bIns="0" rtlCol="0" anchor="ctr"/>
          <a:lstStyle/>
          <a:p>
            <a:r>
              <a:t>via Domain-Informed Encoders (DIFE)</a:t>
            </a:r>
          </a:p>
        </p:txBody>
      </p:sp>
      <p:sp>
        <p:nvSpPr>
          <p:cNvPr id="938750413" name="Text 5"/>
          <p:cNvSpPr/>
          <p:nvPr/>
        </p:nvSpPr>
        <p:spPr bwMode="auto">
          <a:xfrm>
            <a:off x="457200" y="2286000"/>
            <a:ext cx="8229600" cy="320040"/>
          </a:xfrm>
          <a:prstGeom prst="rect">
            <a:avLst/>
          </a:prstGeom>
          <a:noFill/>
          <a:ln/>
        </p:spPr>
        <p:txBody>
          <a:bodyPr wrap="square" lIns="0" tIns="0" rIns="0" bIns="0" rtlCol="0" anchor="ctr"/>
          <a:lstStyle/>
          <a:p>
            <a:r>
              <a:t>CS4700A Dissertation Viva  ·  Visual + Lab Tabular Domains</a:t>
            </a:r>
          </a:p>
        </p:txBody>
      </p:sp>
      <p:sp>
        <p:nvSpPr>
          <p:cNvPr id="981582551" name="Text 6"/>
          <p:cNvSpPr/>
          <p:nvPr/>
        </p:nvSpPr>
        <p:spPr bwMode="auto">
          <a:xfrm>
            <a:off x="457200" y="2798064"/>
            <a:ext cx="8229600" cy="384048"/>
          </a:xfrm>
          <a:prstGeom prst="rect">
            <a:avLst/>
          </a:prstGeom>
          <a:noFill/>
          <a:ln/>
        </p:spPr>
        <p:txBody>
          <a:bodyPr wrap="square" lIns="0" tIns="0" rIns="0" bIns="0" rtlCol="0" anchor="ctr"/>
          <a:lstStyle/>
          <a:p>
            <a:r>
              <a:t>Bhoopesh Nandan Singh  ·  ID 250142934</a:t>
            </a:r>
          </a:p>
        </p:txBody>
      </p:sp>
      <p:sp>
        <p:nvSpPr>
          <p:cNvPr id="455546980" name="Shape 7"/>
          <p:cNvSpPr/>
          <p:nvPr/>
        </p:nvSpPr>
        <p:spPr bwMode="auto">
          <a:xfrm>
            <a:off x="594360" y="3886200"/>
            <a:ext cx="2377440" cy="502920"/>
          </a:xfrm>
          <a:prstGeom prst="rect">
            <a:avLst/>
          </a:prstGeom>
          <a:solidFill>
            <a:srgbClr val="2D3A6A"/>
          </a:solidFill>
          <a:ln w="12700">
            <a:solidFill>
              <a:srgbClr val="0D9488"/>
            </a:solidFill>
            <a:prstDash val="solid"/>
          </a:ln>
        </p:spPr>
        <p:txBody>
          <a:bodyPr/>
          <a:p/>
        </p:txBody>
      </p:sp>
      <p:sp>
        <p:nvSpPr>
          <p:cNvPr id="1162534691" name="Text 8"/>
          <p:cNvSpPr/>
          <p:nvPr/>
        </p:nvSpPr>
        <p:spPr bwMode="auto">
          <a:xfrm>
            <a:off x="594360" y="3886200"/>
            <a:ext cx="2377440" cy="502920"/>
          </a:xfrm>
          <a:prstGeom prst="rect">
            <a:avLst/>
          </a:prstGeom>
          <a:noFill/>
          <a:ln/>
        </p:spPr>
        <p:txBody>
          <a:bodyPr wrap="square" lIns="0" tIns="0" rIns="0" bIns="0" rtlCol="0" anchor="ctr"/>
          <a:lstStyle/>
          <a:p>
            <a:pPr marL="0" indent="0" algn="ctr">
              <a:buNone/>
              <a:defRPr/>
            </a:pPr>
            <a:r>
              <a:rPr lang="en-US" sz="950">
                <a:solidFill>
                  <a:srgbClr val="99F6E4"/>
                </a:solidFill>
                <a:latin typeface="Calibri"/>
                <a:ea typeface="Calibri"/>
                <a:cs typeface="Calibri"/>
              </a:rPr>
              <a:t>NHANES 2013–18  ·  18,673 Records</a:t>
            </a:r>
            <a:endParaRPr lang="en-US" sz="950"/>
          </a:p>
        </p:txBody>
      </p:sp>
      <p:sp>
        <p:nvSpPr>
          <p:cNvPr id="1127148007" name="Shape 9"/>
          <p:cNvSpPr/>
          <p:nvPr/>
        </p:nvSpPr>
        <p:spPr bwMode="auto">
          <a:xfrm>
            <a:off x="3337560" y="3886200"/>
            <a:ext cx="2377440" cy="502920"/>
          </a:xfrm>
          <a:prstGeom prst="rect">
            <a:avLst/>
          </a:prstGeom>
          <a:solidFill>
            <a:srgbClr val="2D3A6A"/>
          </a:solidFill>
          <a:ln w="12700">
            <a:solidFill>
              <a:srgbClr val="0D9488"/>
            </a:solidFill>
            <a:prstDash val="solid"/>
          </a:ln>
        </p:spPr>
        <p:txBody>
          <a:bodyPr/>
          <a:p/>
        </p:txBody>
      </p:sp>
      <p:sp>
        <p:nvSpPr>
          <p:cNvPr id="819429212" name="Text 10"/>
          <p:cNvSpPr/>
          <p:nvPr/>
        </p:nvSpPr>
        <p:spPr bwMode="auto">
          <a:xfrm>
            <a:off x="3337560" y="3886200"/>
            <a:ext cx="2377440" cy="502920"/>
          </a:xfrm>
          <a:prstGeom prst="rect">
            <a:avLst/>
          </a:prstGeom>
          <a:noFill/>
          <a:ln/>
        </p:spPr>
        <p:txBody>
          <a:bodyPr wrap="square" lIns="0" tIns="0" rIns="0" bIns="0" rtlCol="0" anchor="ctr"/>
          <a:lstStyle/>
          <a:p>
            <a:r>
              <a:t>DINO ViT-S/8  ·  Oxford-IIIT Pet  ·  STL-10</a:t>
            </a:r>
          </a:p>
        </p:txBody>
      </p:sp>
      <p:sp>
        <p:nvSpPr>
          <p:cNvPr id="1392185166" name="Shape 11"/>
          <p:cNvSpPr/>
          <p:nvPr/>
        </p:nvSpPr>
        <p:spPr bwMode="auto">
          <a:xfrm>
            <a:off x="6080760" y="3886200"/>
            <a:ext cx="2377440" cy="502920"/>
          </a:xfrm>
          <a:prstGeom prst="rect">
            <a:avLst/>
          </a:prstGeom>
          <a:solidFill>
            <a:srgbClr val="2D3A6A"/>
          </a:solidFill>
          <a:ln w="12700">
            <a:solidFill>
              <a:srgbClr val="0D9488"/>
            </a:solidFill>
            <a:prstDash val="solid"/>
          </a:ln>
        </p:spPr>
        <p:txBody>
          <a:bodyPr/>
          <a:p/>
        </p:txBody>
      </p:sp>
      <p:sp>
        <p:nvSpPr>
          <p:cNvPr id="979199640" name="Text 12"/>
          <p:cNvSpPr/>
          <p:nvPr/>
        </p:nvSpPr>
        <p:spPr bwMode="auto">
          <a:xfrm>
            <a:off x="6080760" y="3886200"/>
            <a:ext cx="2377440" cy="502920"/>
          </a:xfrm>
          <a:prstGeom prst="rect">
            <a:avLst/>
          </a:prstGeom>
          <a:noFill/>
          <a:ln/>
        </p:spPr>
        <p:txBody>
          <a:bodyPr wrap="square" lIns="0" tIns="0" rIns="0" bIns="0" rtlCol="0" anchor="ctr"/>
          <a:lstStyle/>
          <a:p>
            <a:pPr marL="0" indent="0" algn="ctr">
              <a:buNone/>
              <a:defRPr/>
            </a:pPr>
            <a:r>
              <a:rPr lang="en-US" sz="950">
                <a:solidFill>
                  <a:srgbClr val="99F6E4"/>
                </a:solidFill>
                <a:latin typeface="Calibri"/>
                <a:ea typeface="Calibri"/>
                <a:cs typeface="Calibri"/>
              </a:rPr>
              <a:t>GMM Clusters  ·  LLM Concept Labeling</a:t>
            </a:r>
            <a:endParaRPr lang="en-US" sz="950"/>
          </a:p>
        </p:txBody>
      </p:sp>
      <p:sp>
        <p:nvSpPr>
          <p:cNvPr id="1661217125" name="TextBox 1661217124"/>
          <p:cNvSpPr txBox="1"/>
          <p:nvPr/>
        </p:nvSpPr>
        <p:spPr>
          <a:xfrm>
            <a:off x="457200" y="6236208"/>
            <a:ext cx="8412480" cy="365760"/>
          </a:xfrm>
          <a:prstGeom prst="rect">
            <a:avLst/>
          </a:prstGeom>
          <a:noFill/>
        </p:spPr>
        <p:txBody>
          <a:bodyPr wrap="none">
            <a:spAutoFit/>
          </a:bodyPr>
          <a:lstStyle/>
          <a:p>
            <a:pPr>
              <a:defRPr sz="1400"/>
            </a:pPr>
            <a:r>
              <a:t>Supervisor: Dr. Roberto Alamino</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4F8FF"/>
        </a:solidFill>
      </p:bgPr>
    </p:bg>
    <p:spTree>
      <p:nvGrpSpPr>
        <p:cNvPr id="1" name=""/>
        <p:cNvGrpSpPr/>
        <p:nvPr/>
      </p:nvGrpSpPr>
      <p:grpSpPr bwMode="auto">
        <a:xfrm>
          <a:off x="0" y="0"/>
          <a:ext cx="0" cy="0"/>
          <a:chOff x="0" y="0"/>
          <a:chExt cx="0" cy="0"/>
        </a:xfrm>
      </p:grpSpPr>
      <p:sp>
        <p:nvSpPr>
          <p:cNvPr id="1757712878" name="Shape 0"/>
          <p:cNvSpPr/>
          <p:nvPr/>
        </p:nvSpPr>
        <p:spPr bwMode="auto">
          <a:xfrm>
            <a:off x="0" y="0"/>
            <a:ext cx="118872" cy="5143500"/>
          </a:xfrm>
          <a:prstGeom prst="rect">
            <a:avLst/>
          </a:prstGeom>
          <a:solidFill>
            <a:srgbClr val="0D9488"/>
          </a:solidFill>
          <a:ln w="12700">
            <a:solidFill>
              <a:srgbClr val="0D9488"/>
            </a:solidFill>
            <a:prstDash val="solid"/>
          </a:ln>
        </p:spPr>
        <p:txBody>
          <a:bodyPr/>
          <a:p/>
        </p:txBody>
      </p:sp>
      <p:sp>
        <p:nvSpPr>
          <p:cNvPr id="989401389"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The Challenge: Interpretability Gap in Clinical AI</a:t>
            </a:r>
            <a:endParaRPr lang="en-US" sz="2500"/>
          </a:p>
        </p:txBody>
      </p:sp>
      <p:sp>
        <p:nvSpPr>
          <p:cNvPr id="1609734402" name="Text 2"/>
          <p:cNvSpPr/>
          <p:nvPr/>
        </p:nvSpPr>
        <p:spPr bwMode="auto">
          <a:xfrm>
            <a:off x="228600" y="667512"/>
            <a:ext cx="8686800" cy="246888"/>
          </a:xfrm>
          <a:prstGeom prst="rect">
            <a:avLst/>
          </a:prstGeom>
          <a:noFill/>
          <a:ln/>
        </p:spPr>
        <p:txBody>
          <a:bodyPr wrap="square" lIns="0" tIns="0" rIns="0" bIns="0" rtlCol="0" anchor="ctr"/>
          <a:lstStyle/>
          <a:p>
            <a:pPr marL="0" indent="0" algn="l">
              <a:buNone/>
              <a:defRPr/>
            </a:pPr>
            <a:r>
              <a:rPr lang="en-US" sz="1100" i="1">
                <a:solidFill>
                  <a:srgbClr val="475569"/>
                </a:solidFill>
                <a:latin typeface="Calibri"/>
                <a:ea typeface="Calibri"/>
                <a:cs typeface="Calibri"/>
              </a:rPr>
              <a:t>Black-box models cannot be safely deployed in clinical settings without auditability</a:t>
            </a:r>
            <a:endParaRPr lang="en-US" sz="1100"/>
          </a:p>
        </p:txBody>
      </p:sp>
      <p:sp>
        <p:nvSpPr>
          <p:cNvPr id="146744320" name="Shape 3"/>
          <p:cNvSpPr/>
          <p:nvPr/>
        </p:nvSpPr>
        <p:spPr bwMode="auto">
          <a:xfrm>
            <a:off x="228600" y="896112"/>
            <a:ext cx="8686800" cy="22860"/>
          </a:xfrm>
          <a:prstGeom prst="rect">
            <a:avLst/>
          </a:prstGeom>
          <a:solidFill>
            <a:srgbClr val="0D9488"/>
          </a:solidFill>
          <a:ln w="12700">
            <a:solidFill>
              <a:srgbClr val="0D9488"/>
            </a:solidFill>
            <a:prstDash val="solid"/>
          </a:ln>
        </p:spPr>
        <p:txBody>
          <a:bodyPr/>
          <a:p/>
        </p:txBody>
      </p:sp>
      <p:sp>
        <p:nvSpPr>
          <p:cNvPr id="709231988" name="Shape 4"/>
          <p:cNvSpPr/>
          <p:nvPr/>
        </p:nvSpPr>
        <p:spPr bwMode="auto">
          <a:xfrm>
            <a:off x="228600" y="1024128"/>
            <a:ext cx="5074920" cy="370332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txBody>
          <a:bodyPr/>
          <a:p/>
        </p:txBody>
      </p:sp>
      <p:sp>
        <p:nvSpPr>
          <p:cNvPr id="1768561792" name="Shape 5"/>
          <p:cNvSpPr/>
          <p:nvPr/>
        </p:nvSpPr>
        <p:spPr bwMode="auto">
          <a:xfrm>
            <a:off x="228600" y="1024128"/>
            <a:ext cx="64008" cy="3703320"/>
          </a:xfrm>
          <a:prstGeom prst="rect">
            <a:avLst/>
          </a:prstGeom>
          <a:solidFill>
            <a:srgbClr val="DC2626"/>
          </a:solidFill>
          <a:ln w="12700">
            <a:solidFill>
              <a:srgbClr val="DC2626"/>
            </a:solidFill>
            <a:prstDash val="solid"/>
          </a:ln>
        </p:spPr>
        <p:txBody>
          <a:bodyPr/>
          <a:p/>
        </p:txBody>
      </p:sp>
      <p:sp>
        <p:nvSpPr>
          <p:cNvPr id="217550316" name="Text 6"/>
          <p:cNvSpPr/>
          <p:nvPr/>
        </p:nvSpPr>
        <p:spPr bwMode="auto">
          <a:xfrm>
            <a:off x="411480" y="1115568"/>
            <a:ext cx="4709160" cy="347472"/>
          </a:xfrm>
          <a:prstGeom prst="rect">
            <a:avLst/>
          </a:prstGeom>
          <a:noFill/>
          <a:ln/>
        </p:spPr>
        <p:txBody>
          <a:bodyPr wrap="square" lIns="0" tIns="0" rIns="0" bIns="0" rtlCol="0" anchor="ctr"/>
          <a:lstStyle/>
          <a:p>
            <a:pPr marL="0" indent="0">
              <a:buNone/>
              <a:defRPr/>
            </a:pPr>
            <a:r>
              <a:rPr lang="en-US" sz="1300" b="1">
                <a:solidFill>
                  <a:srgbClr val="1E293B"/>
                </a:solidFill>
                <a:latin typeface="Calibri"/>
                <a:ea typeface="Calibri"/>
                <a:cs typeface="Calibri"/>
              </a:rPr>
              <a:t>Why Existing Approaches Fall Short</a:t>
            </a:r>
            <a:endParaRPr lang="en-US" sz="1300"/>
          </a:p>
        </p:txBody>
      </p:sp>
      <p:sp>
        <p:nvSpPr>
          <p:cNvPr id="939192459" name="Text 7"/>
          <p:cNvSpPr/>
          <p:nvPr/>
        </p:nvSpPr>
        <p:spPr bwMode="auto">
          <a:xfrm>
            <a:off x="411480" y="1508759"/>
            <a:ext cx="4709160" cy="3017519"/>
          </a:xfrm>
          <a:prstGeom prst="rect">
            <a:avLst/>
          </a:prstGeom>
          <a:noFill/>
          <a:ln/>
        </p:spPr>
        <p:txBody>
          <a:bodyPr wrap="square" lIns="0" tIns="0" rIns="0" bIns="0" rtlCol="0" anchor="t"/>
          <a:lstStyle/>
          <a:p>
            <a:pPr marL="342900" indent="-342900">
              <a:spcAft>
                <a:spcPts val="800"/>
              </a:spcAft>
              <a:buSzPct val="100000"/>
              <a:buChar char="•"/>
              <a:defRPr/>
            </a:pPr>
            <a:r>
              <a:rPr lang="en-US" sz="1250">
                <a:solidFill>
                  <a:srgbClr val="475569"/>
                </a:solidFill>
                <a:latin typeface="Calibri"/>
                <a:ea typeface="Calibri"/>
                <a:cs typeface="Calibri"/>
              </a:rPr>
              <a:t>Clinicians cannot verify why a prediction was made — critical in high-stakes decisions</a:t>
            </a:r>
            <a:endParaRPr lang="en-US" sz="1250"/>
          </a:p>
          <a:p>
            <a:pPr marL="342900" indent="-342900">
              <a:spcAft>
                <a:spcPts val="800"/>
              </a:spcAft>
              <a:buSzPct val="100000"/>
              <a:buChar char="•"/>
              <a:defRPr/>
            </a:pPr>
            <a:r>
              <a:rPr lang="en-US" sz="1250">
                <a:solidFill>
                  <a:srgbClr val="475569"/>
                </a:solidFill>
                <a:latin typeface="Calibri"/>
                <a:ea typeface="Calibri"/>
                <a:cs typeface="Calibri"/>
              </a:rPr>
              <a:t>GDPR Article 22 &amp; EU AI Act require explanations for automated patient decisions</a:t>
            </a:r>
            <a:endParaRPr lang="en-US" sz="1250"/>
          </a:p>
          <a:p>
            <a:pPr marL="342900" indent="-342900">
              <a:spcAft>
                <a:spcPts val="800"/>
              </a:spcAft>
              <a:buSzPct val="100000"/>
              <a:buChar char="•"/>
              <a:defRPr/>
            </a:pPr>
            <a:r>
              <a:rPr lang="en-US" sz="1250">
                <a:solidFill>
                  <a:srgbClr val="475569"/>
                </a:solidFill>
                <a:latin typeface="Calibri"/>
                <a:ea typeface="Calibri"/>
                <a:cs typeface="Calibri"/>
              </a:rPr>
              <a:t>TCAV, CBM, ACE all require concept labels defined BEFORE or DURING training</a:t>
            </a:r>
            <a:endParaRPr lang="en-US" sz="1250"/>
          </a:p>
          <a:p>
            <a:pPr marL="342900" indent="-342900">
              <a:spcAft>
                <a:spcPts val="800"/>
              </a:spcAft>
              <a:buSzPct val="100000"/>
              <a:buChar char="•"/>
              <a:defRPr/>
            </a:pPr>
            <a:r>
              <a:rPr lang="en-US" sz="1250">
                <a:solidFill>
                  <a:srgbClr val="475569"/>
                </a:solidFill>
                <a:latin typeface="Calibri"/>
                <a:ea typeface="Calibri"/>
                <a:cs typeface="Calibri"/>
              </a:rPr>
              <a:t>Clinical concept annotation is expensive and rarely available at training time</a:t>
            </a:r>
            <a:endParaRPr lang="en-US" sz="1250"/>
          </a:p>
        </p:txBody>
      </p:sp>
      <p:sp>
        <p:nvSpPr>
          <p:cNvPr id="1536749479" name="Shape 8"/>
          <p:cNvSpPr/>
          <p:nvPr/>
        </p:nvSpPr>
        <p:spPr bwMode="auto">
          <a:xfrm>
            <a:off x="5532120" y="1024128"/>
            <a:ext cx="3383280" cy="1755648"/>
          </a:xfrm>
          <a:prstGeom prst="rect">
            <a:avLst/>
          </a:prstGeom>
          <a:solidFill>
            <a:srgbClr val="1A1F3A"/>
          </a:solidFill>
          <a:ln w="12700">
            <a:solidFill>
              <a:srgbClr val="1A1F3A"/>
            </a:solidFill>
            <a:prstDash val="solid"/>
          </a:ln>
          <a:effectLst>
            <a:outerShdw blurRad="76200" dist="25400" dir="8100000" sx="100000" sy="100000" kx="0" ky="0" algn="bl" rotWithShape="0">
              <a:srgbClr val="000000">
                <a:alpha val="10000"/>
              </a:srgbClr>
            </a:outerShdw>
          </a:effectLst>
        </p:spPr>
        <p:txBody>
          <a:bodyPr/>
          <a:p/>
        </p:txBody>
      </p:sp>
      <p:sp>
        <p:nvSpPr>
          <p:cNvPr id="898538399" name="Text 9"/>
          <p:cNvSpPr/>
          <p:nvPr/>
        </p:nvSpPr>
        <p:spPr bwMode="auto">
          <a:xfrm>
            <a:off x="5623560" y="1115568"/>
            <a:ext cx="3200400" cy="320040"/>
          </a:xfrm>
          <a:prstGeom prst="rect">
            <a:avLst/>
          </a:prstGeom>
          <a:noFill/>
          <a:ln/>
        </p:spPr>
        <p:txBody>
          <a:bodyPr wrap="square" lIns="0" tIns="0" rIns="0" bIns="0" rtlCol="0" anchor="ctr"/>
          <a:lstStyle/>
          <a:p>
            <a:pPr marL="0" indent="0">
              <a:buNone/>
              <a:defRPr/>
            </a:pPr>
            <a:r>
              <a:rPr lang="en-US" sz="1200" b="1">
                <a:solidFill>
                  <a:srgbClr val="F59E0B"/>
                </a:solidFill>
                <a:latin typeface="Calibri"/>
                <a:ea typeface="Calibri"/>
                <a:cs typeface="Calibri"/>
              </a:rPr>
              <a:t>Research Question</a:t>
            </a:r>
            <a:endParaRPr lang="en-US" sz="1200"/>
          </a:p>
        </p:txBody>
      </p:sp>
      <p:sp>
        <p:nvSpPr>
          <p:cNvPr id="756434432" name="Text 10"/>
          <p:cNvSpPr/>
          <p:nvPr/>
        </p:nvSpPr>
        <p:spPr bwMode="auto">
          <a:xfrm>
            <a:off x="5623560" y="1444752"/>
            <a:ext cx="3200400" cy="1170432"/>
          </a:xfrm>
          <a:prstGeom prst="rect">
            <a:avLst/>
          </a:prstGeom>
          <a:noFill/>
          <a:ln/>
        </p:spPr>
        <p:txBody>
          <a:bodyPr wrap="square" lIns="0" tIns="0" rIns="0" bIns="0" rtlCol="0" anchor="t"/>
          <a:lstStyle/>
          <a:p>
            <a:pPr marL="0" indent="0">
              <a:buNone/>
              <a:defRPr/>
            </a:pPr>
            <a:r>
              <a:rPr lang="en-US" sz="1200" i="1">
                <a:solidFill>
                  <a:srgbClr val="FFFFFF"/>
                </a:solidFill>
                <a:latin typeface="Calibri"/>
                <a:ea typeface="Calibri"/>
                <a:cs typeface="Calibri"/>
              </a:rPr>
              <a:t>"Can we discover clinically meaningful concepts from unlabeled data — and use them to make interpretable, auditable predictions?"</a:t>
            </a:r>
            <a:endParaRPr lang="en-US" sz="1200"/>
          </a:p>
        </p:txBody>
      </p:sp>
      <p:sp>
        <p:nvSpPr>
          <p:cNvPr id="2086726178" name="Shape 11"/>
          <p:cNvSpPr/>
          <p:nvPr/>
        </p:nvSpPr>
        <p:spPr bwMode="auto">
          <a:xfrm>
            <a:off x="5532120" y="2926080"/>
            <a:ext cx="3383280" cy="1801367"/>
          </a:xfrm>
          <a:prstGeom prst="rect">
            <a:avLst/>
          </a:prstGeom>
          <a:solidFill>
            <a:srgbClr val="CCFBF1"/>
          </a:solidFill>
          <a:ln w="12700">
            <a:solidFill>
              <a:srgbClr val="0D9488"/>
            </a:solidFill>
            <a:prstDash val="solid"/>
          </a:ln>
          <a:effectLst>
            <a:outerShdw blurRad="76200" dist="25400" dir="8100000" sx="100000" sy="100000" kx="0" ky="0" algn="bl" rotWithShape="0">
              <a:srgbClr val="000000">
                <a:alpha val="10000"/>
              </a:srgbClr>
            </a:outerShdw>
          </a:effectLst>
        </p:spPr>
        <p:txBody>
          <a:bodyPr/>
          <a:p/>
        </p:txBody>
      </p:sp>
      <p:sp>
        <p:nvSpPr>
          <p:cNvPr id="975398208" name="Shape 12"/>
          <p:cNvSpPr/>
          <p:nvPr/>
        </p:nvSpPr>
        <p:spPr bwMode="auto">
          <a:xfrm>
            <a:off x="5532120" y="2926080"/>
            <a:ext cx="64008" cy="1801367"/>
          </a:xfrm>
          <a:prstGeom prst="rect">
            <a:avLst/>
          </a:prstGeom>
          <a:solidFill>
            <a:srgbClr val="0D9488"/>
          </a:solidFill>
          <a:ln w="12700">
            <a:solidFill>
              <a:srgbClr val="0D9488"/>
            </a:solidFill>
            <a:prstDash val="solid"/>
          </a:ln>
        </p:spPr>
        <p:txBody>
          <a:bodyPr/>
          <a:p/>
        </p:txBody>
      </p:sp>
      <p:sp>
        <p:nvSpPr>
          <p:cNvPr id="1840416071" name="Text 13"/>
          <p:cNvSpPr/>
          <p:nvPr/>
        </p:nvSpPr>
        <p:spPr bwMode="auto">
          <a:xfrm>
            <a:off x="5715000" y="2999232"/>
            <a:ext cx="3017519" cy="347472"/>
          </a:xfrm>
          <a:prstGeom prst="rect">
            <a:avLst/>
          </a:prstGeom>
          <a:noFill/>
          <a:ln/>
        </p:spPr>
        <p:txBody>
          <a:bodyPr wrap="square" lIns="0" tIns="0" rIns="0" bIns="0" rtlCol="0" anchor="ctr"/>
          <a:lstStyle/>
          <a:p>
            <a:pPr marL="0" indent="0">
              <a:buNone/>
              <a:defRPr/>
            </a:pPr>
            <a:r>
              <a:rPr lang="en-US" sz="1300" b="1">
                <a:solidFill>
                  <a:srgbClr val="0F766E"/>
                </a:solidFill>
                <a:latin typeface="Calibri"/>
                <a:ea typeface="Calibri"/>
                <a:cs typeface="Calibri"/>
              </a:rPr>
              <a:t>Our Promise</a:t>
            </a:r>
            <a:endParaRPr lang="en-US" sz="1300"/>
          </a:p>
        </p:txBody>
      </p:sp>
      <p:sp>
        <p:nvSpPr>
          <p:cNvPr id="1346059923" name="Text 14"/>
          <p:cNvSpPr/>
          <p:nvPr/>
        </p:nvSpPr>
        <p:spPr bwMode="auto">
          <a:xfrm>
            <a:off x="5715000" y="3383280"/>
            <a:ext cx="3017519" cy="1097280"/>
          </a:xfrm>
          <a:prstGeom prst="rect">
            <a:avLst/>
          </a:prstGeom>
          <a:noFill/>
          <a:ln/>
        </p:spPr>
        <p:txBody>
          <a:bodyPr wrap="square" lIns="0" tIns="0" rIns="0" bIns="0" rtlCol="0" anchor="t"/>
          <a:lstStyle/>
          <a:p>
            <a:pPr marL="342900" indent="-342900">
              <a:spcAft>
                <a:spcPts val="600"/>
              </a:spcAft>
              <a:buSzPct val="100000"/>
              <a:buChar char="•"/>
              <a:defRPr/>
            </a:pPr>
            <a:r>
              <a:rPr lang="en-US" sz="1200">
                <a:solidFill>
                  <a:srgbClr val="0F766E"/>
                </a:solidFill>
                <a:latin typeface="Calibri"/>
                <a:ea typeface="Calibri"/>
                <a:cs typeface="Calibri"/>
              </a:rPr>
              <a:t>Zero concept labels needed at training time</a:t>
            </a:r>
            <a:endParaRPr lang="en-US" sz="1200"/>
          </a:p>
          <a:p>
            <a:pPr marL="342900" indent="-342900">
              <a:spcAft>
                <a:spcPts val="600"/>
              </a:spcAft>
              <a:buSzPct val="100000"/>
              <a:buChar char="•"/>
              <a:defRPr/>
            </a:pPr>
            <a:r>
              <a:rPr lang="en-US" sz="1200">
                <a:solidFill>
                  <a:srgbClr val="0F766E"/>
                </a:solidFill>
                <a:latin typeface="Calibri"/>
                <a:ea typeface="Calibri"/>
                <a:cs typeface="Calibri"/>
              </a:rPr>
              <a:t>Semantically named, clinically coherent concepts</a:t>
            </a:r>
            <a:endParaRPr lang="en-US" sz="1200"/>
          </a:p>
          <a:p>
            <a:pPr marL="342900" indent="-342900">
              <a:spcAft>
                <a:spcPts val="600"/>
              </a:spcAft>
              <a:buSzPct val="100000"/>
              <a:buChar char="•"/>
              <a:defRPr/>
            </a:pPr>
            <a:r>
              <a:rPr lang="en-US" sz="1200">
                <a:solidFill>
                  <a:srgbClr val="0F766E"/>
                </a:solidFill>
                <a:latin typeface="Calibri"/>
                <a:ea typeface="Calibri"/>
                <a:cs typeface="Calibri"/>
              </a:rPr>
              <a:t>Fully auditable prediction paths per patient</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4F8FF"/>
        </a:solidFill>
      </p:bgPr>
    </p:bg>
    <p:spTree>
      <p:nvGrpSpPr>
        <p:cNvPr id="1" name=""/>
        <p:cNvGrpSpPr/>
        <p:nvPr/>
      </p:nvGrpSpPr>
      <p:grpSpPr bwMode="auto">
        <a:xfrm>
          <a:off x="0" y="0"/>
          <a:ext cx="0" cy="0"/>
          <a:chOff x="0" y="0"/>
          <a:chExt cx="0" cy="0"/>
        </a:xfrm>
      </p:grpSpPr>
      <p:sp>
        <p:nvSpPr>
          <p:cNvPr id="1467109842" name="Shape 0"/>
          <p:cNvSpPr/>
          <p:nvPr/>
        </p:nvSpPr>
        <p:spPr bwMode="auto">
          <a:xfrm>
            <a:off x="0" y="0"/>
            <a:ext cx="118872" cy="5143500"/>
          </a:xfrm>
          <a:prstGeom prst="rect">
            <a:avLst/>
          </a:prstGeom>
          <a:solidFill>
            <a:srgbClr val="0D9488"/>
          </a:solidFill>
          <a:ln w="12700">
            <a:solidFill>
              <a:srgbClr val="0D9488"/>
            </a:solidFill>
            <a:prstDash val="solid"/>
          </a:ln>
        </p:spPr>
        <p:txBody>
          <a:bodyPr/>
          <a:p/>
        </p:txBody>
      </p:sp>
      <p:sp>
        <p:nvSpPr>
          <p:cNvPr id="1330758375"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Three Literature Gaps This Work Addresses</a:t>
            </a:r>
            <a:endParaRPr lang="en-US" sz="2500"/>
          </a:p>
        </p:txBody>
      </p:sp>
      <p:sp>
        <p:nvSpPr>
          <p:cNvPr id="1454787070" name="Text 2"/>
          <p:cNvSpPr/>
          <p:nvPr/>
        </p:nvSpPr>
        <p:spPr bwMode="auto">
          <a:xfrm>
            <a:off x="228600" y="667512"/>
            <a:ext cx="8686800" cy="246888"/>
          </a:xfrm>
          <a:prstGeom prst="rect">
            <a:avLst/>
          </a:prstGeom>
          <a:noFill/>
          <a:ln/>
        </p:spPr>
        <p:txBody>
          <a:bodyPr wrap="square" lIns="0" tIns="0" rIns="0" bIns="0" rtlCol="0" anchor="ctr"/>
          <a:lstStyle/>
          <a:p>
            <a:pPr marL="0" indent="0" algn="l">
              <a:buNone/>
              <a:defRPr/>
            </a:pPr>
            <a:r>
              <a:rPr lang="en-US" sz="1100" i="1">
                <a:solidFill>
                  <a:srgbClr val="475569"/>
                </a:solidFill>
                <a:latin typeface="Calibri"/>
                <a:ea typeface="Calibri"/>
                <a:cs typeface="Calibri"/>
              </a:rPr>
              <a:t>Each gap maps directly to one of three design pillars — motivation is literature-grounded</a:t>
            </a:r>
            <a:endParaRPr lang="en-US" sz="1100"/>
          </a:p>
        </p:txBody>
      </p:sp>
      <p:sp>
        <p:nvSpPr>
          <p:cNvPr id="1132223299" name="Shape 3"/>
          <p:cNvSpPr/>
          <p:nvPr/>
        </p:nvSpPr>
        <p:spPr bwMode="auto">
          <a:xfrm>
            <a:off x="228600" y="896112"/>
            <a:ext cx="8686800" cy="22860"/>
          </a:xfrm>
          <a:prstGeom prst="rect">
            <a:avLst/>
          </a:prstGeom>
          <a:solidFill>
            <a:srgbClr val="0D9488"/>
          </a:solidFill>
          <a:ln w="12700">
            <a:solidFill>
              <a:srgbClr val="0D9488"/>
            </a:solidFill>
            <a:prstDash val="solid"/>
          </a:ln>
        </p:spPr>
        <p:txBody>
          <a:bodyPr/>
          <a:p/>
        </p:txBody>
      </p:sp>
      <p:sp>
        <p:nvSpPr>
          <p:cNvPr id="1216867737" name="Shape 4"/>
          <p:cNvSpPr/>
          <p:nvPr/>
        </p:nvSpPr>
        <p:spPr bwMode="auto">
          <a:xfrm>
            <a:off x="2286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txBody>
          <a:bodyPr/>
          <a:p/>
        </p:txBody>
      </p:sp>
      <p:sp>
        <p:nvSpPr>
          <p:cNvPr id="547727183" name="Shape 5"/>
          <p:cNvSpPr/>
          <p:nvPr/>
        </p:nvSpPr>
        <p:spPr bwMode="auto">
          <a:xfrm>
            <a:off x="228600" y="1024128"/>
            <a:ext cx="64008" cy="3749040"/>
          </a:xfrm>
          <a:prstGeom prst="rect">
            <a:avLst/>
          </a:prstGeom>
          <a:solidFill>
            <a:srgbClr val="DC2626"/>
          </a:solidFill>
          <a:ln w="12700">
            <a:solidFill>
              <a:srgbClr val="DC2626"/>
            </a:solidFill>
            <a:prstDash val="solid"/>
          </a:ln>
        </p:spPr>
        <p:txBody>
          <a:bodyPr/>
          <a:p/>
        </p:txBody>
      </p:sp>
      <p:sp>
        <p:nvSpPr>
          <p:cNvPr id="1329113456" name="Shape 6"/>
          <p:cNvSpPr/>
          <p:nvPr/>
        </p:nvSpPr>
        <p:spPr bwMode="auto">
          <a:xfrm>
            <a:off x="320040" y="1097280"/>
            <a:ext cx="822960" cy="384048"/>
          </a:xfrm>
          <a:prstGeom prst="rect">
            <a:avLst/>
          </a:prstGeom>
          <a:solidFill>
            <a:srgbClr val="DC2626"/>
          </a:solidFill>
          <a:ln w="12700">
            <a:solidFill>
              <a:srgbClr val="DC2626"/>
            </a:solidFill>
            <a:prstDash val="solid"/>
          </a:ln>
        </p:spPr>
        <p:txBody>
          <a:bodyPr/>
          <a:p/>
        </p:txBody>
      </p:sp>
      <p:sp>
        <p:nvSpPr>
          <p:cNvPr id="647156630" name="Text 7"/>
          <p:cNvSpPr/>
          <p:nvPr/>
        </p:nvSpPr>
        <p:spPr bwMode="auto">
          <a:xfrm>
            <a:off x="320040" y="1097280"/>
            <a:ext cx="822960" cy="384048"/>
          </a:xfrm>
          <a:prstGeom prst="rect">
            <a:avLst/>
          </a:prstGeom>
          <a:noFill/>
          <a:ln/>
        </p:spPr>
        <p:txBody>
          <a:bodyPr wrap="square" lIns="0" tIns="0" rIns="0" bIns="0" rtlCol="0" anchor="ctr"/>
          <a:lstStyle/>
          <a:p>
            <a:pPr marL="0" indent="0" algn="ctr">
              <a:buNone/>
              <a:defRPr/>
            </a:pPr>
            <a:r>
              <a:rPr lang="en-US" sz="1200" b="1">
                <a:solidFill>
                  <a:srgbClr val="FFFFFF"/>
                </a:solidFill>
                <a:latin typeface="Calibri"/>
                <a:ea typeface="Calibri"/>
                <a:cs typeface="Calibri"/>
              </a:rPr>
              <a:t>Gap 1</a:t>
            </a:r>
            <a:endParaRPr lang="en-US" sz="1200"/>
          </a:p>
        </p:txBody>
      </p:sp>
      <p:sp>
        <p:nvSpPr>
          <p:cNvPr id="1646312150" name="Text 8"/>
          <p:cNvSpPr/>
          <p:nvPr/>
        </p:nvSpPr>
        <p:spPr bwMode="auto">
          <a:xfrm>
            <a:off x="393192" y="1572768"/>
            <a:ext cx="2468880" cy="246888"/>
          </a:xfrm>
          <a:prstGeom prst="rect">
            <a:avLst/>
          </a:prstGeom>
          <a:noFill/>
          <a:ln/>
        </p:spPr>
        <p:txBody>
          <a:bodyPr wrap="square" lIns="0" tIns="0" rIns="0" bIns="0" rtlCol="0" anchor="ctr"/>
          <a:lstStyle/>
          <a:p>
            <a:pPr marL="0" indent="0">
              <a:buNone/>
              <a:defRPr/>
            </a:pPr>
            <a:r>
              <a:rPr lang="en-US" sz="950" b="1">
                <a:solidFill>
                  <a:srgbClr val="1E293B"/>
                </a:solidFill>
                <a:latin typeface="Calibri"/>
                <a:ea typeface="Calibri"/>
                <a:cs typeface="Calibri"/>
              </a:rPr>
              <a:t>Paper(s):</a:t>
            </a:r>
            <a:endParaRPr lang="en-US" sz="950"/>
          </a:p>
        </p:txBody>
      </p:sp>
      <p:sp>
        <p:nvSpPr>
          <p:cNvPr id="1944855533" name="Text 9"/>
          <p:cNvSpPr/>
          <p:nvPr/>
        </p:nvSpPr>
        <p:spPr bwMode="auto">
          <a:xfrm>
            <a:off x="393192" y="1801367"/>
            <a:ext cx="2468880" cy="502920"/>
          </a:xfrm>
          <a:prstGeom prst="rect">
            <a:avLst/>
          </a:prstGeom>
          <a:noFill/>
          <a:ln/>
        </p:spPr>
        <p:txBody>
          <a:bodyPr wrap="square" lIns="0" tIns="0" rIns="0" bIns="0" rtlCol="0" anchor="t"/>
          <a:lstStyle/>
          <a:p>
            <a:pPr marL="0" indent="0">
              <a:buNone/>
              <a:defRPr/>
            </a:pPr>
            <a:r>
              <a:rPr lang="en-US" sz="950" i="1">
                <a:solidFill>
                  <a:srgbClr val="475569"/>
                </a:solidFill>
                <a:latin typeface="Calibri"/>
                <a:ea typeface="Calibri"/>
                <a:cs typeface="Calibri"/>
              </a:rPr>
              <a:t>TCAV (Kim, ICML 2018)</a:t>
            </a:r>
            <a:endParaRPr lang="en-US" sz="950"/>
          </a:p>
          <a:p>
            <a:pPr marL="0" indent="0">
              <a:buNone/>
              <a:defRPr/>
            </a:pPr>
            <a:r>
              <a:rPr lang="en-US" sz="950" i="1">
                <a:solidFill>
                  <a:srgbClr val="475569"/>
                </a:solidFill>
                <a:latin typeface="Calibri"/>
                <a:ea typeface="Calibri"/>
                <a:cs typeface="Calibri"/>
              </a:rPr>
              <a:t>CBM (Koh, ICML 2020)</a:t>
            </a:r>
            <a:endParaRPr lang="en-US" sz="950"/>
          </a:p>
          <a:p>
            <a:pPr marL="0" indent="0">
              <a:buNone/>
              <a:defRPr/>
            </a:pPr>
            <a:r>
              <a:rPr lang="en-US" sz="950" i="1">
                <a:solidFill>
                  <a:srgbClr val="475569"/>
                </a:solidFill>
                <a:latin typeface="Calibri"/>
                <a:ea typeface="Calibri"/>
                <a:cs typeface="Calibri"/>
              </a:rPr>
              <a:t>ACE (Ghassemi, 2021)</a:t>
            </a:r>
            <a:endParaRPr lang="en-US" sz="950"/>
          </a:p>
        </p:txBody>
      </p:sp>
      <p:sp>
        <p:nvSpPr>
          <p:cNvPr id="974357196" name="Shape 10"/>
          <p:cNvSpPr/>
          <p:nvPr/>
        </p:nvSpPr>
        <p:spPr bwMode="auto">
          <a:xfrm>
            <a:off x="320040" y="2331720"/>
            <a:ext cx="2606040" cy="22860"/>
          </a:xfrm>
          <a:prstGeom prst="rect">
            <a:avLst/>
          </a:prstGeom>
          <a:solidFill>
            <a:srgbClr val="E2E8F0"/>
          </a:solidFill>
          <a:ln w="12700">
            <a:solidFill>
              <a:srgbClr val="E2E8F0"/>
            </a:solidFill>
            <a:prstDash val="solid"/>
          </a:ln>
        </p:spPr>
        <p:txBody>
          <a:bodyPr/>
          <a:p/>
        </p:txBody>
      </p:sp>
      <p:sp>
        <p:nvSpPr>
          <p:cNvPr id="1155717860" name="Text 11"/>
          <p:cNvSpPr/>
          <p:nvPr/>
        </p:nvSpPr>
        <p:spPr bwMode="auto">
          <a:xfrm>
            <a:off x="393192" y="2377440"/>
            <a:ext cx="2468880" cy="246888"/>
          </a:xfrm>
          <a:prstGeom prst="rect">
            <a:avLst/>
          </a:prstGeom>
          <a:noFill/>
          <a:ln/>
        </p:spPr>
        <p:txBody>
          <a:bodyPr wrap="square" lIns="0" tIns="0" rIns="0" bIns="0" rtlCol="0" anchor="ctr"/>
          <a:lstStyle/>
          <a:p>
            <a:pPr marL="0" indent="0">
              <a:buNone/>
              <a:defRPr/>
            </a:pPr>
            <a:r>
              <a:rPr lang="en-US" sz="950" b="1">
                <a:solidFill>
                  <a:srgbClr val="DC2626"/>
                </a:solidFill>
                <a:latin typeface="Calibri"/>
                <a:ea typeface="Calibri"/>
                <a:cs typeface="Calibri"/>
              </a:rPr>
              <a:t>Their Limitation:</a:t>
            </a:r>
            <a:endParaRPr lang="en-US" sz="950"/>
          </a:p>
        </p:txBody>
      </p:sp>
      <p:sp>
        <p:nvSpPr>
          <p:cNvPr id="1745530861" name="Text 12"/>
          <p:cNvSpPr/>
          <p:nvPr/>
        </p:nvSpPr>
        <p:spPr bwMode="auto">
          <a:xfrm>
            <a:off x="393192" y="2606040"/>
            <a:ext cx="2468880" cy="685800"/>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Concept labels required before / during training. Pre-defined segmentation assumed.</a:t>
            </a:r>
            <a:endParaRPr lang="en-US" sz="1000"/>
          </a:p>
        </p:txBody>
      </p:sp>
      <p:sp>
        <p:nvSpPr>
          <p:cNvPr id="516703453" name="Shape 13"/>
          <p:cNvSpPr/>
          <p:nvPr/>
        </p:nvSpPr>
        <p:spPr bwMode="auto">
          <a:xfrm>
            <a:off x="320040" y="3337560"/>
            <a:ext cx="2606040" cy="22860"/>
          </a:xfrm>
          <a:prstGeom prst="rect">
            <a:avLst/>
          </a:prstGeom>
          <a:solidFill>
            <a:srgbClr val="E2E8F0"/>
          </a:solidFill>
          <a:ln w="12700">
            <a:solidFill>
              <a:srgbClr val="E2E8F0"/>
            </a:solidFill>
            <a:prstDash val="solid"/>
          </a:ln>
        </p:spPr>
        <p:txBody>
          <a:bodyPr/>
          <a:p/>
        </p:txBody>
      </p:sp>
      <p:sp>
        <p:nvSpPr>
          <p:cNvPr id="1050006231" name="Text 14"/>
          <p:cNvSpPr/>
          <p:nvPr/>
        </p:nvSpPr>
        <p:spPr bwMode="auto">
          <a:xfrm>
            <a:off x="393192" y="3383280"/>
            <a:ext cx="2468880" cy="246888"/>
          </a:xfrm>
          <a:prstGeom prst="rect">
            <a:avLst/>
          </a:prstGeom>
          <a:noFill/>
          <a:ln/>
        </p:spPr>
        <p:txBody>
          <a:bodyPr wrap="square" lIns="0" tIns="0" rIns="0" bIns="0" rtlCol="0" anchor="ctr"/>
          <a:lstStyle/>
          <a:p>
            <a:pPr marL="0" indent="0">
              <a:buNone/>
              <a:defRPr/>
            </a:pPr>
            <a:r>
              <a:rPr lang="en-US" sz="950" b="1">
                <a:solidFill>
                  <a:srgbClr val="0D9488"/>
                </a:solidFill>
                <a:latin typeface="Calibri"/>
                <a:ea typeface="Calibri"/>
                <a:cs typeface="Calibri"/>
              </a:rPr>
              <a:t>Our Response:</a:t>
            </a:r>
            <a:endParaRPr lang="en-US" sz="950"/>
          </a:p>
        </p:txBody>
      </p:sp>
      <p:sp>
        <p:nvSpPr>
          <p:cNvPr id="1440801418" name="Text 15"/>
          <p:cNvSpPr/>
          <p:nvPr/>
        </p:nvSpPr>
        <p:spPr bwMode="auto">
          <a:xfrm>
            <a:off x="393192" y="3611880"/>
            <a:ext cx="2468880" cy="1051560"/>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GMM clustering discovers concepts unsupervised — labels applied post-hoc only. Zero annotation at training time.</a:t>
            </a:r>
            <a:endParaRPr lang="en-US" sz="1000"/>
          </a:p>
        </p:txBody>
      </p:sp>
      <p:sp>
        <p:nvSpPr>
          <p:cNvPr id="1228571933" name="Shape 16"/>
          <p:cNvSpPr/>
          <p:nvPr/>
        </p:nvSpPr>
        <p:spPr bwMode="auto">
          <a:xfrm>
            <a:off x="32004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txBody>
          <a:bodyPr/>
          <a:p/>
        </p:txBody>
      </p:sp>
      <p:sp>
        <p:nvSpPr>
          <p:cNvPr id="1692764744" name="Shape 17"/>
          <p:cNvSpPr/>
          <p:nvPr/>
        </p:nvSpPr>
        <p:spPr bwMode="auto">
          <a:xfrm>
            <a:off x="3200400" y="1024128"/>
            <a:ext cx="64008" cy="3749040"/>
          </a:xfrm>
          <a:prstGeom prst="rect">
            <a:avLst/>
          </a:prstGeom>
          <a:solidFill>
            <a:srgbClr val="F59E0B"/>
          </a:solidFill>
          <a:ln w="12700">
            <a:solidFill>
              <a:srgbClr val="F59E0B"/>
            </a:solidFill>
            <a:prstDash val="solid"/>
          </a:ln>
        </p:spPr>
        <p:txBody>
          <a:bodyPr/>
          <a:p/>
        </p:txBody>
      </p:sp>
      <p:sp>
        <p:nvSpPr>
          <p:cNvPr id="886692029" name="Shape 18"/>
          <p:cNvSpPr/>
          <p:nvPr/>
        </p:nvSpPr>
        <p:spPr bwMode="auto">
          <a:xfrm>
            <a:off x="3291840" y="1097280"/>
            <a:ext cx="822960" cy="384048"/>
          </a:xfrm>
          <a:prstGeom prst="rect">
            <a:avLst/>
          </a:prstGeom>
          <a:solidFill>
            <a:srgbClr val="F59E0B"/>
          </a:solidFill>
          <a:ln w="12700">
            <a:solidFill>
              <a:srgbClr val="F59E0B"/>
            </a:solidFill>
            <a:prstDash val="solid"/>
          </a:ln>
        </p:spPr>
        <p:txBody>
          <a:bodyPr/>
          <a:p/>
        </p:txBody>
      </p:sp>
      <p:sp>
        <p:nvSpPr>
          <p:cNvPr id="872086325" name="Text 19"/>
          <p:cNvSpPr/>
          <p:nvPr/>
        </p:nvSpPr>
        <p:spPr bwMode="auto">
          <a:xfrm>
            <a:off x="3291840" y="1097280"/>
            <a:ext cx="822960" cy="384048"/>
          </a:xfrm>
          <a:prstGeom prst="rect">
            <a:avLst/>
          </a:prstGeom>
          <a:noFill/>
          <a:ln/>
        </p:spPr>
        <p:txBody>
          <a:bodyPr wrap="square" lIns="0" tIns="0" rIns="0" bIns="0" rtlCol="0" anchor="ctr"/>
          <a:lstStyle/>
          <a:p>
            <a:pPr marL="0" indent="0" algn="ctr">
              <a:buNone/>
              <a:defRPr/>
            </a:pPr>
            <a:r>
              <a:rPr lang="en-US" sz="1200" b="1">
                <a:solidFill>
                  <a:srgbClr val="FFFFFF"/>
                </a:solidFill>
                <a:latin typeface="Calibri"/>
                <a:ea typeface="Calibri"/>
                <a:cs typeface="Calibri"/>
              </a:rPr>
              <a:t>Gap 2</a:t>
            </a:r>
            <a:endParaRPr lang="en-US" sz="1200"/>
          </a:p>
        </p:txBody>
      </p:sp>
      <p:sp>
        <p:nvSpPr>
          <p:cNvPr id="1250524666" name="Text 20"/>
          <p:cNvSpPr/>
          <p:nvPr/>
        </p:nvSpPr>
        <p:spPr bwMode="auto">
          <a:xfrm>
            <a:off x="3364992" y="1572768"/>
            <a:ext cx="2468880" cy="246888"/>
          </a:xfrm>
          <a:prstGeom prst="rect">
            <a:avLst/>
          </a:prstGeom>
          <a:noFill/>
          <a:ln/>
        </p:spPr>
        <p:txBody>
          <a:bodyPr wrap="square" lIns="0" tIns="0" rIns="0" bIns="0" rtlCol="0" anchor="ctr"/>
          <a:lstStyle/>
          <a:p>
            <a:pPr marL="0" indent="0">
              <a:buNone/>
              <a:defRPr/>
            </a:pPr>
            <a:r>
              <a:rPr lang="en-US" sz="950" b="1">
                <a:solidFill>
                  <a:srgbClr val="1E293B"/>
                </a:solidFill>
                <a:latin typeface="Calibri"/>
                <a:ea typeface="Calibri"/>
                <a:cs typeface="Calibri"/>
              </a:rPr>
              <a:t>Paper(s):</a:t>
            </a:r>
            <a:endParaRPr lang="en-US" sz="950"/>
          </a:p>
        </p:txBody>
      </p:sp>
      <p:sp>
        <p:nvSpPr>
          <p:cNvPr id="1482751285" name="Text 21"/>
          <p:cNvSpPr/>
          <p:nvPr/>
        </p:nvSpPr>
        <p:spPr bwMode="auto">
          <a:xfrm>
            <a:off x="3364992" y="1801367"/>
            <a:ext cx="2468880" cy="502920"/>
          </a:xfrm>
          <a:prstGeom prst="rect">
            <a:avLst/>
          </a:prstGeom>
          <a:noFill/>
          <a:ln/>
        </p:spPr>
        <p:txBody>
          <a:bodyPr wrap="square" lIns="0" tIns="0" rIns="0" bIns="0" rtlCol="0" anchor="t"/>
          <a:lstStyle/>
          <a:p>
            <a:pPr marL="0" indent="0">
              <a:buNone/>
              <a:defRPr/>
            </a:pPr>
            <a:r>
              <a:rPr lang="en-US" sz="950" i="1">
                <a:solidFill>
                  <a:srgbClr val="475569"/>
                </a:solidFill>
                <a:latin typeface="Calibri"/>
                <a:ea typeface="Calibri"/>
                <a:cs typeface="Calibri"/>
              </a:rPr>
              <a:t>DINO (Caron, NeurIPS 2021)</a:t>
            </a:r>
            <a:endParaRPr lang="en-US" sz="950"/>
          </a:p>
          <a:p>
            <a:pPr marL="0" indent="0">
              <a:buNone/>
              <a:defRPr/>
            </a:pPr>
            <a:r>
              <a:rPr lang="en-US" sz="950" i="1">
                <a:solidFill>
                  <a:srgbClr val="475569"/>
                </a:solidFill>
                <a:latin typeface="Calibri"/>
                <a:ea typeface="Calibri"/>
                <a:cs typeface="Calibri"/>
              </a:rPr>
              <a:t>FT-Transformer (Gorishniy, NeurIPS 2021)</a:t>
            </a:r>
            <a:endParaRPr lang="en-US" sz="950"/>
          </a:p>
        </p:txBody>
      </p:sp>
      <p:sp>
        <p:nvSpPr>
          <p:cNvPr id="1330644519" name="Shape 22"/>
          <p:cNvSpPr/>
          <p:nvPr/>
        </p:nvSpPr>
        <p:spPr bwMode="auto">
          <a:xfrm>
            <a:off x="3291840" y="2331720"/>
            <a:ext cx="2606040" cy="22860"/>
          </a:xfrm>
          <a:prstGeom prst="rect">
            <a:avLst/>
          </a:prstGeom>
          <a:solidFill>
            <a:srgbClr val="E2E8F0"/>
          </a:solidFill>
          <a:ln w="12700">
            <a:solidFill>
              <a:srgbClr val="E2E8F0"/>
            </a:solidFill>
            <a:prstDash val="solid"/>
          </a:ln>
        </p:spPr>
        <p:txBody>
          <a:bodyPr/>
          <a:p/>
        </p:txBody>
      </p:sp>
      <p:sp>
        <p:nvSpPr>
          <p:cNvPr id="759856208" name="Text 23"/>
          <p:cNvSpPr/>
          <p:nvPr/>
        </p:nvSpPr>
        <p:spPr bwMode="auto">
          <a:xfrm>
            <a:off x="3364992" y="2377440"/>
            <a:ext cx="2468880" cy="246888"/>
          </a:xfrm>
          <a:prstGeom prst="rect">
            <a:avLst/>
          </a:prstGeom>
          <a:noFill/>
          <a:ln/>
        </p:spPr>
        <p:txBody>
          <a:bodyPr wrap="square" lIns="0" tIns="0" rIns="0" bIns="0" rtlCol="0" anchor="ctr"/>
          <a:lstStyle/>
          <a:p>
            <a:pPr marL="0" indent="0">
              <a:buNone/>
              <a:defRPr/>
            </a:pPr>
            <a:r>
              <a:rPr lang="en-US" sz="950" b="1">
                <a:solidFill>
                  <a:srgbClr val="DC2626"/>
                </a:solidFill>
                <a:latin typeface="Calibri"/>
                <a:ea typeface="Calibri"/>
                <a:cs typeface="Calibri"/>
              </a:rPr>
              <a:t>Their Limitation:</a:t>
            </a:r>
            <a:endParaRPr lang="en-US" sz="950"/>
          </a:p>
        </p:txBody>
      </p:sp>
      <p:sp>
        <p:nvSpPr>
          <p:cNvPr id="978195620" name="Text 24"/>
          <p:cNvSpPr/>
          <p:nvPr/>
        </p:nvSpPr>
        <p:spPr bwMode="auto">
          <a:xfrm>
            <a:off x="3364992" y="2606040"/>
            <a:ext cx="2468880" cy="685800"/>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Intermediate layer representations never analyzed for concept content.</a:t>
            </a:r>
            <a:endParaRPr lang="en-US" sz="1000"/>
          </a:p>
        </p:txBody>
      </p:sp>
      <p:sp>
        <p:nvSpPr>
          <p:cNvPr id="860954309" name="Shape 25"/>
          <p:cNvSpPr/>
          <p:nvPr/>
        </p:nvSpPr>
        <p:spPr bwMode="auto">
          <a:xfrm>
            <a:off x="3291840" y="3337560"/>
            <a:ext cx="2606040" cy="22860"/>
          </a:xfrm>
          <a:prstGeom prst="rect">
            <a:avLst/>
          </a:prstGeom>
          <a:solidFill>
            <a:srgbClr val="E2E8F0"/>
          </a:solidFill>
          <a:ln w="12700">
            <a:solidFill>
              <a:srgbClr val="E2E8F0"/>
            </a:solidFill>
            <a:prstDash val="solid"/>
          </a:ln>
        </p:spPr>
        <p:txBody>
          <a:bodyPr/>
          <a:p/>
        </p:txBody>
      </p:sp>
      <p:sp>
        <p:nvSpPr>
          <p:cNvPr id="1070680176" name="Text 26"/>
          <p:cNvSpPr/>
          <p:nvPr/>
        </p:nvSpPr>
        <p:spPr bwMode="auto">
          <a:xfrm>
            <a:off x="3364992" y="3383280"/>
            <a:ext cx="2468880" cy="246888"/>
          </a:xfrm>
          <a:prstGeom prst="rect">
            <a:avLst/>
          </a:prstGeom>
          <a:noFill/>
          <a:ln/>
        </p:spPr>
        <p:txBody>
          <a:bodyPr wrap="square" lIns="0" tIns="0" rIns="0" bIns="0" rtlCol="0" anchor="ctr"/>
          <a:lstStyle/>
          <a:p>
            <a:pPr marL="0" indent="0">
              <a:buNone/>
              <a:defRPr/>
            </a:pPr>
            <a:r>
              <a:rPr lang="en-US" sz="950" b="1">
                <a:solidFill>
                  <a:srgbClr val="0D9488"/>
                </a:solidFill>
                <a:latin typeface="Calibri"/>
                <a:ea typeface="Calibri"/>
                <a:cs typeface="Calibri"/>
              </a:rPr>
              <a:t>Our Response:</a:t>
            </a:r>
            <a:endParaRPr lang="en-US" sz="950"/>
          </a:p>
        </p:txBody>
      </p:sp>
      <p:sp>
        <p:nvSpPr>
          <p:cNvPr id="1046005420" name="Text 27"/>
          <p:cNvSpPr/>
          <p:nvPr/>
        </p:nvSpPr>
        <p:spPr bwMode="auto">
          <a:xfrm>
            <a:off x="3364992" y="3611880"/>
            <a:ext cx="2468880" cy="1051560"/>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Multi-layer extraction: concat(L8,L10,L12) for image; concat(L2,L4,L6) for lab. First to show concept structure in intermediate layers.</a:t>
            </a:r>
            <a:endParaRPr lang="en-US" sz="1000"/>
          </a:p>
        </p:txBody>
      </p:sp>
      <p:sp>
        <p:nvSpPr>
          <p:cNvPr id="1863020796" name="Shape 28"/>
          <p:cNvSpPr/>
          <p:nvPr/>
        </p:nvSpPr>
        <p:spPr bwMode="auto">
          <a:xfrm>
            <a:off x="61722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txBody>
          <a:bodyPr/>
          <a:p/>
        </p:txBody>
      </p:sp>
      <p:sp>
        <p:nvSpPr>
          <p:cNvPr id="1854749309" name="Shape 29"/>
          <p:cNvSpPr/>
          <p:nvPr/>
        </p:nvSpPr>
        <p:spPr bwMode="auto">
          <a:xfrm>
            <a:off x="6172200" y="1024128"/>
            <a:ext cx="64008" cy="3749040"/>
          </a:xfrm>
          <a:prstGeom prst="rect">
            <a:avLst/>
          </a:prstGeom>
          <a:solidFill>
            <a:srgbClr val="0D9488"/>
          </a:solidFill>
          <a:ln w="12700">
            <a:solidFill>
              <a:srgbClr val="0D9488"/>
            </a:solidFill>
            <a:prstDash val="solid"/>
          </a:ln>
        </p:spPr>
        <p:txBody>
          <a:bodyPr/>
          <a:p/>
        </p:txBody>
      </p:sp>
      <p:sp>
        <p:nvSpPr>
          <p:cNvPr id="2135664715" name="Shape 30"/>
          <p:cNvSpPr/>
          <p:nvPr/>
        </p:nvSpPr>
        <p:spPr bwMode="auto">
          <a:xfrm>
            <a:off x="6263640" y="1097280"/>
            <a:ext cx="822960" cy="384048"/>
          </a:xfrm>
          <a:prstGeom prst="rect">
            <a:avLst/>
          </a:prstGeom>
          <a:solidFill>
            <a:srgbClr val="0D9488"/>
          </a:solidFill>
          <a:ln w="12700">
            <a:solidFill>
              <a:srgbClr val="0D9488"/>
            </a:solidFill>
            <a:prstDash val="solid"/>
          </a:ln>
        </p:spPr>
        <p:txBody>
          <a:bodyPr/>
          <a:p/>
        </p:txBody>
      </p:sp>
      <p:sp>
        <p:nvSpPr>
          <p:cNvPr id="1856242612" name="Text 31"/>
          <p:cNvSpPr/>
          <p:nvPr/>
        </p:nvSpPr>
        <p:spPr bwMode="auto">
          <a:xfrm>
            <a:off x="6263640" y="1097280"/>
            <a:ext cx="822960" cy="384048"/>
          </a:xfrm>
          <a:prstGeom prst="rect">
            <a:avLst/>
          </a:prstGeom>
          <a:noFill/>
          <a:ln/>
        </p:spPr>
        <p:txBody>
          <a:bodyPr wrap="square" lIns="0" tIns="0" rIns="0" bIns="0" rtlCol="0" anchor="ctr"/>
          <a:lstStyle/>
          <a:p>
            <a:pPr marL="0" indent="0" algn="ctr">
              <a:buNone/>
              <a:defRPr/>
            </a:pPr>
            <a:r>
              <a:rPr lang="en-US" sz="1200" b="1">
                <a:solidFill>
                  <a:srgbClr val="FFFFFF"/>
                </a:solidFill>
                <a:latin typeface="Calibri"/>
                <a:ea typeface="Calibri"/>
                <a:cs typeface="Calibri"/>
              </a:rPr>
              <a:t>Gap 3</a:t>
            </a:r>
            <a:endParaRPr lang="en-US" sz="1200"/>
          </a:p>
        </p:txBody>
      </p:sp>
      <p:sp>
        <p:nvSpPr>
          <p:cNvPr id="1120404509" name="Text 32"/>
          <p:cNvSpPr/>
          <p:nvPr/>
        </p:nvSpPr>
        <p:spPr bwMode="auto">
          <a:xfrm>
            <a:off x="6336792" y="1572768"/>
            <a:ext cx="2468880" cy="246888"/>
          </a:xfrm>
          <a:prstGeom prst="rect">
            <a:avLst/>
          </a:prstGeom>
          <a:noFill/>
          <a:ln/>
        </p:spPr>
        <p:txBody>
          <a:bodyPr wrap="square" lIns="0" tIns="0" rIns="0" bIns="0" rtlCol="0" anchor="ctr"/>
          <a:lstStyle/>
          <a:p>
            <a:pPr marL="0" indent="0">
              <a:buNone/>
              <a:defRPr/>
            </a:pPr>
            <a:r>
              <a:rPr lang="en-US" sz="950" b="1">
                <a:solidFill>
                  <a:srgbClr val="1E293B"/>
                </a:solidFill>
                <a:latin typeface="Calibri"/>
                <a:ea typeface="Calibri"/>
                <a:cs typeface="Calibri"/>
              </a:rPr>
              <a:t>Paper(s):</a:t>
            </a:r>
            <a:endParaRPr lang="en-US" sz="950"/>
          </a:p>
        </p:txBody>
      </p:sp>
      <p:sp>
        <p:nvSpPr>
          <p:cNvPr id="2027338031" name="Text 33"/>
          <p:cNvSpPr/>
          <p:nvPr/>
        </p:nvSpPr>
        <p:spPr bwMode="auto">
          <a:xfrm>
            <a:off x="6336792" y="1801367"/>
            <a:ext cx="2468880" cy="502920"/>
          </a:xfrm>
          <a:prstGeom prst="rect">
            <a:avLst/>
          </a:prstGeom>
          <a:noFill/>
          <a:ln/>
        </p:spPr>
        <p:txBody>
          <a:bodyPr wrap="square" lIns="0" tIns="0" rIns="0" bIns="0" rtlCol="0" anchor="t"/>
          <a:lstStyle/>
          <a:p>
            <a:pPr marL="0" indent="0">
              <a:buNone/>
              <a:defRPr/>
            </a:pPr>
            <a:r>
              <a:rPr lang="en-US" sz="950" i="1">
                <a:solidFill>
                  <a:srgbClr val="475569"/>
                </a:solidFill>
                <a:latin typeface="Calibri"/>
                <a:ea typeface="Calibri"/>
                <a:cs typeface="Calibri"/>
              </a:rPr>
              <a:t>ClusterLLM (EMNLP 2023)</a:t>
            </a:r>
            <a:endParaRPr lang="en-US" sz="950"/>
          </a:p>
          <a:p>
            <a:pPr marL="0" indent="0">
              <a:buNone/>
              <a:defRPr/>
            </a:pPr>
            <a:r>
              <a:rPr lang="en-US" sz="950" i="1">
                <a:solidFill>
                  <a:srgbClr val="475569"/>
                </a:solidFill>
                <a:latin typeface="Calibri"/>
                <a:ea typeface="Calibri"/>
                <a:cs typeface="Calibri"/>
              </a:rPr>
              <a:t>Lab-MAE (CHIL 2025)</a:t>
            </a:r>
            <a:endParaRPr lang="en-US" sz="950"/>
          </a:p>
        </p:txBody>
      </p:sp>
      <p:sp>
        <p:nvSpPr>
          <p:cNvPr id="1506516989" name="Shape 34"/>
          <p:cNvSpPr/>
          <p:nvPr/>
        </p:nvSpPr>
        <p:spPr bwMode="auto">
          <a:xfrm>
            <a:off x="6263640" y="2331720"/>
            <a:ext cx="2606040" cy="22860"/>
          </a:xfrm>
          <a:prstGeom prst="rect">
            <a:avLst/>
          </a:prstGeom>
          <a:solidFill>
            <a:srgbClr val="E2E8F0"/>
          </a:solidFill>
          <a:ln w="12700">
            <a:solidFill>
              <a:srgbClr val="E2E8F0"/>
            </a:solidFill>
            <a:prstDash val="solid"/>
          </a:ln>
        </p:spPr>
        <p:txBody>
          <a:bodyPr/>
          <a:p/>
        </p:txBody>
      </p:sp>
      <p:sp>
        <p:nvSpPr>
          <p:cNvPr id="287351634" name="Text 35"/>
          <p:cNvSpPr/>
          <p:nvPr/>
        </p:nvSpPr>
        <p:spPr bwMode="auto">
          <a:xfrm>
            <a:off x="6336792" y="2377440"/>
            <a:ext cx="2468880" cy="246888"/>
          </a:xfrm>
          <a:prstGeom prst="rect">
            <a:avLst/>
          </a:prstGeom>
          <a:noFill/>
          <a:ln/>
        </p:spPr>
        <p:txBody>
          <a:bodyPr wrap="square" lIns="0" tIns="0" rIns="0" bIns="0" rtlCol="0" anchor="ctr"/>
          <a:lstStyle/>
          <a:p>
            <a:pPr marL="0" indent="0">
              <a:buNone/>
              <a:defRPr/>
            </a:pPr>
            <a:r>
              <a:rPr lang="en-US" sz="950" b="1">
                <a:solidFill>
                  <a:srgbClr val="DC2626"/>
                </a:solidFill>
                <a:latin typeface="Calibri"/>
                <a:ea typeface="Calibri"/>
                <a:cs typeface="Calibri"/>
              </a:rPr>
              <a:t>Their Limitation:</a:t>
            </a:r>
            <a:endParaRPr lang="en-US" sz="950"/>
          </a:p>
        </p:txBody>
      </p:sp>
      <p:sp>
        <p:nvSpPr>
          <p:cNvPr id="1805899630" name="Text 36"/>
          <p:cNvSpPr/>
          <p:nvPr/>
        </p:nvSpPr>
        <p:spPr bwMode="auto">
          <a:xfrm>
            <a:off x="6336792" y="2606040"/>
            <a:ext cx="2468880" cy="685800"/>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LLM concept guidance restricted to textual/NLP data only.</a:t>
            </a:r>
            <a:endParaRPr lang="en-US" sz="1000"/>
          </a:p>
        </p:txBody>
      </p:sp>
      <p:sp>
        <p:nvSpPr>
          <p:cNvPr id="135956760" name="Shape 37"/>
          <p:cNvSpPr/>
          <p:nvPr/>
        </p:nvSpPr>
        <p:spPr bwMode="auto">
          <a:xfrm>
            <a:off x="6263640" y="3337560"/>
            <a:ext cx="2606040" cy="22860"/>
          </a:xfrm>
          <a:prstGeom prst="rect">
            <a:avLst/>
          </a:prstGeom>
          <a:solidFill>
            <a:srgbClr val="E2E8F0"/>
          </a:solidFill>
          <a:ln w="12700">
            <a:solidFill>
              <a:srgbClr val="E2E8F0"/>
            </a:solidFill>
            <a:prstDash val="solid"/>
          </a:ln>
        </p:spPr>
        <p:txBody>
          <a:bodyPr/>
          <a:p/>
        </p:txBody>
      </p:sp>
      <p:sp>
        <p:nvSpPr>
          <p:cNvPr id="1905330487" name="Text 38"/>
          <p:cNvSpPr/>
          <p:nvPr/>
        </p:nvSpPr>
        <p:spPr bwMode="auto">
          <a:xfrm>
            <a:off x="6336792" y="3383280"/>
            <a:ext cx="2468880" cy="246888"/>
          </a:xfrm>
          <a:prstGeom prst="rect">
            <a:avLst/>
          </a:prstGeom>
          <a:noFill/>
          <a:ln/>
        </p:spPr>
        <p:txBody>
          <a:bodyPr wrap="square" lIns="0" tIns="0" rIns="0" bIns="0" rtlCol="0" anchor="ctr"/>
          <a:lstStyle/>
          <a:p>
            <a:pPr marL="0" indent="0">
              <a:buNone/>
              <a:defRPr/>
            </a:pPr>
            <a:r>
              <a:rPr lang="en-US" sz="950" b="1">
                <a:solidFill>
                  <a:srgbClr val="0D9488"/>
                </a:solidFill>
                <a:latin typeface="Calibri"/>
                <a:ea typeface="Calibri"/>
                <a:cs typeface="Calibri"/>
              </a:rPr>
              <a:t>Our Response:</a:t>
            </a:r>
            <a:endParaRPr lang="en-US" sz="950"/>
          </a:p>
        </p:txBody>
      </p:sp>
      <p:sp>
        <p:nvSpPr>
          <p:cNvPr id="204719165" name="Text 39"/>
          <p:cNvSpPr/>
          <p:nvPr/>
        </p:nvSpPr>
        <p:spPr bwMode="auto">
          <a:xfrm>
            <a:off x="6336792" y="3611880"/>
            <a:ext cx="2468880" cy="1051560"/>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LLM reads numerical deviation profiles of cluster centroids, suggests clinical labels. Human validates. Bridges statistics and semantics for numerical data.</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4F8FF"/>
        </a:solidFill>
      </p:bgPr>
    </p:bg>
    <p:spTree>
      <p:nvGrpSpPr>
        <p:cNvPr id="1" name=""/>
        <p:cNvGrpSpPr/>
        <p:nvPr/>
      </p:nvGrpSpPr>
      <p:grpSpPr bwMode="auto">
        <a:xfrm>
          <a:off x="0" y="0"/>
          <a:ext cx="0" cy="0"/>
          <a:chOff x="0" y="0"/>
          <a:chExt cx="0" cy="0"/>
        </a:xfrm>
      </p:grpSpPr>
      <p:sp>
        <p:nvSpPr>
          <p:cNvPr id="611965005" name="Shape 0"/>
          <p:cNvSpPr/>
          <p:nvPr/>
        </p:nvSpPr>
        <p:spPr bwMode="auto">
          <a:xfrm>
            <a:off x="0" y="0"/>
            <a:ext cx="118872" cy="5143500"/>
          </a:xfrm>
          <a:prstGeom prst="rect">
            <a:avLst/>
          </a:prstGeom>
          <a:solidFill>
            <a:srgbClr val="0D9488"/>
          </a:solidFill>
          <a:ln w="12700">
            <a:solidFill>
              <a:srgbClr val="0D9488"/>
            </a:solidFill>
            <a:prstDash val="solid"/>
          </a:ln>
        </p:spPr>
        <p:txBody>
          <a:bodyPr/>
          <a:p/>
        </p:txBody>
      </p:sp>
      <p:sp>
        <p:nvSpPr>
          <p:cNvPr id="1204663090"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Our Solution: A Three-Stage Unsupervised-First Pipeline</a:t>
            </a:r>
            <a:endParaRPr lang="en-US" sz="2500"/>
          </a:p>
        </p:txBody>
      </p:sp>
      <p:sp>
        <p:nvSpPr>
          <p:cNvPr id="1473014131" name="Text 2"/>
          <p:cNvSpPr/>
          <p:nvPr/>
        </p:nvSpPr>
        <p:spPr bwMode="auto">
          <a:xfrm>
            <a:off x="228600" y="667512"/>
            <a:ext cx="8686800" cy="246888"/>
          </a:xfrm>
          <a:prstGeom prst="rect">
            <a:avLst/>
          </a:prstGeom>
          <a:noFill/>
          <a:ln/>
        </p:spPr>
        <p:txBody>
          <a:bodyPr wrap="square" lIns="0" tIns="0" rIns="0" bIns="0" rtlCol="0" anchor="ctr"/>
          <a:lstStyle/>
          <a:p>
            <a:r>
              <a:t>The identical structure applied to both domains: DIFE: Visual (DINO) and Tabular/Lab (PSFTT)</a:t>
            </a:r>
          </a:p>
        </p:txBody>
      </p:sp>
      <p:sp>
        <p:nvSpPr>
          <p:cNvPr id="1100221578" name="Shape 3"/>
          <p:cNvSpPr/>
          <p:nvPr/>
        </p:nvSpPr>
        <p:spPr bwMode="auto">
          <a:xfrm>
            <a:off x="228600" y="896112"/>
            <a:ext cx="8686800" cy="22860"/>
          </a:xfrm>
          <a:prstGeom prst="rect">
            <a:avLst/>
          </a:prstGeom>
          <a:solidFill>
            <a:srgbClr val="0D9488"/>
          </a:solidFill>
          <a:ln w="12700">
            <a:solidFill>
              <a:srgbClr val="0D9488"/>
            </a:solidFill>
            <a:prstDash val="solid"/>
          </a:ln>
        </p:spPr>
        <p:txBody>
          <a:bodyPr/>
          <a:p/>
        </p:txBody>
      </p:sp>
      <p:sp>
        <p:nvSpPr>
          <p:cNvPr id="1396361143" name="Shape 4"/>
          <p:cNvSpPr/>
          <p:nvPr/>
        </p:nvSpPr>
        <p:spPr bwMode="auto">
          <a:xfrm>
            <a:off x="594360" y="1188720"/>
            <a:ext cx="2194560" cy="1920240"/>
          </a:xfrm>
          <a:prstGeom prst="rect">
            <a:avLst/>
          </a:prstGeom>
          <a:solidFill>
            <a:srgbClr val="1A1F3A"/>
          </a:solidFill>
          <a:ln w="12700">
            <a:solidFill>
              <a:srgbClr val="1A1F3A"/>
            </a:solidFill>
            <a:prstDash val="solid"/>
          </a:ln>
          <a:effectLst>
            <a:outerShdw blurRad="76200" dist="25400" dir="8100000" sx="100000" sy="100000" kx="0" ky="0" algn="bl" rotWithShape="0">
              <a:srgbClr val="000000">
                <a:alpha val="10000"/>
              </a:srgbClr>
            </a:outerShdw>
          </a:effectLst>
        </p:spPr>
        <p:txBody>
          <a:bodyPr/>
          <a:p/>
        </p:txBody>
      </p:sp>
      <p:sp>
        <p:nvSpPr>
          <p:cNvPr id="1004026996" name="Text 5"/>
          <p:cNvSpPr/>
          <p:nvPr/>
        </p:nvSpPr>
        <p:spPr bwMode="auto">
          <a:xfrm>
            <a:off x="640080" y="1298448"/>
            <a:ext cx="2103120" cy="274320"/>
          </a:xfrm>
          <a:prstGeom prst="rect">
            <a:avLst/>
          </a:prstGeom>
          <a:noFill/>
          <a:ln/>
        </p:spPr>
        <p:txBody>
          <a:bodyPr wrap="square" lIns="0" tIns="0" rIns="0" bIns="0" rtlCol="0" anchor="ctr"/>
          <a:lstStyle/>
          <a:p>
            <a:pPr marL="0" indent="0" algn="ctr">
              <a:buNone/>
              <a:defRPr/>
            </a:pPr>
            <a:r>
              <a:rPr lang="en-US" sz="1100">
                <a:solidFill>
                  <a:srgbClr val="99F6E4"/>
                </a:solidFill>
                <a:latin typeface="Calibri"/>
                <a:ea typeface="Calibri"/>
                <a:cs typeface="Calibri"/>
              </a:rPr>
              <a:t>Stage 1</a:t>
            </a:r>
            <a:endParaRPr lang="en-US" sz="1100"/>
          </a:p>
        </p:txBody>
      </p:sp>
      <p:sp>
        <p:nvSpPr>
          <p:cNvPr id="585994958" name="Text 6"/>
          <p:cNvSpPr/>
          <p:nvPr/>
        </p:nvSpPr>
        <p:spPr bwMode="auto">
          <a:xfrm>
            <a:off x="640080" y="1536192"/>
            <a:ext cx="2103120" cy="438912"/>
          </a:xfrm>
          <a:prstGeom prst="rect">
            <a:avLst/>
          </a:prstGeom>
          <a:noFill/>
          <a:ln/>
        </p:spPr>
        <p:txBody>
          <a:bodyPr wrap="square" lIns="0" tIns="0" rIns="0" bIns="0" rtlCol="0" anchor="ctr"/>
          <a:lstStyle/>
          <a:p>
            <a:pPr marL="0" indent="0" algn="ctr">
              <a:buNone/>
              <a:defRPr/>
            </a:pPr>
            <a:r>
              <a:rPr lang="en-US" sz="2200" b="1">
                <a:solidFill>
                  <a:srgbClr val="FFFFFF"/>
                </a:solidFill>
                <a:latin typeface="Calibri"/>
                <a:ea typeface="Calibri"/>
                <a:cs typeface="Calibri"/>
              </a:rPr>
              <a:t>DISCOVER</a:t>
            </a:r>
            <a:endParaRPr lang="en-US" sz="2200"/>
          </a:p>
        </p:txBody>
      </p:sp>
      <p:sp>
        <p:nvSpPr>
          <p:cNvPr id="1429068238" name="Shape 7"/>
          <p:cNvSpPr/>
          <p:nvPr/>
        </p:nvSpPr>
        <p:spPr bwMode="auto">
          <a:xfrm>
            <a:off x="731520" y="1965960"/>
            <a:ext cx="1920240" cy="22860"/>
          </a:xfrm>
          <a:prstGeom prst="rect">
            <a:avLst/>
          </a:prstGeom>
          <a:solidFill>
            <a:srgbClr val="FFFFFF">
              <a:alpha val="40000"/>
            </a:srgbClr>
          </a:solidFill>
          <a:ln w="12700">
            <a:solidFill>
              <a:srgbClr val="FFFFFF">
                <a:alpha val="40000"/>
              </a:srgbClr>
            </a:solidFill>
            <a:prstDash val="solid"/>
          </a:ln>
        </p:spPr>
        <p:txBody>
          <a:bodyPr/>
          <a:p/>
        </p:txBody>
      </p:sp>
      <p:sp>
        <p:nvSpPr>
          <p:cNvPr id="957918279" name="Text 8"/>
          <p:cNvSpPr/>
          <p:nvPr/>
        </p:nvSpPr>
        <p:spPr bwMode="auto">
          <a:xfrm>
            <a:off x="640080" y="2029968"/>
            <a:ext cx="2103120" cy="274320"/>
          </a:xfrm>
          <a:prstGeom prst="rect">
            <a:avLst/>
          </a:prstGeom>
          <a:noFill/>
          <a:ln/>
        </p:spPr>
        <p:txBody>
          <a:bodyPr wrap="square" lIns="0" tIns="0" rIns="0" bIns="0" rtlCol="0" anchor="ctr"/>
          <a:lstStyle/>
          <a:p>
            <a:pPr marL="0" indent="0" algn="ctr">
              <a:buNone/>
              <a:defRPr/>
            </a:pPr>
            <a:r>
              <a:rPr lang="en-US" sz="950">
                <a:solidFill>
                  <a:srgbClr val="99F6E4"/>
                </a:solidFill>
                <a:latin typeface="Calibri"/>
                <a:ea typeface="Calibri"/>
                <a:cs typeface="Calibri"/>
              </a:rPr>
              <a:t>Encoder extracts features from</a:t>
            </a:r>
            <a:endParaRPr lang="en-US" sz="950"/>
          </a:p>
        </p:txBody>
      </p:sp>
      <p:sp>
        <p:nvSpPr>
          <p:cNvPr id="1194942251" name="Text 9"/>
          <p:cNvSpPr/>
          <p:nvPr/>
        </p:nvSpPr>
        <p:spPr bwMode="auto">
          <a:xfrm>
            <a:off x="640080" y="2322576"/>
            <a:ext cx="2103120" cy="274320"/>
          </a:xfrm>
          <a:prstGeom prst="rect">
            <a:avLst/>
          </a:prstGeom>
          <a:noFill/>
          <a:ln/>
        </p:spPr>
        <p:txBody>
          <a:bodyPr wrap="square" lIns="0" tIns="0" rIns="0" bIns="0" rtlCol="0" anchor="ctr"/>
          <a:lstStyle/>
          <a:p>
            <a:pPr marL="0" indent="0" algn="ctr">
              <a:buNone/>
              <a:defRPr/>
            </a:pPr>
            <a:r>
              <a:rPr lang="en-US" sz="950">
                <a:solidFill>
                  <a:srgbClr val="99F6E4"/>
                </a:solidFill>
                <a:latin typeface="Calibri"/>
                <a:ea typeface="Calibri"/>
                <a:cs typeface="Calibri"/>
              </a:rPr>
              <a:t>unlabeled data · GMM finds</a:t>
            </a:r>
            <a:endParaRPr lang="en-US" sz="950"/>
          </a:p>
        </p:txBody>
      </p:sp>
      <p:sp>
        <p:nvSpPr>
          <p:cNvPr id="1724617435" name="Text 10"/>
          <p:cNvSpPr/>
          <p:nvPr/>
        </p:nvSpPr>
        <p:spPr bwMode="auto">
          <a:xfrm>
            <a:off x="640080" y="2615184"/>
            <a:ext cx="2103120" cy="274320"/>
          </a:xfrm>
          <a:prstGeom prst="rect">
            <a:avLst/>
          </a:prstGeom>
          <a:noFill/>
          <a:ln/>
        </p:spPr>
        <p:txBody>
          <a:bodyPr wrap="square" lIns="0" tIns="0" rIns="0" bIns="0" rtlCol="0" anchor="ctr"/>
          <a:lstStyle/>
          <a:p>
            <a:pPr marL="0" indent="0" algn="ctr">
              <a:buNone/>
              <a:defRPr/>
            </a:pPr>
            <a:r>
              <a:rPr lang="en-US" sz="950">
                <a:solidFill>
                  <a:srgbClr val="99F6E4"/>
                </a:solidFill>
                <a:latin typeface="Calibri"/>
                <a:ea typeface="Calibri"/>
                <a:cs typeface="Calibri"/>
              </a:rPr>
              <a:t>30 natural clusters</a:t>
            </a:r>
            <a:endParaRPr lang="en-US" sz="950"/>
          </a:p>
        </p:txBody>
      </p:sp>
      <p:sp>
        <p:nvSpPr>
          <p:cNvPr id="680525736" name="Shape 11"/>
          <p:cNvSpPr/>
          <p:nvPr/>
        </p:nvSpPr>
        <p:spPr bwMode="auto">
          <a:xfrm>
            <a:off x="2788920" y="2148840"/>
            <a:ext cx="685800" cy="0"/>
          </a:xfrm>
          <a:prstGeom prst="line">
            <a:avLst/>
          </a:prstGeom>
          <a:noFill/>
          <a:ln w="25400">
            <a:solidFill>
              <a:srgbClr val="94A3B8"/>
            </a:solidFill>
            <a:prstDash val="solid"/>
            <a:tailEnd type="arrow"/>
          </a:ln>
        </p:spPr>
        <p:txBody>
          <a:bodyPr/>
          <a:p/>
        </p:txBody>
      </p:sp>
      <p:sp>
        <p:nvSpPr>
          <p:cNvPr id="950838671" name="Shape 12"/>
          <p:cNvSpPr/>
          <p:nvPr/>
        </p:nvSpPr>
        <p:spPr bwMode="auto">
          <a:xfrm>
            <a:off x="3474720" y="1188720"/>
            <a:ext cx="2194560" cy="1920240"/>
          </a:xfrm>
          <a:prstGeom prst="rect">
            <a:avLst/>
          </a:prstGeom>
          <a:solidFill>
            <a:srgbClr val="0D9488"/>
          </a:solidFill>
          <a:ln w="12700">
            <a:solidFill>
              <a:srgbClr val="0D9488"/>
            </a:solidFill>
            <a:prstDash val="solid"/>
          </a:ln>
          <a:effectLst>
            <a:outerShdw blurRad="76200" dist="25400" dir="8100000" sx="100000" sy="100000" kx="0" ky="0" algn="bl" rotWithShape="0">
              <a:srgbClr val="000000">
                <a:alpha val="10000"/>
              </a:srgbClr>
            </a:outerShdw>
          </a:effectLst>
        </p:spPr>
        <p:txBody>
          <a:bodyPr/>
          <a:p/>
        </p:txBody>
      </p:sp>
      <p:sp>
        <p:nvSpPr>
          <p:cNvPr id="960968597" name="Text 13"/>
          <p:cNvSpPr/>
          <p:nvPr/>
        </p:nvSpPr>
        <p:spPr bwMode="auto">
          <a:xfrm>
            <a:off x="3520440" y="1298448"/>
            <a:ext cx="2103120" cy="274320"/>
          </a:xfrm>
          <a:prstGeom prst="rect">
            <a:avLst/>
          </a:prstGeom>
          <a:noFill/>
          <a:ln/>
        </p:spPr>
        <p:txBody>
          <a:bodyPr wrap="square" lIns="0" tIns="0" rIns="0" bIns="0" rtlCol="0" anchor="ctr"/>
          <a:lstStyle/>
          <a:p>
            <a:pPr marL="0" indent="0" algn="ctr">
              <a:buNone/>
              <a:defRPr/>
            </a:pPr>
            <a:r>
              <a:rPr lang="en-US" sz="1100">
                <a:solidFill>
                  <a:srgbClr val="CCFBF1"/>
                </a:solidFill>
                <a:latin typeface="Calibri"/>
                <a:ea typeface="Calibri"/>
                <a:cs typeface="Calibri"/>
              </a:rPr>
              <a:t>Stage 2</a:t>
            </a:r>
            <a:endParaRPr lang="en-US" sz="1100"/>
          </a:p>
        </p:txBody>
      </p:sp>
      <p:sp>
        <p:nvSpPr>
          <p:cNvPr id="1630569599" name="Text 14"/>
          <p:cNvSpPr/>
          <p:nvPr/>
        </p:nvSpPr>
        <p:spPr bwMode="auto">
          <a:xfrm>
            <a:off x="3520440" y="1536192"/>
            <a:ext cx="2103120" cy="438912"/>
          </a:xfrm>
          <a:prstGeom prst="rect">
            <a:avLst/>
          </a:prstGeom>
          <a:noFill/>
          <a:ln/>
        </p:spPr>
        <p:txBody>
          <a:bodyPr wrap="square" lIns="0" tIns="0" rIns="0" bIns="0" rtlCol="0" anchor="ctr"/>
          <a:lstStyle/>
          <a:p>
            <a:pPr marL="0" indent="0" algn="ctr">
              <a:buNone/>
              <a:defRPr/>
            </a:pPr>
            <a:r>
              <a:rPr lang="en-US" sz="2200" b="1">
                <a:solidFill>
                  <a:srgbClr val="FFFFFF"/>
                </a:solidFill>
                <a:latin typeface="Calibri"/>
                <a:ea typeface="Calibri"/>
                <a:cs typeface="Calibri"/>
              </a:rPr>
              <a:t>NAME</a:t>
            </a:r>
            <a:endParaRPr lang="en-US" sz="2200"/>
          </a:p>
        </p:txBody>
      </p:sp>
      <p:sp>
        <p:nvSpPr>
          <p:cNvPr id="55564810" name="Shape 15"/>
          <p:cNvSpPr/>
          <p:nvPr/>
        </p:nvSpPr>
        <p:spPr bwMode="auto">
          <a:xfrm>
            <a:off x="3611880" y="1965960"/>
            <a:ext cx="1920240" cy="22860"/>
          </a:xfrm>
          <a:prstGeom prst="rect">
            <a:avLst/>
          </a:prstGeom>
          <a:solidFill>
            <a:srgbClr val="FFFFFF">
              <a:alpha val="40000"/>
            </a:srgbClr>
          </a:solidFill>
          <a:ln w="12700">
            <a:solidFill>
              <a:srgbClr val="FFFFFF">
                <a:alpha val="40000"/>
              </a:srgbClr>
            </a:solidFill>
            <a:prstDash val="solid"/>
          </a:ln>
        </p:spPr>
        <p:txBody>
          <a:bodyPr/>
          <a:p/>
        </p:txBody>
      </p:sp>
      <p:sp>
        <p:nvSpPr>
          <p:cNvPr id="274666678" name="Text 16"/>
          <p:cNvSpPr/>
          <p:nvPr/>
        </p:nvSpPr>
        <p:spPr bwMode="auto">
          <a:xfrm>
            <a:off x="3520440" y="2029968"/>
            <a:ext cx="2103120" cy="274320"/>
          </a:xfrm>
          <a:prstGeom prst="rect">
            <a:avLst/>
          </a:prstGeom>
          <a:noFill/>
          <a:ln/>
        </p:spPr>
        <p:txBody>
          <a:bodyPr wrap="square" lIns="0" tIns="0" rIns="0" bIns="0" rtlCol="0" anchor="ctr"/>
          <a:lstStyle/>
          <a:p>
            <a:pPr marL="0" indent="0" algn="ctr">
              <a:buNone/>
              <a:defRPr/>
            </a:pPr>
            <a:r>
              <a:rPr lang="en-US" sz="950">
                <a:solidFill>
                  <a:srgbClr val="CCFBF1"/>
                </a:solidFill>
                <a:latin typeface="Calibri"/>
                <a:ea typeface="Calibri"/>
                <a:cs typeface="Calibri"/>
              </a:rPr>
              <a:t>LLM reads cluster centroid</a:t>
            </a:r>
            <a:endParaRPr lang="en-US" sz="950"/>
          </a:p>
        </p:txBody>
      </p:sp>
      <p:sp>
        <p:nvSpPr>
          <p:cNvPr id="1063229696" name="Text 17"/>
          <p:cNvSpPr/>
          <p:nvPr/>
        </p:nvSpPr>
        <p:spPr bwMode="auto">
          <a:xfrm>
            <a:off x="3520440" y="2322576"/>
            <a:ext cx="2103120" cy="274320"/>
          </a:xfrm>
          <a:prstGeom prst="rect">
            <a:avLst/>
          </a:prstGeom>
          <a:noFill/>
          <a:ln/>
        </p:spPr>
        <p:txBody>
          <a:bodyPr wrap="square" lIns="0" tIns="0" rIns="0" bIns="0" rtlCol="0" anchor="ctr"/>
          <a:lstStyle/>
          <a:p>
            <a:pPr marL="0" indent="0" algn="ctr">
              <a:buNone/>
              <a:defRPr/>
            </a:pPr>
            <a:r>
              <a:rPr lang="en-US" sz="950">
                <a:solidFill>
                  <a:srgbClr val="CCFBF1"/>
                </a:solidFill>
                <a:latin typeface="Calibri"/>
                <a:ea typeface="Calibri"/>
                <a:cs typeface="Calibri"/>
              </a:rPr>
              <a:t>deviation profiles · Human</a:t>
            </a:r>
            <a:endParaRPr lang="en-US" sz="950"/>
          </a:p>
        </p:txBody>
      </p:sp>
      <p:sp>
        <p:nvSpPr>
          <p:cNvPr id="1162932698" name="Text 18"/>
          <p:cNvSpPr/>
          <p:nvPr/>
        </p:nvSpPr>
        <p:spPr bwMode="auto">
          <a:xfrm>
            <a:off x="3520440" y="2615184"/>
            <a:ext cx="2103120" cy="274320"/>
          </a:xfrm>
          <a:prstGeom prst="rect">
            <a:avLst/>
          </a:prstGeom>
          <a:noFill/>
          <a:ln/>
        </p:spPr>
        <p:txBody>
          <a:bodyPr wrap="square" lIns="0" tIns="0" rIns="0" bIns="0" rtlCol="0" anchor="ctr"/>
          <a:lstStyle/>
          <a:p>
            <a:pPr marL="0" indent="0" algn="ctr">
              <a:buNone/>
              <a:defRPr/>
            </a:pPr>
            <a:r>
              <a:rPr lang="en-US" sz="950">
                <a:solidFill>
                  <a:srgbClr val="CCFBF1"/>
                </a:solidFill>
                <a:latin typeface="Calibri"/>
                <a:ea typeface="Calibri"/>
                <a:cs typeface="Calibri"/>
              </a:rPr>
              <a:t>validates clinical labels</a:t>
            </a:r>
            <a:endParaRPr lang="en-US" sz="950"/>
          </a:p>
        </p:txBody>
      </p:sp>
      <p:sp>
        <p:nvSpPr>
          <p:cNvPr id="716208252" name="Shape 19"/>
          <p:cNvSpPr/>
          <p:nvPr/>
        </p:nvSpPr>
        <p:spPr bwMode="auto">
          <a:xfrm>
            <a:off x="5669280" y="2148840"/>
            <a:ext cx="685800" cy="0"/>
          </a:xfrm>
          <a:prstGeom prst="line">
            <a:avLst/>
          </a:prstGeom>
          <a:noFill/>
          <a:ln w="25400">
            <a:solidFill>
              <a:srgbClr val="94A3B8"/>
            </a:solidFill>
            <a:prstDash val="solid"/>
            <a:tailEnd type="arrow"/>
          </a:ln>
        </p:spPr>
        <p:txBody>
          <a:bodyPr/>
          <a:p/>
        </p:txBody>
      </p:sp>
      <p:sp>
        <p:nvSpPr>
          <p:cNvPr id="263567423" name="Shape 20"/>
          <p:cNvSpPr/>
          <p:nvPr/>
        </p:nvSpPr>
        <p:spPr bwMode="auto">
          <a:xfrm>
            <a:off x="6355080" y="1188720"/>
            <a:ext cx="2194560" cy="1920240"/>
          </a:xfrm>
          <a:prstGeom prst="rect">
            <a:avLst/>
          </a:prstGeom>
          <a:solidFill>
            <a:srgbClr val="F59E0B"/>
          </a:solidFill>
          <a:ln w="12700">
            <a:solidFill>
              <a:srgbClr val="F59E0B"/>
            </a:solidFill>
            <a:prstDash val="solid"/>
          </a:ln>
          <a:effectLst>
            <a:outerShdw blurRad="76200" dist="25400" dir="8100000" sx="100000" sy="100000" kx="0" ky="0" algn="bl" rotWithShape="0">
              <a:srgbClr val="000000">
                <a:alpha val="10000"/>
              </a:srgbClr>
            </a:outerShdw>
          </a:effectLst>
        </p:spPr>
        <p:txBody>
          <a:bodyPr/>
          <a:p/>
        </p:txBody>
      </p:sp>
      <p:sp>
        <p:nvSpPr>
          <p:cNvPr id="762928225" name="Text 21"/>
          <p:cNvSpPr/>
          <p:nvPr/>
        </p:nvSpPr>
        <p:spPr bwMode="auto">
          <a:xfrm>
            <a:off x="6400800" y="1298448"/>
            <a:ext cx="2103120" cy="274320"/>
          </a:xfrm>
          <a:prstGeom prst="rect">
            <a:avLst/>
          </a:prstGeom>
          <a:noFill/>
          <a:ln/>
        </p:spPr>
        <p:txBody>
          <a:bodyPr wrap="square" lIns="0" tIns="0" rIns="0" bIns="0" rtlCol="0" anchor="ctr"/>
          <a:lstStyle/>
          <a:p>
            <a:pPr marL="0" indent="0" algn="ctr">
              <a:buNone/>
              <a:defRPr/>
            </a:pPr>
            <a:r>
              <a:rPr lang="en-US" sz="1100">
                <a:solidFill>
                  <a:srgbClr val="1E293B"/>
                </a:solidFill>
                <a:latin typeface="Calibri"/>
                <a:ea typeface="Calibri"/>
                <a:cs typeface="Calibri"/>
              </a:rPr>
              <a:t>Stage 3</a:t>
            </a:r>
            <a:endParaRPr lang="en-US" sz="1100"/>
          </a:p>
        </p:txBody>
      </p:sp>
      <p:sp>
        <p:nvSpPr>
          <p:cNvPr id="1568606832" name="Text 22"/>
          <p:cNvSpPr/>
          <p:nvPr/>
        </p:nvSpPr>
        <p:spPr bwMode="auto">
          <a:xfrm>
            <a:off x="6400800" y="1536192"/>
            <a:ext cx="2103120" cy="438912"/>
          </a:xfrm>
          <a:prstGeom prst="rect">
            <a:avLst/>
          </a:prstGeom>
          <a:noFill/>
          <a:ln/>
        </p:spPr>
        <p:txBody>
          <a:bodyPr wrap="square" lIns="0" tIns="0" rIns="0" bIns="0" rtlCol="0" anchor="ctr"/>
          <a:lstStyle/>
          <a:p>
            <a:pPr marL="0" indent="0" algn="ctr">
              <a:buNone/>
              <a:defRPr/>
            </a:pPr>
            <a:r>
              <a:rPr lang="en-US" sz="2200" b="1">
                <a:solidFill>
                  <a:srgbClr val="1E293B"/>
                </a:solidFill>
                <a:latin typeface="Calibri"/>
                <a:ea typeface="Calibri"/>
                <a:cs typeface="Calibri"/>
              </a:rPr>
              <a:t>PREDICT</a:t>
            </a:r>
            <a:endParaRPr lang="en-US" sz="2200"/>
          </a:p>
        </p:txBody>
      </p:sp>
      <p:sp>
        <p:nvSpPr>
          <p:cNvPr id="2125326753" name="Shape 23"/>
          <p:cNvSpPr/>
          <p:nvPr/>
        </p:nvSpPr>
        <p:spPr bwMode="auto">
          <a:xfrm>
            <a:off x="6492240" y="1965960"/>
            <a:ext cx="1920240" cy="22860"/>
          </a:xfrm>
          <a:prstGeom prst="rect">
            <a:avLst/>
          </a:prstGeom>
          <a:solidFill>
            <a:srgbClr val="FFFFFF">
              <a:alpha val="40000"/>
            </a:srgbClr>
          </a:solidFill>
          <a:ln w="12700">
            <a:solidFill>
              <a:srgbClr val="FFFFFF">
                <a:alpha val="40000"/>
              </a:srgbClr>
            </a:solidFill>
            <a:prstDash val="solid"/>
          </a:ln>
        </p:spPr>
        <p:txBody>
          <a:bodyPr/>
          <a:p/>
        </p:txBody>
      </p:sp>
      <p:sp>
        <p:nvSpPr>
          <p:cNvPr id="558363150" name="Text 24"/>
          <p:cNvSpPr/>
          <p:nvPr/>
        </p:nvSpPr>
        <p:spPr bwMode="auto">
          <a:xfrm>
            <a:off x="6400800" y="2029968"/>
            <a:ext cx="2103120" cy="274320"/>
          </a:xfrm>
          <a:prstGeom prst="rect">
            <a:avLst/>
          </a:prstGeom>
          <a:noFill/>
          <a:ln/>
        </p:spPr>
        <p:txBody>
          <a:bodyPr wrap="square" lIns="0" tIns="0" rIns="0" bIns="0" rtlCol="0" anchor="ctr"/>
          <a:lstStyle/>
          <a:p>
            <a:pPr marL="0" indent="0" algn="ctr">
              <a:buNone/>
              <a:defRPr/>
            </a:pPr>
            <a:r>
              <a:rPr lang="en-US" sz="950">
                <a:solidFill>
                  <a:srgbClr val="1E293B"/>
                </a:solidFill>
                <a:latin typeface="Calibri"/>
                <a:ea typeface="Calibri"/>
                <a:cs typeface="Calibri"/>
              </a:rPr>
              <a:t>Concept scores become</a:t>
            </a:r>
            <a:endParaRPr lang="en-US" sz="950"/>
          </a:p>
        </p:txBody>
      </p:sp>
      <p:sp>
        <p:nvSpPr>
          <p:cNvPr id="1532428861" name="Text 25"/>
          <p:cNvSpPr/>
          <p:nvPr/>
        </p:nvSpPr>
        <p:spPr bwMode="auto">
          <a:xfrm>
            <a:off x="6400800" y="2322576"/>
            <a:ext cx="2103120" cy="274320"/>
          </a:xfrm>
          <a:prstGeom prst="rect">
            <a:avLst/>
          </a:prstGeom>
          <a:noFill/>
          <a:ln/>
        </p:spPr>
        <p:txBody>
          <a:bodyPr wrap="square" lIns="0" tIns="0" rIns="0" bIns="0" rtlCol="0" anchor="ctr"/>
          <a:lstStyle/>
          <a:p>
            <a:pPr marL="0" indent="0" algn="ctr">
              <a:buNone/>
              <a:defRPr/>
            </a:pPr>
            <a:r>
              <a:rPr lang="en-US" sz="950">
                <a:solidFill>
                  <a:srgbClr val="1E293B"/>
                </a:solidFill>
                <a:latin typeface="Calibri"/>
                <a:ea typeface="Calibri"/>
                <a:cs typeface="Calibri"/>
              </a:rPr>
              <a:t>interpretable features · Classifier</a:t>
            </a:r>
            <a:endParaRPr lang="en-US" sz="950"/>
          </a:p>
        </p:txBody>
      </p:sp>
      <p:sp>
        <p:nvSpPr>
          <p:cNvPr id="900956835" name="Text 26"/>
          <p:cNvSpPr/>
          <p:nvPr/>
        </p:nvSpPr>
        <p:spPr bwMode="auto">
          <a:xfrm>
            <a:off x="6400800" y="2615184"/>
            <a:ext cx="2103120" cy="274320"/>
          </a:xfrm>
          <a:prstGeom prst="rect">
            <a:avLst/>
          </a:prstGeom>
          <a:noFill/>
          <a:ln/>
        </p:spPr>
        <p:txBody>
          <a:bodyPr wrap="square" lIns="0" tIns="0" rIns="0" bIns="0" rtlCol="0" anchor="ctr"/>
          <a:lstStyle/>
          <a:p>
            <a:pPr marL="0" indent="0" algn="ctr">
              <a:buNone/>
              <a:defRPr/>
            </a:pPr>
            <a:r>
              <a:rPr lang="en-US" sz="950">
                <a:solidFill>
                  <a:srgbClr val="1E293B"/>
                </a:solidFill>
                <a:latin typeface="Calibri"/>
                <a:ea typeface="Calibri"/>
                <a:cs typeface="Calibri"/>
              </a:rPr>
              <a:t>gives auditable predictions</a:t>
            </a:r>
            <a:endParaRPr lang="en-US" sz="950"/>
          </a:p>
        </p:txBody>
      </p:sp>
      <p:sp>
        <p:nvSpPr>
          <p:cNvPr id="1596308190" name="Text 27"/>
          <p:cNvSpPr/>
          <p:nvPr/>
        </p:nvSpPr>
        <p:spPr bwMode="auto">
          <a:xfrm>
            <a:off x="594360" y="3182112"/>
            <a:ext cx="2194560" cy="292608"/>
          </a:xfrm>
          <a:prstGeom prst="rect">
            <a:avLst/>
          </a:prstGeom>
          <a:noFill/>
          <a:ln/>
        </p:spPr>
        <p:txBody>
          <a:bodyPr wrap="square" lIns="0" tIns="0" rIns="0" bIns="0" rtlCol="0" anchor="ctr"/>
          <a:lstStyle/>
          <a:p>
            <a:pPr marL="0" indent="0" algn="ctr">
              <a:buNone/>
              <a:defRPr/>
            </a:pPr>
            <a:r>
              <a:rPr lang="en-US" sz="1000" i="1">
                <a:solidFill>
                  <a:srgbClr val="475569"/>
                </a:solidFill>
                <a:latin typeface="Calibri"/>
                <a:ea typeface="Calibri"/>
                <a:cs typeface="Calibri"/>
              </a:rPr>
              <a:t>No supervision at any stage</a:t>
            </a:r>
            <a:endParaRPr lang="en-US" sz="1000"/>
          </a:p>
        </p:txBody>
      </p:sp>
      <p:sp>
        <p:nvSpPr>
          <p:cNvPr id="536644725" name="Text 28"/>
          <p:cNvSpPr/>
          <p:nvPr/>
        </p:nvSpPr>
        <p:spPr bwMode="auto">
          <a:xfrm>
            <a:off x="3474720" y="3182112"/>
            <a:ext cx="2194560" cy="292608"/>
          </a:xfrm>
          <a:prstGeom prst="rect">
            <a:avLst/>
          </a:prstGeom>
          <a:noFill/>
          <a:ln/>
        </p:spPr>
        <p:txBody>
          <a:bodyPr wrap="square" lIns="0" tIns="0" rIns="0" bIns="0" rtlCol="0" anchor="ctr"/>
          <a:lstStyle/>
          <a:p>
            <a:pPr marL="0" indent="0" algn="ctr">
              <a:buNone/>
              <a:defRPr/>
            </a:pPr>
            <a:r>
              <a:rPr lang="en-US" sz="1000" i="1">
                <a:solidFill>
                  <a:srgbClr val="475569"/>
                </a:solidFill>
                <a:latin typeface="Calibri"/>
                <a:ea typeface="Calibri"/>
                <a:cs typeface="Calibri"/>
              </a:rPr>
              <a:t>Zero annotation at training time</a:t>
            </a:r>
            <a:endParaRPr lang="en-US" sz="1000"/>
          </a:p>
        </p:txBody>
      </p:sp>
      <p:sp>
        <p:nvSpPr>
          <p:cNvPr id="620276360" name="Text 29"/>
          <p:cNvSpPr/>
          <p:nvPr/>
        </p:nvSpPr>
        <p:spPr bwMode="auto">
          <a:xfrm>
            <a:off x="6355080" y="3182112"/>
            <a:ext cx="2194560" cy="292608"/>
          </a:xfrm>
          <a:prstGeom prst="rect">
            <a:avLst/>
          </a:prstGeom>
          <a:noFill/>
          <a:ln/>
        </p:spPr>
        <p:txBody>
          <a:bodyPr wrap="square" lIns="0" tIns="0" rIns="0" bIns="0" rtlCol="0" anchor="ctr"/>
          <a:lstStyle/>
          <a:p>
            <a:pPr marL="0" indent="0" algn="ctr">
              <a:buNone/>
              <a:defRPr/>
            </a:pPr>
            <a:r>
              <a:rPr lang="en-US" sz="1000" i="1">
                <a:solidFill>
                  <a:srgbClr val="475569"/>
                </a:solidFill>
                <a:latin typeface="Calibri"/>
                <a:ea typeface="Calibri"/>
                <a:cs typeface="Calibri"/>
              </a:rPr>
              <a:t>Named, auditable predictions</a:t>
            </a:r>
            <a:endParaRPr lang="en-US" sz="1000"/>
          </a:p>
        </p:txBody>
      </p:sp>
      <p:sp>
        <p:nvSpPr>
          <p:cNvPr id="679659806" name="Shape 30"/>
          <p:cNvSpPr/>
          <p:nvPr/>
        </p:nvSpPr>
        <p:spPr bwMode="auto">
          <a:xfrm>
            <a:off x="228600" y="3730752"/>
            <a:ext cx="8686800" cy="1078992"/>
          </a:xfrm>
          <a:prstGeom prst="rect">
            <a:avLst/>
          </a:prstGeom>
          <a:solidFill>
            <a:srgbClr val="1A1F3A"/>
          </a:solidFill>
          <a:ln w="12700">
            <a:solidFill>
              <a:srgbClr val="1A1F3A"/>
            </a:solidFill>
            <a:prstDash val="solid"/>
          </a:ln>
          <a:effectLst>
            <a:outerShdw blurRad="76200" dist="25400" dir="8100000" sx="100000" sy="100000" kx="0" ky="0" algn="bl" rotWithShape="0">
              <a:srgbClr val="000000">
                <a:alpha val="10000"/>
              </a:srgbClr>
            </a:outerShdw>
          </a:effectLst>
        </p:spPr>
        <p:txBody>
          <a:bodyPr/>
          <a:p/>
        </p:txBody>
      </p:sp>
      <p:sp>
        <p:nvSpPr>
          <p:cNvPr id="2063016613" name="Text 31"/>
          <p:cNvSpPr/>
          <p:nvPr/>
        </p:nvSpPr>
        <p:spPr bwMode="auto">
          <a:xfrm>
            <a:off x="457200" y="3813048"/>
            <a:ext cx="1645920" cy="347472"/>
          </a:xfrm>
          <a:prstGeom prst="rect">
            <a:avLst/>
          </a:prstGeom>
          <a:noFill/>
          <a:ln/>
        </p:spPr>
        <p:txBody>
          <a:bodyPr wrap="square" lIns="0" tIns="0" rIns="0" bIns="0" rtlCol="0" anchor="ctr"/>
          <a:lstStyle/>
          <a:p>
            <a:pPr marL="0" indent="0">
              <a:buNone/>
              <a:defRPr/>
            </a:pPr>
            <a:r>
              <a:rPr lang="en-US" sz="1200" b="1">
                <a:solidFill>
                  <a:srgbClr val="F59E0B"/>
                </a:solidFill>
                <a:latin typeface="Calibri"/>
                <a:ea typeface="Calibri"/>
                <a:cs typeface="Calibri"/>
              </a:rPr>
              <a:t>Domain A — Visual:</a:t>
            </a:r>
            <a:endParaRPr lang="en-US" sz="1200"/>
          </a:p>
        </p:txBody>
      </p:sp>
      <p:sp>
        <p:nvSpPr>
          <p:cNvPr id="2116120535" name="Text 32"/>
          <p:cNvSpPr/>
          <p:nvPr/>
        </p:nvSpPr>
        <p:spPr bwMode="auto">
          <a:xfrm>
            <a:off x="2057400" y="3813048"/>
            <a:ext cx="6583680" cy="347472"/>
          </a:xfrm>
          <a:prstGeom prst="rect">
            <a:avLst/>
          </a:prstGeom>
          <a:noFill/>
          <a:ln/>
        </p:spPr>
        <p:txBody>
          <a:bodyPr wrap="square" lIns="0" tIns="0" rIns="0" bIns="0" rtlCol="0" anchor="ctr"/>
          <a:lstStyle/>
          <a:p>
            <a:r>
              <a:t>DINO ViT-S/8  ·  Oxford-IIIT Pet &amp; STL-10  ·  12,000 images (4000×3)  ·  3 classes</a:t>
            </a:r>
          </a:p>
        </p:txBody>
      </p:sp>
      <p:sp>
        <p:nvSpPr>
          <p:cNvPr id="2066425623" name="Text 33"/>
          <p:cNvSpPr/>
          <p:nvPr/>
        </p:nvSpPr>
        <p:spPr bwMode="auto">
          <a:xfrm>
            <a:off x="457200" y="4224528"/>
            <a:ext cx="1645920" cy="347472"/>
          </a:xfrm>
          <a:prstGeom prst="rect">
            <a:avLst/>
          </a:prstGeom>
          <a:noFill/>
          <a:ln/>
        </p:spPr>
        <p:txBody>
          <a:bodyPr wrap="square" lIns="0" tIns="0" rIns="0" bIns="0" rtlCol="0" anchor="ctr"/>
          <a:lstStyle/>
          <a:p>
            <a:pPr marL="0" indent="0">
              <a:buNone/>
              <a:defRPr/>
            </a:pPr>
            <a:r>
              <a:rPr lang="en-US" sz="1200" b="1">
                <a:solidFill>
                  <a:srgbClr val="F59E0B"/>
                </a:solidFill>
                <a:latin typeface="Calibri"/>
                <a:ea typeface="Calibri"/>
                <a:cs typeface="Calibri"/>
              </a:rPr>
              <a:t>Domain B — Lab:</a:t>
            </a:r>
            <a:endParaRPr lang="en-US" sz="1200"/>
          </a:p>
        </p:txBody>
      </p:sp>
      <p:sp>
        <p:nvSpPr>
          <p:cNvPr id="1437380885" name="Text 34"/>
          <p:cNvSpPr/>
          <p:nvPr/>
        </p:nvSpPr>
        <p:spPr bwMode="auto">
          <a:xfrm>
            <a:off x="2057400" y="4224528"/>
            <a:ext cx="6583680" cy="347472"/>
          </a:xfrm>
          <a:prstGeom prst="rect">
            <a:avLst/>
          </a:prstGeom>
          <a:noFill/>
          <a:ln/>
        </p:spPr>
        <p:txBody>
          <a:bodyPr wrap="square" lIns="0" tIns="0" rIns="0" bIns="0" rtlCol="0" anchor="ctr"/>
          <a:lstStyle/>
          <a:p>
            <a:pPr marL="0" indent="0">
              <a:buNone/>
              <a:defRPr/>
            </a:pPr>
            <a:r>
              <a:rPr lang="en-US" sz="1200">
                <a:solidFill>
                  <a:srgbClr val="99F6E4"/>
                </a:solidFill>
                <a:latin typeface="Calibri"/>
                <a:ea typeface="Calibri"/>
                <a:cs typeface="Calibri"/>
              </a:rPr>
              <a:t>PSFTT + Panel PE  ·  NHANES 2013–2018  ·  18,673 records  ·  34 lab tests  ·  3 panels (CBC / BMP / Lipid)</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4F8FF"/>
        </a:solidFill>
      </p:bgPr>
    </p:bg>
    <p:spTree>
      <p:nvGrpSpPr>
        <p:cNvPr id="1" name=""/>
        <p:cNvGrpSpPr/>
        <p:nvPr/>
      </p:nvGrpSpPr>
      <p:grpSpPr bwMode="auto">
        <a:xfrm>
          <a:off x="0" y="0"/>
          <a:ext cx="0" cy="0"/>
          <a:chOff x="0" y="0"/>
          <a:chExt cx="0" cy="0"/>
        </a:xfrm>
      </p:grpSpPr>
      <p:sp>
        <p:nvSpPr>
          <p:cNvPr id="870404049" name="Shape 0"/>
          <p:cNvSpPr/>
          <p:nvPr/>
        </p:nvSpPr>
        <p:spPr bwMode="auto">
          <a:xfrm>
            <a:off x="0" y="0"/>
            <a:ext cx="118872" cy="5143500"/>
          </a:xfrm>
          <a:prstGeom prst="rect">
            <a:avLst/>
          </a:prstGeom>
          <a:solidFill>
            <a:srgbClr val="0D9488"/>
          </a:solidFill>
          <a:ln w="12700">
            <a:solidFill>
              <a:srgbClr val="0D9488"/>
            </a:solidFill>
            <a:prstDash val="solid"/>
          </a:ln>
        </p:spPr>
        <p:txBody>
          <a:bodyPr/>
          <a:p/>
        </p:txBody>
      </p:sp>
      <p:sp>
        <p:nvSpPr>
          <p:cNvPr id="63406350"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Domain A: Visual Pipeline — Primary Contribution</a:t>
            </a:r>
            <a:endParaRPr lang="en-US" sz="2500"/>
          </a:p>
        </p:txBody>
      </p:sp>
      <p:sp>
        <p:nvSpPr>
          <p:cNvPr id="719717064" name="Text 2"/>
          <p:cNvSpPr/>
          <p:nvPr/>
        </p:nvSpPr>
        <p:spPr bwMode="auto">
          <a:xfrm>
            <a:off x="228600" y="667512"/>
            <a:ext cx="8686800" cy="246888"/>
          </a:xfrm>
          <a:prstGeom prst="rect">
            <a:avLst/>
          </a:prstGeom>
          <a:noFill/>
          <a:ln/>
        </p:spPr>
        <p:txBody>
          <a:bodyPr wrap="square" lIns="0" tIns="0" rIns="0" bIns="0" rtlCol="0" anchor="ctr"/>
          <a:lstStyle/>
          <a:p>
            <a:r>
              <a:t>Architecture designed, implemented, and ablated here · 12,000 images · Oxford-IIIT Pet &amp; STL-10</a:t>
            </a:r>
          </a:p>
        </p:txBody>
      </p:sp>
      <p:sp>
        <p:nvSpPr>
          <p:cNvPr id="1190692895" name="Shape 3"/>
          <p:cNvSpPr/>
          <p:nvPr/>
        </p:nvSpPr>
        <p:spPr bwMode="auto">
          <a:xfrm>
            <a:off x="228600" y="896112"/>
            <a:ext cx="8686800" cy="22860"/>
          </a:xfrm>
          <a:prstGeom prst="rect">
            <a:avLst/>
          </a:prstGeom>
          <a:solidFill>
            <a:srgbClr val="0D9488"/>
          </a:solidFill>
          <a:ln w="12700">
            <a:solidFill>
              <a:srgbClr val="0D9488"/>
            </a:solidFill>
            <a:prstDash val="solid"/>
          </a:ln>
        </p:spPr>
        <p:txBody>
          <a:bodyPr/>
          <a:p/>
        </p:txBody>
      </p:sp>
      <p:sp>
        <p:nvSpPr>
          <p:cNvPr id="1390911481" name="Shape 4"/>
          <p:cNvSpPr/>
          <p:nvPr/>
        </p:nvSpPr>
        <p:spPr bwMode="auto">
          <a:xfrm>
            <a:off x="448056" y="1078992"/>
            <a:ext cx="1444752" cy="914400"/>
          </a:xfrm>
          <a:prstGeom prst="rect">
            <a:avLst/>
          </a:prstGeom>
          <a:solidFill>
            <a:srgbClr val="2D3A6A"/>
          </a:solidFill>
          <a:ln w="12700">
            <a:solidFill>
              <a:srgbClr val="2D3A6A"/>
            </a:solidFill>
            <a:prstDash val="solid"/>
          </a:ln>
          <a:effectLst>
            <a:outerShdw blurRad="76200" dist="25400" dir="8100000" sx="100000" sy="100000" kx="0" ky="0" algn="bl" rotWithShape="0">
              <a:srgbClr val="000000">
                <a:alpha val="10000"/>
              </a:srgbClr>
            </a:outerShdw>
          </a:effectLst>
        </p:spPr>
        <p:txBody>
          <a:bodyPr/>
          <a:p/>
        </p:txBody>
      </p:sp>
      <p:sp>
        <p:nvSpPr>
          <p:cNvPr id="210517922" name="Text 5"/>
          <p:cNvSpPr/>
          <p:nvPr/>
        </p:nvSpPr>
        <p:spPr bwMode="auto">
          <a:xfrm>
            <a:off x="484632"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Image</a:t>
            </a:r>
            <a:endParaRPr lang="en-US" sz="1050"/>
          </a:p>
          <a:p>
            <a:pPr marL="0" indent="0" algn="ctr">
              <a:buNone/>
              <a:defRPr/>
            </a:pPr>
            <a:r>
              <a:rPr lang="en-US" sz="1050" b="1">
                <a:solidFill>
                  <a:srgbClr val="FFFFFF"/>
                </a:solidFill>
                <a:latin typeface="Calibri"/>
                <a:ea typeface="Calibri"/>
                <a:cs typeface="Calibri"/>
              </a:rPr>
              <a:t>Input</a:t>
            </a:r>
            <a:endParaRPr lang="en-US" sz="1050"/>
          </a:p>
        </p:txBody>
      </p:sp>
      <p:sp>
        <p:nvSpPr>
          <p:cNvPr id="402366717" name="Text 6"/>
          <p:cNvSpPr/>
          <p:nvPr/>
        </p:nvSpPr>
        <p:spPr bwMode="auto">
          <a:xfrm>
            <a:off x="484632" y="1527048"/>
            <a:ext cx="1371600" cy="411480"/>
          </a:xfrm>
          <a:prstGeom prst="rect">
            <a:avLst/>
          </a:prstGeom>
          <a:noFill/>
          <a:ln/>
        </p:spPr>
        <p:txBody>
          <a:bodyPr wrap="square" lIns="0" tIns="0" rIns="0" bIns="0" rtlCol="0" anchor="t"/>
          <a:lstStyle/>
          <a:p>
            <a:r>
              <a:t>12k images</a:t>
            </a:r>
          </a:p>
          <a:p>
            <a:r>
              <a:t>3 classes</a:t>
            </a:r>
          </a:p>
        </p:txBody>
      </p:sp>
      <p:sp>
        <p:nvSpPr>
          <p:cNvPr id="894660690" name="Shape 7"/>
          <p:cNvSpPr/>
          <p:nvPr/>
        </p:nvSpPr>
        <p:spPr bwMode="auto">
          <a:xfrm>
            <a:off x="1892808" y="1536192"/>
            <a:ext cx="256032" cy="0"/>
          </a:xfrm>
          <a:prstGeom prst="line">
            <a:avLst/>
          </a:prstGeom>
          <a:noFill/>
          <a:ln w="25400">
            <a:solidFill>
              <a:srgbClr val="94A3B8"/>
            </a:solidFill>
            <a:prstDash val="solid"/>
            <a:tailEnd type="arrow"/>
          </a:ln>
        </p:spPr>
        <p:txBody>
          <a:bodyPr/>
          <a:p/>
        </p:txBody>
      </p:sp>
      <p:sp>
        <p:nvSpPr>
          <p:cNvPr id="805099106" name="Shape 8"/>
          <p:cNvSpPr/>
          <p:nvPr/>
        </p:nvSpPr>
        <p:spPr bwMode="auto">
          <a:xfrm>
            <a:off x="2148840" y="1078992"/>
            <a:ext cx="1444752" cy="914400"/>
          </a:xfrm>
          <a:prstGeom prst="rect">
            <a:avLst/>
          </a:prstGeom>
          <a:solidFill>
            <a:srgbClr val="1A1F3A"/>
          </a:solidFill>
          <a:ln w="12700">
            <a:solidFill>
              <a:srgbClr val="1A1F3A"/>
            </a:solidFill>
            <a:prstDash val="solid"/>
          </a:ln>
          <a:effectLst>
            <a:outerShdw blurRad="76200" dist="25400" dir="8100000" sx="100000" sy="100000" kx="0" ky="0" algn="bl" rotWithShape="0">
              <a:srgbClr val="000000">
                <a:alpha val="10000"/>
              </a:srgbClr>
            </a:outerShdw>
          </a:effectLst>
        </p:spPr>
        <p:txBody>
          <a:bodyPr/>
          <a:p/>
        </p:txBody>
      </p:sp>
      <p:sp>
        <p:nvSpPr>
          <p:cNvPr id="1536797992" name="Text 9"/>
          <p:cNvSpPr/>
          <p:nvPr/>
        </p:nvSpPr>
        <p:spPr bwMode="auto">
          <a:xfrm>
            <a:off x="2185416"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DINO</a:t>
            </a:r>
            <a:endParaRPr lang="en-US" sz="1050"/>
          </a:p>
          <a:p>
            <a:pPr marL="0" indent="0" algn="ctr">
              <a:buNone/>
              <a:defRPr/>
            </a:pPr>
            <a:r>
              <a:rPr lang="en-US" sz="1050" b="1">
                <a:solidFill>
                  <a:srgbClr val="FFFFFF"/>
                </a:solidFill>
                <a:latin typeface="Calibri"/>
                <a:ea typeface="Calibri"/>
                <a:cs typeface="Calibri"/>
              </a:rPr>
              <a:t>ViT-S/8</a:t>
            </a:r>
            <a:endParaRPr lang="en-US" sz="1050"/>
          </a:p>
        </p:txBody>
      </p:sp>
      <p:sp>
        <p:nvSpPr>
          <p:cNvPr id="1842877126" name="Text 10"/>
          <p:cNvSpPr/>
          <p:nvPr/>
        </p:nvSpPr>
        <p:spPr bwMode="auto">
          <a:xfrm>
            <a:off x="2185416"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Patch features</a:t>
            </a:r>
            <a:endParaRPr lang="en-US" sz="850"/>
          </a:p>
          <a:p>
            <a:pPr marL="0" indent="0" algn="ctr">
              <a:buNone/>
              <a:defRPr/>
            </a:pPr>
            <a:r>
              <a:rPr lang="en-US" sz="850">
                <a:solidFill>
                  <a:srgbClr val="CCFBF1"/>
                </a:solidFill>
                <a:latin typeface="Calibri"/>
                <a:ea typeface="Calibri"/>
                <a:cs typeface="Calibri"/>
              </a:rPr>
              <a:t>L8+L10+L12</a:t>
            </a:r>
            <a:endParaRPr lang="en-US" sz="850"/>
          </a:p>
        </p:txBody>
      </p:sp>
      <p:sp>
        <p:nvSpPr>
          <p:cNvPr id="816699914" name="Shape 11"/>
          <p:cNvSpPr/>
          <p:nvPr/>
        </p:nvSpPr>
        <p:spPr bwMode="auto">
          <a:xfrm>
            <a:off x="3593592" y="1536192"/>
            <a:ext cx="256032" cy="0"/>
          </a:xfrm>
          <a:prstGeom prst="line">
            <a:avLst/>
          </a:prstGeom>
          <a:noFill/>
          <a:ln w="25400">
            <a:solidFill>
              <a:srgbClr val="94A3B8"/>
            </a:solidFill>
            <a:prstDash val="solid"/>
            <a:tailEnd type="arrow"/>
          </a:ln>
        </p:spPr>
        <p:txBody>
          <a:bodyPr/>
          <a:p/>
        </p:txBody>
      </p:sp>
      <p:sp>
        <p:nvSpPr>
          <p:cNvPr id="2094676075" name="Shape 12"/>
          <p:cNvSpPr/>
          <p:nvPr/>
        </p:nvSpPr>
        <p:spPr bwMode="auto">
          <a:xfrm>
            <a:off x="3849624" y="1078992"/>
            <a:ext cx="1444752" cy="914400"/>
          </a:xfrm>
          <a:prstGeom prst="rect">
            <a:avLst/>
          </a:prstGeom>
          <a:solidFill>
            <a:srgbClr val="0D9488"/>
          </a:solidFill>
          <a:ln w="12700">
            <a:solidFill>
              <a:srgbClr val="0D9488"/>
            </a:solidFill>
            <a:prstDash val="solid"/>
          </a:ln>
          <a:effectLst>
            <a:outerShdw blurRad="76200" dist="25400" dir="8100000" sx="100000" sy="100000" kx="0" ky="0" algn="bl" rotWithShape="0">
              <a:srgbClr val="000000">
                <a:alpha val="10000"/>
              </a:srgbClr>
            </a:outerShdw>
          </a:effectLst>
        </p:spPr>
        <p:txBody>
          <a:bodyPr/>
          <a:p/>
        </p:txBody>
      </p:sp>
      <p:sp>
        <p:nvSpPr>
          <p:cNvPr id="1420550283" name="Text 13"/>
          <p:cNvSpPr/>
          <p:nvPr/>
        </p:nvSpPr>
        <p:spPr bwMode="auto">
          <a:xfrm>
            <a:off x="3886200"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PCA</a:t>
            </a:r>
            <a:endParaRPr lang="en-US" sz="1050"/>
          </a:p>
          <a:p>
            <a:pPr marL="0" indent="0" algn="ctr">
              <a:buNone/>
              <a:defRPr/>
            </a:pPr>
            <a:r>
              <a:rPr lang="en-US" sz="1050" b="1">
                <a:solidFill>
                  <a:srgbClr val="FFFFFF"/>
                </a:solidFill>
                <a:latin typeface="Calibri"/>
                <a:ea typeface="Calibri"/>
                <a:cs typeface="Calibri"/>
              </a:rPr>
              <a:t>+ GMM</a:t>
            </a:r>
            <a:endParaRPr lang="en-US" sz="1050"/>
          </a:p>
        </p:txBody>
      </p:sp>
      <p:sp>
        <p:nvSpPr>
          <p:cNvPr id="1052623289" name="Text 14"/>
          <p:cNvSpPr/>
          <p:nvPr/>
        </p:nvSpPr>
        <p:spPr bwMode="auto">
          <a:xfrm>
            <a:off x="3886200"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1152→128 dim</a:t>
            </a:r>
            <a:endParaRPr lang="en-US" sz="850"/>
          </a:p>
          <a:p>
            <a:pPr marL="0" indent="0" algn="ctr">
              <a:buNone/>
              <a:defRPr/>
            </a:pPr>
            <a:r>
              <a:rPr lang="en-US" sz="850">
                <a:solidFill>
                  <a:srgbClr val="CCFBF1"/>
                </a:solidFill>
                <a:latin typeface="Calibri"/>
                <a:ea typeface="Calibri"/>
                <a:cs typeface="Calibri"/>
              </a:rPr>
              <a:t>30 clusters</a:t>
            </a:r>
            <a:endParaRPr lang="en-US" sz="850"/>
          </a:p>
        </p:txBody>
      </p:sp>
      <p:sp>
        <p:nvSpPr>
          <p:cNvPr id="1749257100" name="Shape 15"/>
          <p:cNvSpPr/>
          <p:nvPr/>
        </p:nvSpPr>
        <p:spPr bwMode="auto">
          <a:xfrm>
            <a:off x="5294376" y="1536192"/>
            <a:ext cx="256032" cy="0"/>
          </a:xfrm>
          <a:prstGeom prst="line">
            <a:avLst/>
          </a:prstGeom>
          <a:noFill/>
          <a:ln w="25400">
            <a:solidFill>
              <a:srgbClr val="94A3B8"/>
            </a:solidFill>
            <a:prstDash val="solid"/>
            <a:tailEnd type="arrow"/>
          </a:ln>
        </p:spPr>
        <p:txBody>
          <a:bodyPr/>
          <a:p/>
        </p:txBody>
      </p:sp>
      <p:sp>
        <p:nvSpPr>
          <p:cNvPr id="677536149" name="Shape 16"/>
          <p:cNvSpPr/>
          <p:nvPr/>
        </p:nvSpPr>
        <p:spPr bwMode="auto">
          <a:xfrm>
            <a:off x="5550408" y="1078992"/>
            <a:ext cx="1444752" cy="914400"/>
          </a:xfrm>
          <a:prstGeom prst="rect">
            <a:avLst/>
          </a:prstGeom>
          <a:solidFill>
            <a:srgbClr val="F59E0B"/>
          </a:solidFill>
          <a:ln w="12700">
            <a:solidFill>
              <a:srgbClr val="F59E0B"/>
            </a:solidFill>
            <a:prstDash val="solid"/>
          </a:ln>
          <a:effectLst>
            <a:outerShdw blurRad="76200" dist="25400" dir="8100000" sx="100000" sy="100000" kx="0" ky="0" algn="bl" rotWithShape="0">
              <a:srgbClr val="000000">
                <a:alpha val="10000"/>
              </a:srgbClr>
            </a:outerShdw>
          </a:effectLst>
        </p:spPr>
        <p:txBody>
          <a:bodyPr/>
          <a:p/>
        </p:txBody>
      </p:sp>
      <p:sp>
        <p:nvSpPr>
          <p:cNvPr id="667209786" name="Text 17"/>
          <p:cNvSpPr/>
          <p:nvPr/>
        </p:nvSpPr>
        <p:spPr bwMode="auto">
          <a:xfrm>
            <a:off x="5586984"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Human</a:t>
            </a:r>
            <a:endParaRPr lang="en-US" sz="1050"/>
          </a:p>
          <a:p>
            <a:pPr marL="0" indent="0" algn="ctr">
              <a:buNone/>
              <a:defRPr/>
            </a:pPr>
            <a:r>
              <a:rPr lang="en-US" sz="1050" b="1">
                <a:solidFill>
                  <a:srgbClr val="FFFFFF"/>
                </a:solidFill>
                <a:latin typeface="Calibri"/>
                <a:ea typeface="Calibri"/>
                <a:cs typeface="Calibri"/>
              </a:rPr>
              <a:t>SME</a:t>
            </a:r>
            <a:endParaRPr lang="en-US" sz="1050"/>
          </a:p>
        </p:txBody>
      </p:sp>
      <p:sp>
        <p:nvSpPr>
          <p:cNvPr id="815241020" name="Text 18"/>
          <p:cNvSpPr/>
          <p:nvPr/>
        </p:nvSpPr>
        <p:spPr bwMode="auto">
          <a:xfrm>
            <a:off x="5586984"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label_tool.py</a:t>
            </a:r>
            <a:endParaRPr lang="en-US" sz="850"/>
          </a:p>
          <a:p>
            <a:pPr marL="0" indent="0" algn="ctr">
              <a:buNone/>
              <a:defRPr/>
            </a:pPr>
            <a:r>
              <a:rPr lang="en-US" sz="850">
                <a:solidFill>
                  <a:srgbClr val="CCFBF1"/>
                </a:solidFill>
                <a:latin typeface="Calibri"/>
                <a:ea typeface="Calibri"/>
                <a:cs typeface="Calibri"/>
              </a:rPr>
              <a:t>post-hoc naming</a:t>
            </a:r>
            <a:endParaRPr lang="en-US" sz="850"/>
          </a:p>
        </p:txBody>
      </p:sp>
      <p:sp>
        <p:nvSpPr>
          <p:cNvPr id="1078837278" name="Shape 19"/>
          <p:cNvSpPr/>
          <p:nvPr/>
        </p:nvSpPr>
        <p:spPr bwMode="auto">
          <a:xfrm>
            <a:off x="6995160" y="1536192"/>
            <a:ext cx="256032" cy="0"/>
          </a:xfrm>
          <a:prstGeom prst="line">
            <a:avLst/>
          </a:prstGeom>
          <a:noFill/>
          <a:ln w="25400">
            <a:solidFill>
              <a:srgbClr val="94A3B8"/>
            </a:solidFill>
            <a:prstDash val="solid"/>
            <a:tailEnd type="arrow"/>
          </a:ln>
        </p:spPr>
        <p:txBody>
          <a:bodyPr/>
          <a:p/>
        </p:txBody>
      </p:sp>
      <p:sp>
        <p:nvSpPr>
          <p:cNvPr id="1957240694" name="Shape 20"/>
          <p:cNvSpPr/>
          <p:nvPr/>
        </p:nvSpPr>
        <p:spPr bwMode="auto">
          <a:xfrm>
            <a:off x="7251192" y="1078992"/>
            <a:ext cx="1444752" cy="914400"/>
          </a:xfrm>
          <a:prstGeom prst="rect">
            <a:avLst/>
          </a:prstGeom>
          <a:solidFill>
            <a:srgbClr val="16A34A"/>
          </a:solidFill>
          <a:ln w="12700">
            <a:solidFill>
              <a:srgbClr val="16A34A"/>
            </a:solidFill>
            <a:prstDash val="solid"/>
          </a:ln>
          <a:effectLst>
            <a:outerShdw blurRad="76200" dist="25400" dir="8100000" sx="100000" sy="100000" kx="0" ky="0" algn="bl" rotWithShape="0">
              <a:srgbClr val="000000">
                <a:alpha val="10000"/>
              </a:srgbClr>
            </a:outerShdw>
          </a:effectLst>
        </p:spPr>
        <p:txBody>
          <a:bodyPr/>
          <a:p/>
        </p:txBody>
      </p:sp>
      <p:sp>
        <p:nvSpPr>
          <p:cNvPr id="934461114" name="Text 21"/>
          <p:cNvSpPr/>
          <p:nvPr/>
        </p:nvSpPr>
        <p:spPr bwMode="auto">
          <a:xfrm>
            <a:off x="7287768" y="1124712"/>
            <a:ext cx="1371600" cy="402336"/>
          </a:xfrm>
          <a:prstGeom prst="rect">
            <a:avLst/>
          </a:prstGeom>
          <a:noFill/>
          <a:ln/>
        </p:spPr>
        <p:txBody>
          <a:bodyPr wrap="square" lIns="0" tIns="0" rIns="0" bIns="0" rtlCol="0" anchor="ctr"/>
          <a:lstStyle/>
          <a:p>
            <a:r>
              <a:t>3-class</a:t>
            </a:r>
          </a:p>
          <a:p>
            <a:r>
              <a:t>LogReg</a:t>
            </a:r>
          </a:p>
        </p:txBody>
      </p:sp>
      <p:sp>
        <p:nvSpPr>
          <p:cNvPr id="1587501464" name="Text 22"/>
          <p:cNvSpPr/>
          <p:nvPr/>
        </p:nvSpPr>
        <p:spPr bwMode="auto">
          <a:xfrm>
            <a:off x="7287768"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Concept scores</a:t>
            </a:r>
            <a:endParaRPr lang="en-US" sz="850"/>
          </a:p>
          <a:p>
            <a:pPr marL="0" indent="0" algn="ctr">
              <a:buNone/>
              <a:defRPr/>
            </a:pPr>
            <a:r>
              <a:rPr lang="en-US" sz="850">
                <a:solidFill>
                  <a:srgbClr val="CCFBF1"/>
                </a:solidFill>
                <a:latin typeface="Calibri"/>
                <a:ea typeface="Calibri"/>
                <a:cs typeface="Calibri"/>
              </a:rPr>
              <a:t>→ classification</a:t>
            </a:r>
            <a:endParaRPr lang="en-US" sz="850"/>
          </a:p>
        </p:txBody>
      </p:sp>
      <p:sp>
        <p:nvSpPr>
          <p:cNvPr id="197694058" name="Shape 23"/>
          <p:cNvSpPr/>
          <p:nvPr/>
        </p:nvSpPr>
        <p:spPr bwMode="auto">
          <a:xfrm>
            <a:off x="228600" y="2212848"/>
            <a:ext cx="4206240" cy="2606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txBody>
          <a:bodyPr/>
          <a:p/>
        </p:txBody>
      </p:sp>
      <p:sp>
        <p:nvSpPr>
          <p:cNvPr id="1276597565" name="Shape 24"/>
          <p:cNvSpPr/>
          <p:nvPr/>
        </p:nvSpPr>
        <p:spPr bwMode="auto">
          <a:xfrm>
            <a:off x="228600" y="2212848"/>
            <a:ext cx="64008" cy="2606040"/>
          </a:xfrm>
          <a:prstGeom prst="rect">
            <a:avLst/>
          </a:prstGeom>
          <a:solidFill>
            <a:srgbClr val="0D9488"/>
          </a:solidFill>
          <a:ln w="12700">
            <a:solidFill>
              <a:srgbClr val="0D9488"/>
            </a:solidFill>
            <a:prstDash val="solid"/>
          </a:ln>
        </p:spPr>
        <p:txBody>
          <a:bodyPr/>
          <a:p/>
        </p:txBody>
      </p:sp>
      <p:sp>
        <p:nvSpPr>
          <p:cNvPr id="1055041539" name="Text 25"/>
          <p:cNvSpPr/>
          <p:nvPr/>
        </p:nvSpPr>
        <p:spPr bwMode="auto">
          <a:xfrm>
            <a:off x="411480" y="2304288"/>
            <a:ext cx="3749040" cy="347472"/>
          </a:xfrm>
          <a:prstGeom prst="rect">
            <a:avLst/>
          </a:prstGeom>
          <a:noFill/>
          <a:ln/>
        </p:spPr>
        <p:txBody>
          <a:bodyPr wrap="square" lIns="0" tIns="0" rIns="0" bIns="0" rtlCol="0" anchor="ctr"/>
          <a:lstStyle/>
          <a:p>
            <a:pPr marL="0" indent="0">
              <a:buNone/>
              <a:defRPr/>
            </a:pPr>
            <a:r>
              <a:rPr lang="en-US" sz="1250" b="1">
                <a:solidFill>
                  <a:srgbClr val="1E293B"/>
                </a:solidFill>
                <a:latin typeface="Calibri"/>
                <a:ea typeface="Calibri"/>
                <a:cs typeface="Calibri"/>
              </a:rPr>
              <a:t>How Visual Concepts Are Named</a:t>
            </a:r>
            <a:endParaRPr lang="en-US" sz="1250"/>
          </a:p>
        </p:txBody>
      </p:sp>
      <p:sp>
        <p:nvSpPr>
          <p:cNvPr id="2133672515" name="Text 26"/>
          <p:cNvSpPr/>
          <p:nvPr/>
        </p:nvSpPr>
        <p:spPr bwMode="auto">
          <a:xfrm>
            <a:off x="411480" y="2679192"/>
            <a:ext cx="3749040" cy="2029968"/>
          </a:xfrm>
          <a:prstGeom prst="rect">
            <a:avLst/>
          </a:prstGeom>
          <a:noFill/>
          <a:ln/>
        </p:spPr>
        <p:txBody>
          <a:bodyPr wrap="square" lIns="0" tIns="0" rIns="0" bIns="0" rtlCol="0" anchor="t"/>
          <a:lstStyle/>
          <a:p>
            <a:pPr marL="342900" indent="-342900">
              <a:spcAft>
                <a:spcPts val="600"/>
              </a:spcAft>
              <a:buSzPct val="100000"/>
              <a:buChar char="•"/>
              <a:defRPr/>
            </a:pPr>
            <a:r>
              <a:rPr lang="en-US" sz="1150">
                <a:solidFill>
                  <a:srgbClr val="475569"/>
                </a:solidFill>
                <a:latin typeface="Calibri"/>
                <a:ea typeface="Calibri"/>
                <a:cs typeface="Calibri"/>
              </a:rPr>
              <a:t>GMM finds 30 clusters of visually similar patch-feature vectors</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Human expert opens Streamlit label_tool.py — views thumbnail grid per cluster</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Assigns concept name, e.g. Cluster 7 → 'cat_pointy_ear', Cluster 12 → 'car_wheel_rim'</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Concept score for an image = how strongly its patches activate each cluster</a:t>
            </a:r>
            <a:endParaRPr lang="en-US" sz="1150"/>
          </a:p>
        </p:txBody>
      </p:sp>
      <p:sp>
        <p:nvSpPr>
          <p:cNvPr id="2026176025" name="Shape 27"/>
          <p:cNvSpPr/>
          <p:nvPr/>
        </p:nvSpPr>
        <p:spPr bwMode="auto">
          <a:xfrm>
            <a:off x="4617720" y="2212848"/>
            <a:ext cx="4297680" cy="2606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txBody>
          <a:bodyPr/>
          <a:p/>
        </p:txBody>
      </p:sp>
      <p:sp>
        <p:nvSpPr>
          <p:cNvPr id="543971138" name="Shape 28"/>
          <p:cNvSpPr/>
          <p:nvPr/>
        </p:nvSpPr>
        <p:spPr bwMode="auto">
          <a:xfrm>
            <a:off x="4617720" y="2212848"/>
            <a:ext cx="64008" cy="2606040"/>
          </a:xfrm>
          <a:prstGeom prst="rect">
            <a:avLst/>
          </a:prstGeom>
          <a:solidFill>
            <a:srgbClr val="F59E0B"/>
          </a:solidFill>
          <a:ln w="12700">
            <a:solidFill>
              <a:srgbClr val="F59E0B"/>
            </a:solidFill>
            <a:prstDash val="solid"/>
          </a:ln>
        </p:spPr>
        <p:txBody>
          <a:bodyPr/>
          <a:p/>
        </p:txBody>
      </p:sp>
      <p:sp>
        <p:nvSpPr>
          <p:cNvPr id="425689165" name="Text 29"/>
          <p:cNvSpPr/>
          <p:nvPr/>
        </p:nvSpPr>
        <p:spPr bwMode="auto">
          <a:xfrm>
            <a:off x="4800600" y="2304288"/>
            <a:ext cx="3840480" cy="347472"/>
          </a:xfrm>
          <a:prstGeom prst="rect">
            <a:avLst/>
          </a:prstGeom>
          <a:noFill/>
          <a:ln/>
        </p:spPr>
        <p:txBody>
          <a:bodyPr wrap="square" lIns="0" tIns="0" rIns="0" bIns="0" rtlCol="0" anchor="ctr"/>
          <a:lstStyle/>
          <a:p>
            <a:pPr marL="0" indent="0">
              <a:buNone/>
              <a:defRPr/>
            </a:pPr>
            <a:r>
              <a:rPr lang="en-US" sz="1250" b="1">
                <a:solidFill>
                  <a:srgbClr val="1E293B"/>
                </a:solidFill>
                <a:latin typeface="Calibri"/>
                <a:ea typeface="Calibri"/>
                <a:cs typeface="Calibri"/>
              </a:rPr>
              <a:t>Key Design Innovation (Gap 2)</a:t>
            </a:r>
            <a:endParaRPr lang="en-US" sz="1250"/>
          </a:p>
        </p:txBody>
      </p:sp>
      <p:sp>
        <p:nvSpPr>
          <p:cNvPr id="693502835" name="Text 30"/>
          <p:cNvSpPr/>
          <p:nvPr/>
        </p:nvSpPr>
        <p:spPr bwMode="auto">
          <a:xfrm>
            <a:off x="4800600" y="2679192"/>
            <a:ext cx="3840480" cy="2029968"/>
          </a:xfrm>
          <a:prstGeom prst="rect">
            <a:avLst/>
          </a:prstGeom>
          <a:noFill/>
          <a:ln/>
        </p:spPr>
        <p:txBody>
          <a:bodyPr wrap="square" lIns="0" tIns="0" rIns="0" bIns="0" rtlCol="0" anchor="t"/>
          <a:lstStyle/>
          <a:p>
            <a:r>
              <a:t>Multi-layer concat: L8 (texture) + L10 (part-shape) + L12 (semantics) = 1152-dim</a:t>
            </a:r>
          </a:p>
          <a:p>
            <a:r>
              <a:t>Single-layer baseline loses 30%+ cluster purity — ablation B confirms this</a:t>
            </a:r>
          </a:p>
          <a:p>
            <a:r>
              <a:t>Attention-guided FG masking removes background noise before GMM (ablation C)</a:t>
            </a:r>
          </a:p>
          <a:p>
            <a:r>
              <a:t>Semantic fine-tuning (ablation D) further sharpens part-level cluster separation</a:t>
            </a:r>
          </a:p>
          <a:p/>
          <a:p>
            <a:r>
              <a:t>(FG mask θ=0.75 from grid search on Oxford-IIIT Pet — thesis §4.2.3.)</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4F8FF"/>
        </a:solidFill>
      </p:bgPr>
    </p:bg>
    <p:spTree>
      <p:nvGrpSpPr>
        <p:cNvPr id="1" name=""/>
        <p:cNvGrpSpPr/>
        <p:nvPr/>
      </p:nvGrpSpPr>
      <p:grpSpPr bwMode="auto">
        <a:xfrm>
          <a:off x="0" y="0"/>
          <a:ext cx="0" cy="0"/>
          <a:chOff x="0" y="0"/>
          <a:chExt cx="0" cy="0"/>
        </a:xfrm>
      </p:grpSpPr>
      <p:sp>
        <p:nvSpPr>
          <p:cNvPr id="407265054" name="Shape 0"/>
          <p:cNvSpPr/>
          <p:nvPr/>
        </p:nvSpPr>
        <p:spPr bwMode="auto">
          <a:xfrm>
            <a:off x="0" y="0"/>
            <a:ext cx="118872" cy="5143500"/>
          </a:xfrm>
          <a:prstGeom prst="rect">
            <a:avLst/>
          </a:prstGeom>
          <a:solidFill>
            <a:srgbClr val="0D9488"/>
          </a:solidFill>
          <a:ln w="12700">
            <a:solidFill>
              <a:srgbClr val="0D9488"/>
            </a:solidFill>
            <a:prstDash val="solid"/>
          </a:ln>
        </p:spPr>
        <p:txBody>
          <a:bodyPr/>
          <a:p/>
        </p:txBody>
      </p:sp>
      <p:sp>
        <p:nvSpPr>
          <p:cNvPr id="546139580"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Visual Pipeline Output: Interpretable Prediction in Action</a:t>
            </a:r>
            <a:endParaRPr lang="en-US" sz="2500"/>
          </a:p>
        </p:txBody>
      </p:sp>
      <p:sp>
        <p:nvSpPr>
          <p:cNvPr id="257835762" name="Text 2"/>
          <p:cNvSpPr/>
          <p:nvPr/>
        </p:nvSpPr>
        <p:spPr bwMode="auto">
          <a:xfrm>
            <a:off x="228600" y="667512"/>
            <a:ext cx="8686800" cy="246888"/>
          </a:xfrm>
          <a:prstGeom prst="rect">
            <a:avLst/>
          </a:prstGeom>
          <a:noFill/>
          <a:ln/>
        </p:spPr>
        <p:txBody>
          <a:bodyPr wrap="square" lIns="0" tIns="0" rIns="0" bIns="0" rtlCol="0" anchor="ctr"/>
          <a:lstStyle/>
          <a:p>
            <a:pPr marL="0" indent="0" algn="l">
              <a:buNone/>
              <a:defRPr/>
            </a:pPr>
            <a:r>
              <a:rPr lang="en-US" sz="1100" i="1">
                <a:solidFill>
                  <a:srgbClr val="475569"/>
                </a:solidFill>
                <a:latin typeface="Calibri"/>
                <a:ea typeface="Calibri"/>
                <a:cs typeface="Calibri"/>
              </a:rPr>
              <a:t>Every prediction traced to named concepts — no black-box, no post-hoc rationalisation</a:t>
            </a:r>
            <a:endParaRPr lang="en-US" sz="1100"/>
          </a:p>
        </p:txBody>
      </p:sp>
      <p:sp>
        <p:nvSpPr>
          <p:cNvPr id="1201788888" name="Shape 3"/>
          <p:cNvSpPr/>
          <p:nvPr/>
        </p:nvSpPr>
        <p:spPr bwMode="auto">
          <a:xfrm>
            <a:off x="228600" y="896112"/>
            <a:ext cx="8686800" cy="22860"/>
          </a:xfrm>
          <a:prstGeom prst="rect">
            <a:avLst/>
          </a:prstGeom>
          <a:solidFill>
            <a:srgbClr val="0D9488"/>
          </a:solidFill>
          <a:ln w="12700">
            <a:solidFill>
              <a:srgbClr val="0D9488"/>
            </a:solidFill>
            <a:prstDash val="solid"/>
          </a:ln>
        </p:spPr>
        <p:txBody>
          <a:bodyPr/>
          <a:p/>
        </p:txBody>
      </p:sp>
      <p:pic>
        <p:nvPicPr>
          <p:cNvPr id="1965842868" name="Image 0" descr="/sessions/adoring-elegant-darwin/mnt/unsupervised-parts-discovery/img.png"/>
          <p:cNvPicPr>
            <a:picLocks noChangeAspect="1"/>
          </p:cNvPicPr>
          <p:nvPr/>
        </p:nvPicPr>
        <p:blipFill rotWithShape="1">
          <a:blip r:embed="rId3"/>
          <a:stretch/>
        </p:blipFill>
        <p:spPr bwMode="auto">
          <a:xfrm>
            <a:off x="228600" y="987552"/>
            <a:ext cx="8686800" cy="3072384"/>
          </a:xfrm>
          <a:prstGeom prst="rect">
            <a:avLst/>
          </a:prstGeom>
        </p:spPr>
      </p:pic>
      <p:sp>
        <p:nvSpPr>
          <p:cNvPr id="530646766" name="Shape 4"/>
          <p:cNvSpPr/>
          <p:nvPr/>
        </p:nvSpPr>
        <p:spPr bwMode="auto">
          <a:xfrm>
            <a:off x="228600" y="4114800"/>
            <a:ext cx="8686800" cy="777240"/>
          </a:xfrm>
          <a:prstGeom prst="rect">
            <a:avLst/>
          </a:prstGeom>
          <a:solidFill>
            <a:srgbClr val="1A1F3A"/>
          </a:solidFill>
          <a:ln w="12700">
            <a:solidFill>
              <a:srgbClr val="1A1F3A"/>
            </a:solidFill>
            <a:prstDash val="solid"/>
          </a:ln>
          <a:effectLst>
            <a:outerShdw blurRad="76200" dist="25400" dir="8100000" sx="100000" sy="100000" kx="0" ky="0" algn="bl" rotWithShape="0">
              <a:srgbClr val="000000">
                <a:alpha val="10000"/>
              </a:srgbClr>
            </a:outerShdw>
          </a:effectLst>
        </p:spPr>
        <p:txBody>
          <a:bodyPr/>
          <a:p/>
        </p:txBody>
      </p:sp>
      <p:sp>
        <p:nvSpPr>
          <p:cNvPr id="2096860441" name="Text 5"/>
          <p:cNvSpPr/>
          <p:nvPr/>
        </p:nvSpPr>
        <p:spPr bwMode="auto">
          <a:xfrm>
            <a:off x="365760" y="4160519"/>
            <a:ext cx="8321039" cy="301752"/>
          </a:xfrm>
          <a:prstGeom prst="rect">
            <a:avLst/>
          </a:prstGeom>
          <a:noFill/>
          <a:ln/>
        </p:spPr>
        <p:txBody>
          <a:bodyPr wrap="square" lIns="0" tIns="0" rIns="0" bIns="0" rtlCol="0" anchor="ctr"/>
          <a:lstStyle/>
          <a:p>
            <a:r>
              <a:t>STL-10 example — Top concepts:  bird:eye (0.12)  ·  bird:neck (0.12)  ·  bird:tail (0.12)  ·  bird:wings (0.11)  ·  bird:feather (0.07)</a:t>
            </a:r>
          </a:p>
        </p:txBody>
      </p:sp>
      <p:sp>
        <p:nvSpPr>
          <p:cNvPr id="2123524285" name="Text 6"/>
          <p:cNvSpPr/>
          <p:nvPr/>
        </p:nvSpPr>
        <p:spPr bwMode="auto">
          <a:xfrm>
            <a:off x="365760" y="4480560"/>
            <a:ext cx="8321039" cy="301752"/>
          </a:xfrm>
          <a:prstGeom prst="rect">
            <a:avLst/>
          </a:prstGeom>
          <a:noFill/>
          <a:ln/>
        </p:spPr>
        <p:txBody>
          <a:bodyPr wrap="square" lIns="0" tIns="0" rIns="0" bIns="0" rtlCol="0" anchor="ctr"/>
          <a:lstStyle/>
          <a:p>
            <a:pPr marL="0" indent="0" algn="l">
              <a:buNone/>
              <a:defRPr/>
            </a:pPr>
            <a:r>
              <a:rPr lang="en-US" sz="1100">
                <a:solidFill>
                  <a:srgbClr val="94A3B8"/>
                </a:solidFill>
                <a:latin typeface="Calibri"/>
                <a:ea typeface="Calibri"/>
                <a:cs typeface="Calibri"/>
              </a:rPr>
              <a:t>Cat &amp; car concepts: all near-zero  ·  </a:t>
            </a:r>
            <a:r>
              <a:rPr lang="en-US" sz="1100">
                <a:solidFill>
                  <a:srgbClr val="99F6E4"/>
                </a:solidFill>
                <a:latin typeface="Calibri"/>
                <a:ea typeface="Calibri"/>
                <a:cs typeface="Calibri"/>
              </a:rPr>
              <a:t>Concepts found with zero class-label supervision — named post-hoc by human SME via label_tool.py</a:t>
            </a:r>
            <a:endParaRPr lang="en-US"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4F8FF"/>
        </a:solidFill>
      </p:bgPr>
    </p:bg>
    <p:spTree>
      <p:nvGrpSpPr>
        <p:cNvPr id="1" name=""/>
        <p:cNvGrpSpPr/>
        <p:nvPr/>
      </p:nvGrpSpPr>
      <p:grpSpPr bwMode="auto">
        <a:xfrm>
          <a:off x="0" y="0"/>
          <a:ext cx="0" cy="0"/>
          <a:chOff x="0" y="0"/>
          <a:chExt cx="0" cy="0"/>
        </a:xfrm>
      </p:grpSpPr>
      <p:sp>
        <p:nvSpPr>
          <p:cNvPr id="191248597" name="Shape 0"/>
          <p:cNvSpPr/>
          <p:nvPr/>
        </p:nvSpPr>
        <p:spPr bwMode="auto">
          <a:xfrm>
            <a:off x="0" y="0"/>
            <a:ext cx="118872" cy="5143500"/>
          </a:xfrm>
          <a:prstGeom prst="rect">
            <a:avLst/>
          </a:prstGeom>
          <a:solidFill>
            <a:srgbClr val="0D9488"/>
          </a:solidFill>
          <a:ln w="12700">
            <a:solidFill>
              <a:srgbClr val="0D9488"/>
            </a:solidFill>
            <a:prstDash val="solid"/>
          </a:ln>
        </p:spPr>
        <p:txBody>
          <a:bodyPr/>
          <a:p/>
        </p:txBody>
      </p:sp>
      <p:sp>
        <p:nvSpPr>
          <p:cNvPr id="1357084469"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Concept Specificity Confirmed Across All Three Classes</a:t>
            </a:r>
            <a:endParaRPr lang="en-US" sz="2500"/>
          </a:p>
        </p:txBody>
      </p:sp>
      <p:sp>
        <p:nvSpPr>
          <p:cNvPr id="1224328001" name="Text 2"/>
          <p:cNvSpPr/>
          <p:nvPr/>
        </p:nvSpPr>
        <p:spPr bwMode="auto">
          <a:xfrm>
            <a:off x="228600" y="667512"/>
            <a:ext cx="8686800" cy="246888"/>
          </a:xfrm>
          <a:prstGeom prst="rect">
            <a:avLst/>
          </a:prstGeom>
          <a:noFill/>
          <a:ln/>
        </p:spPr>
        <p:txBody>
          <a:bodyPr wrap="square" lIns="0" tIns="0" rIns="0" bIns="0" rtlCol="0" anchor="ctr"/>
          <a:lstStyle/>
          <a:p>
            <a:r>
              <a:t>Correct-class concepts dominate every prediction · Cross-class concepts register near-zero · Zero supervision at concept-learning stage</a:t>
            </a:r>
          </a:p>
          <a:p/>
          <a:p>
            <a:r>
              <a:t>(STL-10 three-class setup; aligns with dissertation Figure 1.)</a:t>
            </a:r>
          </a:p>
        </p:txBody>
      </p:sp>
      <p:sp>
        <p:nvSpPr>
          <p:cNvPr id="640097591" name="Shape 3"/>
          <p:cNvSpPr/>
          <p:nvPr/>
        </p:nvSpPr>
        <p:spPr bwMode="auto">
          <a:xfrm>
            <a:off x="228600" y="896112"/>
            <a:ext cx="8686800" cy="22860"/>
          </a:xfrm>
          <a:prstGeom prst="rect">
            <a:avLst/>
          </a:prstGeom>
          <a:solidFill>
            <a:srgbClr val="0D9488"/>
          </a:solidFill>
          <a:ln w="12700">
            <a:solidFill>
              <a:srgbClr val="0D9488"/>
            </a:solidFill>
            <a:prstDash val="solid"/>
          </a:ln>
        </p:spPr>
        <p:txBody>
          <a:bodyPr/>
          <a:p/>
        </p:txBody>
      </p:sp>
      <p:pic>
        <p:nvPicPr>
          <p:cNvPr id="1796157740" name="Image 0" descr="/sessions/adoring-elegant-darwin/pptx_work/concept_comparison_3class_slide.png"/>
          <p:cNvPicPr>
            <a:picLocks noChangeAspect="1"/>
          </p:cNvPicPr>
          <p:nvPr/>
        </p:nvPicPr>
        <p:blipFill rotWithShape="1">
          <a:blip r:embed="rId3"/>
          <a:stretch/>
        </p:blipFill>
        <p:spPr bwMode="auto">
          <a:xfrm>
            <a:off x="228600" y="987552"/>
            <a:ext cx="8686800" cy="3621024"/>
          </a:xfrm>
          <a:prstGeom prst="rect">
            <a:avLst/>
          </a:prstGeom>
        </p:spPr>
      </p:pic>
      <p:sp>
        <p:nvSpPr>
          <p:cNvPr id="544839125" name="Shape 4"/>
          <p:cNvSpPr/>
          <p:nvPr/>
        </p:nvSpPr>
        <p:spPr bwMode="auto">
          <a:xfrm>
            <a:off x="228600" y="4709160"/>
            <a:ext cx="2834640" cy="347472"/>
          </a:xfrm>
          <a:prstGeom prst="rect">
            <a:avLst/>
          </a:prstGeom>
          <a:solidFill>
            <a:srgbClr val="1A1F3A"/>
          </a:solidFill>
          <a:ln w="12700">
            <a:solidFill>
              <a:srgbClr val="1A1F3A"/>
            </a:solidFill>
            <a:prstDash val="solid"/>
          </a:ln>
        </p:spPr>
        <p:txBody>
          <a:bodyPr/>
          <a:p/>
        </p:txBody>
      </p:sp>
      <p:sp>
        <p:nvSpPr>
          <p:cNvPr id="1916156895" name="Text 5"/>
          <p:cNvSpPr/>
          <p:nvPr/>
        </p:nvSpPr>
        <p:spPr bwMode="auto">
          <a:xfrm>
            <a:off x="274320" y="4709160"/>
            <a:ext cx="2743200" cy="347472"/>
          </a:xfrm>
          <a:prstGeom prst="rect">
            <a:avLst/>
          </a:prstGeom>
          <a:noFill/>
          <a:ln/>
        </p:spPr>
        <p:txBody>
          <a:bodyPr wrap="square" lIns="0" tIns="0" rIns="0" bIns="0" rtlCol="0" anchor="ctr"/>
          <a:lstStyle/>
          <a:p>
            <a:pPr marL="0" indent="0" algn="l">
              <a:buNone/>
              <a:defRPr/>
            </a:pPr>
            <a:r>
              <a:rPr lang="en-US" sz="950" b="1">
                <a:solidFill>
                  <a:srgbClr val="DC2626"/>
                </a:solidFill>
                <a:latin typeface="Calibri"/>
                <a:ea typeface="Calibri"/>
                <a:cs typeface="Calibri"/>
              </a:rPr>
              <a:t>CAT  </a:t>
            </a:r>
            <a:r>
              <a:rPr lang="en-US" sz="950">
                <a:solidFill>
                  <a:srgbClr val="99F6E4"/>
                </a:solidFill>
                <a:latin typeface="Calibri"/>
                <a:ea typeface="Calibri"/>
                <a:cs typeface="Calibri"/>
              </a:rPr>
              <a:t>→   cat:face · cat:nose · cat:eye</a:t>
            </a:r>
            <a:endParaRPr lang="en-US" sz="950"/>
          </a:p>
        </p:txBody>
      </p:sp>
      <p:sp>
        <p:nvSpPr>
          <p:cNvPr id="508643915" name="Shape 6"/>
          <p:cNvSpPr/>
          <p:nvPr/>
        </p:nvSpPr>
        <p:spPr bwMode="auto">
          <a:xfrm>
            <a:off x="3200400" y="4709160"/>
            <a:ext cx="2834640" cy="347472"/>
          </a:xfrm>
          <a:prstGeom prst="rect">
            <a:avLst/>
          </a:prstGeom>
          <a:solidFill>
            <a:srgbClr val="1A1F3A"/>
          </a:solidFill>
          <a:ln w="12700">
            <a:solidFill>
              <a:srgbClr val="1A1F3A"/>
            </a:solidFill>
            <a:prstDash val="solid"/>
          </a:ln>
        </p:spPr>
        <p:txBody>
          <a:bodyPr/>
          <a:p/>
        </p:txBody>
      </p:sp>
      <p:sp>
        <p:nvSpPr>
          <p:cNvPr id="1227063249" name="Text 7"/>
          <p:cNvSpPr/>
          <p:nvPr/>
        </p:nvSpPr>
        <p:spPr bwMode="auto">
          <a:xfrm>
            <a:off x="3246120" y="4709160"/>
            <a:ext cx="2743200" cy="347472"/>
          </a:xfrm>
          <a:prstGeom prst="rect">
            <a:avLst/>
          </a:prstGeom>
          <a:noFill/>
          <a:ln/>
        </p:spPr>
        <p:txBody>
          <a:bodyPr wrap="square" lIns="0" tIns="0" rIns="0" bIns="0" rtlCol="0" anchor="ctr"/>
          <a:lstStyle/>
          <a:p>
            <a:pPr marL="0" indent="0" algn="l">
              <a:buNone/>
              <a:defRPr/>
            </a:pPr>
            <a:r>
              <a:rPr lang="en-US" sz="950" b="1">
                <a:solidFill>
                  <a:srgbClr val="B45309"/>
                </a:solidFill>
                <a:latin typeface="Calibri"/>
                <a:ea typeface="Calibri"/>
                <a:cs typeface="Calibri"/>
              </a:rPr>
              <a:t>CAR  </a:t>
            </a:r>
            <a:r>
              <a:rPr lang="en-US" sz="950">
                <a:solidFill>
                  <a:srgbClr val="99F6E4"/>
                </a:solidFill>
                <a:latin typeface="Calibri"/>
                <a:ea typeface="Calibri"/>
                <a:cs typeface="Calibri"/>
              </a:rPr>
              <a:t>→   car:bumpe corner · car:side fender · car:wheel arch</a:t>
            </a:r>
            <a:endParaRPr lang="en-US" sz="950"/>
          </a:p>
        </p:txBody>
      </p:sp>
      <p:sp>
        <p:nvSpPr>
          <p:cNvPr id="2122499146" name="Shape 8"/>
          <p:cNvSpPr/>
          <p:nvPr/>
        </p:nvSpPr>
        <p:spPr bwMode="auto">
          <a:xfrm>
            <a:off x="6172200" y="4709160"/>
            <a:ext cx="2834640" cy="347472"/>
          </a:xfrm>
          <a:prstGeom prst="rect">
            <a:avLst/>
          </a:prstGeom>
          <a:solidFill>
            <a:srgbClr val="1A1F3A"/>
          </a:solidFill>
          <a:ln w="12700">
            <a:solidFill>
              <a:srgbClr val="1A1F3A"/>
            </a:solidFill>
            <a:prstDash val="solid"/>
          </a:ln>
        </p:spPr>
        <p:txBody>
          <a:bodyPr/>
          <a:p/>
        </p:txBody>
      </p:sp>
      <p:sp>
        <p:nvSpPr>
          <p:cNvPr id="1886636673" name="Text 9"/>
          <p:cNvSpPr/>
          <p:nvPr/>
        </p:nvSpPr>
        <p:spPr bwMode="auto">
          <a:xfrm>
            <a:off x="6217920" y="4709160"/>
            <a:ext cx="2743200" cy="347472"/>
          </a:xfrm>
          <a:prstGeom prst="rect">
            <a:avLst/>
          </a:prstGeom>
          <a:noFill/>
          <a:ln/>
        </p:spPr>
        <p:txBody>
          <a:bodyPr wrap="square" lIns="0" tIns="0" rIns="0" bIns="0" rtlCol="0" anchor="ctr"/>
          <a:lstStyle/>
          <a:p>
            <a:pPr marL="0" indent="0" algn="l">
              <a:buNone/>
              <a:defRPr/>
            </a:pPr>
            <a:r>
              <a:rPr lang="en-US" sz="950" b="1">
                <a:solidFill>
                  <a:srgbClr val="15803D"/>
                </a:solidFill>
                <a:latin typeface="Calibri"/>
                <a:ea typeface="Calibri"/>
                <a:cs typeface="Calibri"/>
              </a:rPr>
              <a:t>BIRD  </a:t>
            </a:r>
            <a:r>
              <a:rPr lang="en-US" sz="950">
                <a:solidFill>
                  <a:srgbClr val="99F6E4"/>
                </a:solidFill>
                <a:latin typeface="Calibri"/>
                <a:ea typeface="Calibri"/>
                <a:cs typeface="Calibri"/>
              </a:rPr>
              <a:t>→   bird:eye · bird:neck · bird:tail · bird:wings</a:t>
            </a:r>
            <a:endParaRPr lang="en-US" sz="9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F4F8FF"/>
        </a:solidFill>
      </p:bgPr>
    </p:bg>
    <p:spTree>
      <p:nvGrpSpPr>
        <p:cNvPr id="1" name=""/>
        <p:cNvGrpSpPr/>
        <p:nvPr/>
      </p:nvGrpSpPr>
      <p:grpSpPr bwMode="auto">
        <a:xfrm>
          <a:off x="0" y="0"/>
          <a:ext cx="0" cy="0"/>
          <a:chOff x="0" y="0"/>
          <a:chExt cx="0" cy="0"/>
        </a:xfrm>
      </p:grpSpPr>
      <p:sp>
        <p:nvSpPr>
          <p:cNvPr id="1526167794" name="Shape 0"/>
          <p:cNvSpPr/>
          <p:nvPr/>
        </p:nvSpPr>
        <p:spPr bwMode="auto">
          <a:xfrm>
            <a:off x="0" y="0"/>
            <a:ext cx="118872" cy="5143500"/>
          </a:xfrm>
          <a:prstGeom prst="rect">
            <a:avLst/>
          </a:prstGeom>
          <a:solidFill>
            <a:srgbClr val="0D9488"/>
          </a:solidFill>
          <a:ln w="12700">
            <a:solidFill>
              <a:srgbClr val="0D9488"/>
            </a:solidFill>
            <a:prstDash val="solid"/>
          </a:ln>
        </p:spPr>
        <p:txBody>
          <a:bodyPr/>
          <a:p/>
        </p:txBody>
      </p:sp>
      <p:sp>
        <p:nvSpPr>
          <p:cNvPr id="2044386795"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Domain B: Lab Pipeline — Generalisation Study</a:t>
            </a:r>
            <a:endParaRPr lang="en-US" sz="2500"/>
          </a:p>
        </p:txBody>
      </p:sp>
      <p:sp>
        <p:nvSpPr>
          <p:cNvPr id="1769902389" name="Text 2"/>
          <p:cNvSpPr/>
          <p:nvPr/>
        </p:nvSpPr>
        <p:spPr bwMode="auto">
          <a:xfrm>
            <a:off x="228600" y="667512"/>
            <a:ext cx="8686800" cy="246888"/>
          </a:xfrm>
          <a:prstGeom prst="rect">
            <a:avLst/>
          </a:prstGeom>
          <a:noFill/>
          <a:ln/>
        </p:spPr>
        <p:txBody>
          <a:bodyPr wrap="square" lIns="0" tIns="0" rIns="0" bIns="0" rtlCol="0" anchor="ctr"/>
          <a:lstStyle/>
          <a:p>
            <a:pPr marL="0" indent="0" algn="l">
              <a:buNone/>
              <a:defRPr/>
            </a:pPr>
            <a:r>
              <a:rPr lang="en-US" sz="1100" i="1">
                <a:solidFill>
                  <a:srgbClr val="475569"/>
                </a:solidFill>
                <a:latin typeface="Calibri"/>
                <a:ea typeface="Calibri"/>
                <a:cs typeface="Calibri"/>
              </a:rPr>
              <a:t>Same 3-stage pipeline applied to tabular clinical data · PSFTT replaces DINO · LLM replaces human SME</a:t>
            </a:r>
            <a:endParaRPr lang="en-US" sz="1100"/>
          </a:p>
        </p:txBody>
      </p:sp>
      <p:sp>
        <p:nvSpPr>
          <p:cNvPr id="114816199" name="Shape 3"/>
          <p:cNvSpPr/>
          <p:nvPr/>
        </p:nvSpPr>
        <p:spPr bwMode="auto">
          <a:xfrm>
            <a:off x="228600" y="896112"/>
            <a:ext cx="8686800" cy="22860"/>
          </a:xfrm>
          <a:prstGeom prst="rect">
            <a:avLst/>
          </a:prstGeom>
          <a:solidFill>
            <a:srgbClr val="0D9488"/>
          </a:solidFill>
          <a:ln w="12700">
            <a:solidFill>
              <a:srgbClr val="0D9488"/>
            </a:solidFill>
            <a:prstDash val="solid"/>
          </a:ln>
        </p:spPr>
        <p:txBody>
          <a:bodyPr/>
          <a:p/>
        </p:txBody>
      </p:sp>
      <p:sp>
        <p:nvSpPr>
          <p:cNvPr id="227114033" name="Shape 4"/>
          <p:cNvSpPr/>
          <p:nvPr/>
        </p:nvSpPr>
        <p:spPr bwMode="auto">
          <a:xfrm>
            <a:off x="448056" y="1078992"/>
            <a:ext cx="1444752" cy="914400"/>
          </a:xfrm>
          <a:prstGeom prst="rect">
            <a:avLst/>
          </a:prstGeom>
          <a:solidFill>
            <a:srgbClr val="2D3A6A"/>
          </a:solidFill>
          <a:ln w="12700">
            <a:solidFill>
              <a:srgbClr val="2D3A6A"/>
            </a:solidFill>
            <a:prstDash val="solid"/>
          </a:ln>
          <a:effectLst>
            <a:outerShdw blurRad="76200" dist="25400" dir="8100000" sx="100000" sy="100000" kx="0" ky="0" algn="bl" rotWithShape="0">
              <a:srgbClr val="000000">
                <a:alpha val="10000"/>
              </a:srgbClr>
            </a:outerShdw>
          </a:effectLst>
        </p:spPr>
        <p:txBody>
          <a:bodyPr/>
          <a:p/>
        </p:txBody>
      </p:sp>
      <p:sp>
        <p:nvSpPr>
          <p:cNvPr id="1114550009" name="Text 5"/>
          <p:cNvSpPr/>
          <p:nvPr/>
        </p:nvSpPr>
        <p:spPr bwMode="auto">
          <a:xfrm>
            <a:off x="484632"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NHANES</a:t>
            </a:r>
            <a:endParaRPr lang="en-US" sz="1050"/>
          </a:p>
          <a:p>
            <a:pPr marL="0" indent="0" algn="ctr">
              <a:buNone/>
              <a:defRPr/>
            </a:pPr>
            <a:r>
              <a:rPr lang="en-US" sz="1050" b="1">
                <a:solidFill>
                  <a:srgbClr val="FFFFFF"/>
                </a:solidFill>
                <a:latin typeface="Calibri"/>
                <a:ea typeface="Calibri"/>
                <a:cs typeface="Calibri"/>
              </a:rPr>
              <a:t>Data</a:t>
            </a:r>
            <a:endParaRPr lang="en-US" sz="1050"/>
          </a:p>
        </p:txBody>
      </p:sp>
      <p:sp>
        <p:nvSpPr>
          <p:cNvPr id="344256427" name="Text 6"/>
          <p:cNvSpPr/>
          <p:nvPr/>
        </p:nvSpPr>
        <p:spPr bwMode="auto">
          <a:xfrm>
            <a:off x="484632"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18,673 records</a:t>
            </a:r>
            <a:endParaRPr lang="en-US" sz="850"/>
          </a:p>
          <a:p>
            <a:pPr marL="0" indent="0" algn="ctr">
              <a:buNone/>
              <a:defRPr/>
            </a:pPr>
            <a:r>
              <a:rPr lang="en-US" sz="850">
                <a:solidFill>
                  <a:srgbClr val="CCFBF1"/>
                </a:solidFill>
                <a:latin typeface="Calibri"/>
                <a:ea typeface="Calibri"/>
                <a:cs typeface="Calibri"/>
              </a:rPr>
              <a:t>34 lab tests</a:t>
            </a:r>
            <a:endParaRPr lang="en-US" sz="850"/>
          </a:p>
        </p:txBody>
      </p:sp>
      <p:sp>
        <p:nvSpPr>
          <p:cNvPr id="893903509" name="Shape 7"/>
          <p:cNvSpPr/>
          <p:nvPr/>
        </p:nvSpPr>
        <p:spPr bwMode="auto">
          <a:xfrm>
            <a:off x="1892808" y="1536192"/>
            <a:ext cx="256032" cy="0"/>
          </a:xfrm>
          <a:prstGeom prst="line">
            <a:avLst/>
          </a:prstGeom>
          <a:noFill/>
          <a:ln w="25400">
            <a:solidFill>
              <a:srgbClr val="94A3B8"/>
            </a:solidFill>
            <a:prstDash val="solid"/>
            <a:tailEnd type="arrow"/>
          </a:ln>
        </p:spPr>
        <p:txBody>
          <a:bodyPr/>
          <a:p/>
        </p:txBody>
      </p:sp>
      <p:sp>
        <p:nvSpPr>
          <p:cNvPr id="400955135" name="Shape 8"/>
          <p:cNvSpPr/>
          <p:nvPr/>
        </p:nvSpPr>
        <p:spPr bwMode="auto">
          <a:xfrm>
            <a:off x="2148840" y="1078992"/>
            <a:ext cx="1444752" cy="914400"/>
          </a:xfrm>
          <a:prstGeom prst="rect">
            <a:avLst/>
          </a:prstGeom>
          <a:solidFill>
            <a:srgbClr val="1A1F3A"/>
          </a:solidFill>
          <a:ln w="12700">
            <a:solidFill>
              <a:srgbClr val="1A1F3A"/>
            </a:solidFill>
            <a:prstDash val="solid"/>
          </a:ln>
          <a:effectLst>
            <a:outerShdw blurRad="76200" dist="25400" dir="8100000" sx="100000" sy="100000" kx="0" ky="0" algn="bl" rotWithShape="0">
              <a:srgbClr val="000000">
                <a:alpha val="10000"/>
              </a:srgbClr>
            </a:outerShdw>
          </a:effectLst>
        </p:spPr>
        <p:txBody>
          <a:bodyPr/>
          <a:p/>
        </p:txBody>
      </p:sp>
      <p:sp>
        <p:nvSpPr>
          <p:cNvPr id="1032968868" name="Text 9"/>
          <p:cNvSpPr/>
          <p:nvPr/>
        </p:nvSpPr>
        <p:spPr bwMode="auto">
          <a:xfrm>
            <a:off x="2185416"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PSFTT</a:t>
            </a:r>
            <a:endParaRPr lang="en-US" sz="1050"/>
          </a:p>
          <a:p>
            <a:pPr marL="0" indent="0" algn="ctr">
              <a:buNone/>
              <a:defRPr/>
            </a:pPr>
            <a:r>
              <a:rPr lang="en-US" sz="1050" b="1">
                <a:solidFill>
                  <a:srgbClr val="FFFFFF"/>
                </a:solidFill>
                <a:latin typeface="Calibri"/>
                <a:ea typeface="Calibri"/>
                <a:cs typeface="Calibri"/>
              </a:rPr>
              <a:t>Encoder</a:t>
            </a:r>
            <a:endParaRPr lang="en-US" sz="1050"/>
          </a:p>
        </p:txBody>
      </p:sp>
      <p:sp>
        <p:nvSpPr>
          <p:cNvPr id="1949911279" name="Text 10"/>
          <p:cNvSpPr/>
          <p:nvPr/>
        </p:nvSpPr>
        <p:spPr bwMode="auto">
          <a:xfrm>
            <a:off x="2185416"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Panel PE + SSL</a:t>
            </a:r>
            <a:endParaRPr lang="en-US" sz="850"/>
          </a:p>
          <a:p>
            <a:pPr marL="0" indent="0" algn="ctr">
              <a:buNone/>
              <a:defRPr/>
            </a:pPr>
            <a:r>
              <a:rPr lang="en-US" sz="850">
                <a:solidFill>
                  <a:srgbClr val="CCFBF1"/>
                </a:solidFill>
                <a:latin typeface="Calibri"/>
                <a:ea typeface="Calibri"/>
                <a:cs typeface="Calibri"/>
              </a:rPr>
              <a:t>L2+L4+L6 layers</a:t>
            </a:r>
            <a:endParaRPr lang="en-US" sz="850"/>
          </a:p>
        </p:txBody>
      </p:sp>
      <p:sp>
        <p:nvSpPr>
          <p:cNvPr id="104106804" name="Shape 11"/>
          <p:cNvSpPr/>
          <p:nvPr/>
        </p:nvSpPr>
        <p:spPr bwMode="auto">
          <a:xfrm>
            <a:off x="3593592" y="1536192"/>
            <a:ext cx="256032" cy="0"/>
          </a:xfrm>
          <a:prstGeom prst="line">
            <a:avLst/>
          </a:prstGeom>
          <a:noFill/>
          <a:ln w="25400">
            <a:solidFill>
              <a:srgbClr val="94A3B8"/>
            </a:solidFill>
            <a:prstDash val="solid"/>
            <a:tailEnd type="arrow"/>
          </a:ln>
        </p:spPr>
        <p:txBody>
          <a:bodyPr/>
          <a:p/>
        </p:txBody>
      </p:sp>
      <p:sp>
        <p:nvSpPr>
          <p:cNvPr id="1149566055" name="Shape 12"/>
          <p:cNvSpPr/>
          <p:nvPr/>
        </p:nvSpPr>
        <p:spPr bwMode="auto">
          <a:xfrm>
            <a:off x="3849624" y="1078992"/>
            <a:ext cx="1444752" cy="914400"/>
          </a:xfrm>
          <a:prstGeom prst="rect">
            <a:avLst/>
          </a:prstGeom>
          <a:solidFill>
            <a:srgbClr val="0D9488"/>
          </a:solidFill>
          <a:ln w="12700">
            <a:solidFill>
              <a:srgbClr val="0D9488"/>
            </a:solidFill>
            <a:prstDash val="solid"/>
          </a:ln>
          <a:effectLst>
            <a:outerShdw blurRad="76200" dist="25400" dir="8100000" sx="100000" sy="100000" kx="0" ky="0" algn="bl" rotWithShape="0">
              <a:srgbClr val="000000">
                <a:alpha val="10000"/>
              </a:srgbClr>
            </a:outerShdw>
          </a:effectLst>
        </p:spPr>
        <p:txBody>
          <a:bodyPr/>
          <a:p/>
        </p:txBody>
      </p:sp>
      <p:sp>
        <p:nvSpPr>
          <p:cNvPr id="1038535159" name="Text 13"/>
          <p:cNvSpPr/>
          <p:nvPr/>
        </p:nvSpPr>
        <p:spPr bwMode="auto">
          <a:xfrm>
            <a:off x="3886200"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Per-Panel</a:t>
            </a:r>
            <a:endParaRPr lang="en-US" sz="1050"/>
          </a:p>
          <a:p>
            <a:pPr marL="0" indent="0" algn="ctr">
              <a:buNone/>
              <a:defRPr/>
            </a:pPr>
            <a:r>
              <a:rPr lang="en-US" sz="1050" b="1">
                <a:solidFill>
                  <a:srgbClr val="FFFFFF"/>
                </a:solidFill>
                <a:latin typeface="Calibri"/>
                <a:ea typeface="Calibri"/>
                <a:cs typeface="Calibri"/>
              </a:rPr>
              <a:t>GMM</a:t>
            </a:r>
            <a:endParaRPr lang="en-US" sz="1050"/>
          </a:p>
        </p:txBody>
      </p:sp>
      <p:sp>
        <p:nvSpPr>
          <p:cNvPr id="1313411059" name="Text 14"/>
          <p:cNvSpPr/>
          <p:nvPr/>
        </p:nvSpPr>
        <p:spPr bwMode="auto">
          <a:xfrm>
            <a:off x="3886200"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3 panels × 10</a:t>
            </a:r>
            <a:endParaRPr lang="en-US" sz="850"/>
          </a:p>
          <a:p>
            <a:pPr marL="0" indent="0" algn="ctr">
              <a:buNone/>
              <a:defRPr/>
            </a:pPr>
            <a:r>
              <a:rPr lang="en-US" sz="850">
                <a:solidFill>
                  <a:srgbClr val="CCFBF1"/>
                </a:solidFill>
                <a:latin typeface="Calibri"/>
                <a:ea typeface="Calibri"/>
                <a:cs typeface="Calibri"/>
              </a:rPr>
              <a:t>= 30 concepts</a:t>
            </a:r>
            <a:endParaRPr lang="en-US" sz="850"/>
          </a:p>
        </p:txBody>
      </p:sp>
      <p:sp>
        <p:nvSpPr>
          <p:cNvPr id="1956511881" name="Shape 15"/>
          <p:cNvSpPr/>
          <p:nvPr/>
        </p:nvSpPr>
        <p:spPr bwMode="auto">
          <a:xfrm>
            <a:off x="5294376" y="1536192"/>
            <a:ext cx="256032" cy="0"/>
          </a:xfrm>
          <a:prstGeom prst="line">
            <a:avLst/>
          </a:prstGeom>
          <a:noFill/>
          <a:ln w="25400">
            <a:solidFill>
              <a:srgbClr val="94A3B8"/>
            </a:solidFill>
            <a:prstDash val="solid"/>
            <a:tailEnd type="arrow"/>
          </a:ln>
        </p:spPr>
        <p:txBody>
          <a:bodyPr/>
          <a:p/>
        </p:txBody>
      </p:sp>
      <p:sp>
        <p:nvSpPr>
          <p:cNvPr id="66872167" name="Shape 16"/>
          <p:cNvSpPr/>
          <p:nvPr/>
        </p:nvSpPr>
        <p:spPr bwMode="auto">
          <a:xfrm>
            <a:off x="5550408" y="1078992"/>
            <a:ext cx="1444752" cy="914400"/>
          </a:xfrm>
          <a:prstGeom prst="rect">
            <a:avLst/>
          </a:prstGeom>
          <a:solidFill>
            <a:srgbClr val="7C3AED"/>
          </a:solidFill>
          <a:ln w="12700">
            <a:solidFill>
              <a:srgbClr val="7C3AED"/>
            </a:solidFill>
            <a:prstDash val="solid"/>
          </a:ln>
          <a:effectLst>
            <a:outerShdw blurRad="76200" dist="25400" dir="8100000" sx="100000" sy="100000" kx="0" ky="0" algn="bl" rotWithShape="0">
              <a:srgbClr val="000000">
                <a:alpha val="10000"/>
              </a:srgbClr>
            </a:outerShdw>
          </a:effectLst>
        </p:spPr>
        <p:txBody>
          <a:bodyPr/>
          <a:p/>
        </p:txBody>
      </p:sp>
      <p:sp>
        <p:nvSpPr>
          <p:cNvPr id="1333194186" name="Text 17"/>
          <p:cNvSpPr/>
          <p:nvPr/>
        </p:nvSpPr>
        <p:spPr bwMode="auto">
          <a:xfrm>
            <a:off x="5586984"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LLM</a:t>
            </a:r>
            <a:endParaRPr lang="en-US" sz="1050"/>
          </a:p>
          <a:p>
            <a:pPr marL="0" indent="0" algn="ctr">
              <a:buNone/>
              <a:defRPr/>
            </a:pPr>
            <a:r>
              <a:rPr lang="en-US" sz="1050" b="1">
                <a:solidFill>
                  <a:srgbClr val="FFFFFF"/>
                </a:solidFill>
                <a:latin typeface="Calibri"/>
                <a:ea typeface="Calibri"/>
                <a:cs typeface="Calibri"/>
              </a:rPr>
              <a:t>Labeling</a:t>
            </a:r>
            <a:endParaRPr lang="en-US" sz="1050"/>
          </a:p>
        </p:txBody>
      </p:sp>
      <p:sp>
        <p:nvSpPr>
          <p:cNvPr id="283757778" name="Text 18"/>
          <p:cNvSpPr/>
          <p:nvPr/>
        </p:nvSpPr>
        <p:spPr bwMode="auto">
          <a:xfrm>
            <a:off x="5586984"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Deviation profile</a:t>
            </a:r>
            <a:endParaRPr lang="en-US" sz="850"/>
          </a:p>
          <a:p>
            <a:pPr marL="0" indent="0" algn="ctr">
              <a:buNone/>
              <a:defRPr/>
            </a:pPr>
            <a:r>
              <a:rPr lang="en-US" sz="850">
                <a:solidFill>
                  <a:srgbClr val="CCFBF1"/>
                </a:solidFill>
                <a:latin typeface="Calibri"/>
                <a:ea typeface="Calibri"/>
                <a:cs typeface="Calibri"/>
              </a:rPr>
              <a:t>→ clinical name</a:t>
            </a:r>
            <a:endParaRPr lang="en-US" sz="850"/>
          </a:p>
        </p:txBody>
      </p:sp>
      <p:sp>
        <p:nvSpPr>
          <p:cNvPr id="968613841" name="Shape 19"/>
          <p:cNvSpPr/>
          <p:nvPr/>
        </p:nvSpPr>
        <p:spPr bwMode="auto">
          <a:xfrm>
            <a:off x="6995160" y="1536192"/>
            <a:ext cx="256032" cy="0"/>
          </a:xfrm>
          <a:prstGeom prst="line">
            <a:avLst/>
          </a:prstGeom>
          <a:noFill/>
          <a:ln w="25400">
            <a:solidFill>
              <a:srgbClr val="94A3B8"/>
            </a:solidFill>
            <a:prstDash val="solid"/>
            <a:tailEnd type="arrow"/>
          </a:ln>
        </p:spPr>
        <p:txBody>
          <a:bodyPr/>
          <a:p/>
        </p:txBody>
      </p:sp>
      <p:sp>
        <p:nvSpPr>
          <p:cNvPr id="2014888669" name="Shape 20"/>
          <p:cNvSpPr/>
          <p:nvPr/>
        </p:nvSpPr>
        <p:spPr bwMode="auto">
          <a:xfrm>
            <a:off x="7251192" y="1078992"/>
            <a:ext cx="1444752" cy="914400"/>
          </a:xfrm>
          <a:prstGeom prst="rect">
            <a:avLst/>
          </a:prstGeom>
          <a:solidFill>
            <a:srgbClr val="16A34A"/>
          </a:solidFill>
          <a:ln w="12700">
            <a:solidFill>
              <a:srgbClr val="16A34A"/>
            </a:solidFill>
            <a:prstDash val="solid"/>
          </a:ln>
          <a:effectLst>
            <a:outerShdw blurRad="76200" dist="25400" dir="8100000" sx="100000" sy="100000" kx="0" ky="0" algn="bl" rotWithShape="0">
              <a:srgbClr val="000000">
                <a:alpha val="10000"/>
              </a:srgbClr>
            </a:outerShdw>
          </a:effectLst>
        </p:spPr>
        <p:txBody>
          <a:bodyPr/>
          <a:p/>
        </p:txBody>
      </p:sp>
      <p:sp>
        <p:nvSpPr>
          <p:cNvPr id="1307603573" name="Text 21"/>
          <p:cNvSpPr/>
          <p:nvPr/>
        </p:nvSpPr>
        <p:spPr bwMode="auto">
          <a:xfrm>
            <a:off x="7287768" y="1124712"/>
            <a:ext cx="1371600" cy="402336"/>
          </a:xfrm>
          <a:prstGeom prst="rect">
            <a:avLst/>
          </a:prstGeom>
          <a:noFill/>
          <a:ln/>
        </p:spPr>
        <p:txBody>
          <a:bodyPr wrap="square" lIns="0" tIns="0" rIns="0" bIns="0" rtlCol="0" anchor="ctr"/>
          <a:lstStyle/>
          <a:p>
            <a:pPr marL="0" indent="0" algn="ctr">
              <a:buNone/>
              <a:defRPr/>
            </a:pPr>
            <a:r>
              <a:rPr lang="en-US" sz="1050" b="1">
                <a:solidFill>
                  <a:srgbClr val="FFFFFF"/>
                </a:solidFill>
                <a:latin typeface="Calibri"/>
                <a:ea typeface="Calibri"/>
                <a:cs typeface="Calibri"/>
              </a:rPr>
              <a:t>LogReg</a:t>
            </a:r>
            <a:endParaRPr lang="en-US" sz="1050"/>
          </a:p>
          <a:p>
            <a:pPr marL="0" indent="0" algn="ctr">
              <a:buNone/>
              <a:defRPr/>
            </a:pPr>
            <a:r>
              <a:rPr lang="en-US" sz="1050" b="1">
                <a:solidFill>
                  <a:srgbClr val="FFFFFF"/>
                </a:solidFill>
                <a:latin typeface="Calibri"/>
                <a:ea typeface="Calibri"/>
                <a:cs typeface="Calibri"/>
              </a:rPr>
              <a:t>Probe</a:t>
            </a:r>
            <a:endParaRPr lang="en-US" sz="1050"/>
          </a:p>
        </p:txBody>
      </p:sp>
      <p:sp>
        <p:nvSpPr>
          <p:cNvPr id="1529796130" name="Text 22"/>
          <p:cNvSpPr/>
          <p:nvPr/>
        </p:nvSpPr>
        <p:spPr bwMode="auto">
          <a:xfrm>
            <a:off x="7287768" y="1527048"/>
            <a:ext cx="1371600" cy="411480"/>
          </a:xfrm>
          <a:prstGeom prst="rect">
            <a:avLst/>
          </a:prstGeom>
          <a:noFill/>
          <a:ln/>
        </p:spPr>
        <p:txBody>
          <a:bodyPr wrap="square" lIns="0" tIns="0" rIns="0" bIns="0" rtlCol="0" anchor="t"/>
          <a:lstStyle/>
          <a:p>
            <a:pPr marL="0" indent="0" algn="ctr">
              <a:buNone/>
              <a:defRPr/>
            </a:pPr>
            <a:r>
              <a:rPr lang="en-US" sz="850">
                <a:solidFill>
                  <a:srgbClr val="CCFBF1"/>
                </a:solidFill>
                <a:latin typeface="Calibri"/>
                <a:ea typeface="Calibri"/>
                <a:cs typeface="Calibri"/>
              </a:rPr>
              <a:t>30 concept scores</a:t>
            </a:r>
            <a:endParaRPr lang="en-US" sz="850"/>
          </a:p>
          <a:p>
            <a:pPr marL="0" indent="0" algn="ctr">
              <a:buNone/>
              <a:defRPr/>
            </a:pPr>
            <a:r>
              <a:rPr lang="en-US" sz="850">
                <a:solidFill>
                  <a:srgbClr val="CCFBF1"/>
                </a:solidFill>
                <a:latin typeface="Calibri"/>
                <a:ea typeface="Calibri"/>
                <a:cs typeface="Calibri"/>
              </a:rPr>
              <a:t>→ diagnosis</a:t>
            </a:r>
            <a:endParaRPr lang="en-US" sz="850"/>
          </a:p>
        </p:txBody>
      </p:sp>
      <p:sp>
        <p:nvSpPr>
          <p:cNvPr id="1460799671" name="Shape 23"/>
          <p:cNvSpPr/>
          <p:nvPr/>
        </p:nvSpPr>
        <p:spPr bwMode="auto">
          <a:xfrm>
            <a:off x="228600" y="2212848"/>
            <a:ext cx="4206240" cy="2606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txBody>
          <a:bodyPr/>
          <a:p/>
        </p:txBody>
      </p:sp>
      <p:sp>
        <p:nvSpPr>
          <p:cNvPr id="697885097" name="Shape 24"/>
          <p:cNvSpPr/>
          <p:nvPr/>
        </p:nvSpPr>
        <p:spPr bwMode="auto">
          <a:xfrm>
            <a:off x="228600" y="2212848"/>
            <a:ext cx="64008" cy="2606040"/>
          </a:xfrm>
          <a:prstGeom prst="rect">
            <a:avLst/>
          </a:prstGeom>
          <a:solidFill>
            <a:srgbClr val="0D9488"/>
          </a:solidFill>
          <a:ln w="12700">
            <a:solidFill>
              <a:srgbClr val="0D9488"/>
            </a:solidFill>
            <a:prstDash val="solid"/>
          </a:ln>
        </p:spPr>
        <p:txBody>
          <a:bodyPr/>
          <a:p/>
        </p:txBody>
      </p:sp>
      <p:sp>
        <p:nvSpPr>
          <p:cNvPr id="1419632119" name="Text 25"/>
          <p:cNvSpPr/>
          <p:nvPr/>
        </p:nvSpPr>
        <p:spPr bwMode="auto">
          <a:xfrm>
            <a:off x="411480" y="2304288"/>
            <a:ext cx="3749040" cy="347472"/>
          </a:xfrm>
          <a:prstGeom prst="rect">
            <a:avLst/>
          </a:prstGeom>
          <a:noFill/>
          <a:ln/>
        </p:spPr>
        <p:txBody>
          <a:bodyPr wrap="square" lIns="0" tIns="0" rIns="0" bIns="0" rtlCol="0" anchor="ctr"/>
          <a:lstStyle/>
          <a:p>
            <a:pPr marL="0" indent="0">
              <a:buNone/>
              <a:defRPr/>
            </a:pPr>
            <a:r>
              <a:rPr lang="en-US" sz="1250" b="1">
                <a:solidFill>
                  <a:srgbClr val="1E293B"/>
                </a:solidFill>
                <a:latin typeface="Calibri"/>
                <a:ea typeface="Calibri"/>
                <a:cs typeface="Calibri"/>
              </a:rPr>
              <a:t>LLM-Mediated Grounding (Gap 3)</a:t>
            </a:r>
            <a:endParaRPr lang="en-US" sz="1250"/>
          </a:p>
        </p:txBody>
      </p:sp>
      <p:sp>
        <p:nvSpPr>
          <p:cNvPr id="1722470215" name="Text 26"/>
          <p:cNvSpPr/>
          <p:nvPr/>
        </p:nvSpPr>
        <p:spPr bwMode="auto">
          <a:xfrm>
            <a:off x="411480" y="2679192"/>
            <a:ext cx="3749040" cy="2029968"/>
          </a:xfrm>
          <a:prstGeom prst="rect">
            <a:avLst/>
          </a:prstGeom>
          <a:noFill/>
          <a:ln/>
        </p:spPr>
        <p:txBody>
          <a:bodyPr wrap="square" lIns="0" tIns="0" rIns="0" bIns="0" rtlCol="0" anchor="t"/>
          <a:lstStyle/>
          <a:p>
            <a:pPr marL="342900" indent="-342900">
              <a:spcAft>
                <a:spcPts val="600"/>
              </a:spcAft>
              <a:buSzPct val="100000"/>
              <a:buChar char="•"/>
              <a:defRPr/>
            </a:pPr>
            <a:r>
              <a:rPr lang="en-US" sz="1150">
                <a:solidFill>
                  <a:srgbClr val="475569"/>
                </a:solidFill>
                <a:latin typeface="Calibri"/>
                <a:ea typeface="Calibri"/>
                <a:cs typeface="Calibri"/>
              </a:rPr>
              <a:t>GMM centroid = mean value of all 34 tests for records in that cluster</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Deviation computed: (centroid − population_mean) / std per test</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LLM receives: 'CBC cluster 4: LDL +2.1σ, cholesterol +1.8σ, HDL −0.3σ...'</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LLM suggests label + confidence; human clinician validates or corrects</a:t>
            </a:r>
            <a:endParaRPr lang="en-US" sz="1150"/>
          </a:p>
        </p:txBody>
      </p:sp>
      <p:sp>
        <p:nvSpPr>
          <p:cNvPr id="2112828582" name="Shape 27"/>
          <p:cNvSpPr/>
          <p:nvPr/>
        </p:nvSpPr>
        <p:spPr bwMode="auto">
          <a:xfrm>
            <a:off x="4617720" y="2212848"/>
            <a:ext cx="4297680" cy="2606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txBody>
          <a:bodyPr/>
          <a:p/>
        </p:txBody>
      </p:sp>
      <p:sp>
        <p:nvSpPr>
          <p:cNvPr id="1660262658" name="Shape 28"/>
          <p:cNvSpPr/>
          <p:nvPr/>
        </p:nvSpPr>
        <p:spPr bwMode="auto">
          <a:xfrm>
            <a:off x="4617720" y="2212848"/>
            <a:ext cx="64008" cy="2606040"/>
          </a:xfrm>
          <a:prstGeom prst="rect">
            <a:avLst/>
          </a:prstGeom>
          <a:solidFill>
            <a:srgbClr val="F59E0B"/>
          </a:solidFill>
          <a:ln w="12700">
            <a:solidFill>
              <a:srgbClr val="F59E0B"/>
            </a:solidFill>
            <a:prstDash val="solid"/>
          </a:ln>
        </p:spPr>
        <p:txBody>
          <a:bodyPr/>
          <a:p/>
        </p:txBody>
      </p:sp>
      <p:sp>
        <p:nvSpPr>
          <p:cNvPr id="863735946" name="Text 29"/>
          <p:cNvSpPr/>
          <p:nvPr/>
        </p:nvSpPr>
        <p:spPr bwMode="auto">
          <a:xfrm>
            <a:off x="4800600" y="2304288"/>
            <a:ext cx="3840480" cy="347472"/>
          </a:xfrm>
          <a:prstGeom prst="rect">
            <a:avLst/>
          </a:prstGeom>
          <a:noFill/>
          <a:ln/>
        </p:spPr>
        <p:txBody>
          <a:bodyPr wrap="square" lIns="0" tIns="0" rIns="0" bIns="0" rtlCol="0" anchor="ctr"/>
          <a:lstStyle/>
          <a:p>
            <a:pPr marL="0" indent="0">
              <a:buNone/>
              <a:defRPr/>
            </a:pPr>
            <a:r>
              <a:rPr lang="en-US" sz="1250" b="1">
                <a:solidFill>
                  <a:srgbClr val="1E293B"/>
                </a:solidFill>
                <a:latin typeface="Calibri"/>
                <a:ea typeface="Calibri"/>
                <a:cs typeface="Calibri"/>
              </a:rPr>
              <a:t>PSFTT: Panel-Structured FT-Transformer</a:t>
            </a:r>
            <a:endParaRPr lang="en-US" sz="1250"/>
          </a:p>
        </p:txBody>
      </p:sp>
      <p:sp>
        <p:nvSpPr>
          <p:cNvPr id="61983933" name="Text 30"/>
          <p:cNvSpPr/>
          <p:nvPr/>
        </p:nvSpPr>
        <p:spPr bwMode="auto">
          <a:xfrm>
            <a:off x="4800600" y="2679192"/>
            <a:ext cx="3840480" cy="2029968"/>
          </a:xfrm>
          <a:prstGeom prst="rect">
            <a:avLst/>
          </a:prstGeom>
          <a:noFill/>
          <a:ln/>
        </p:spPr>
        <p:txBody>
          <a:bodyPr wrap="square" lIns="0" tIns="0" rIns="0" bIns="0" rtlCol="0" anchor="t"/>
          <a:lstStyle/>
          <a:p>
            <a:pPr marL="342900" indent="-342900">
              <a:spcAft>
                <a:spcPts val="600"/>
              </a:spcAft>
              <a:buSzPct val="100000"/>
              <a:buChar char="•"/>
              <a:defRPr/>
            </a:pPr>
            <a:r>
              <a:rPr lang="en-US" sz="1150">
                <a:solidFill>
                  <a:srgbClr val="475569"/>
                </a:solidFill>
                <a:latin typeface="Calibri"/>
                <a:ea typeface="Calibri"/>
                <a:cs typeface="Calibri"/>
              </a:rPr>
              <a:t>Custom tokenizer: each lab test has its own weight vector  Tᵢ = xᵢ·Wᵢ + bᵢ</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Panel Positional Encoding: CBC=0, BMP=1, Lipid=2 — encodes clinical domain knowledge</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Two-scale SSL: within-panel masking + cross-panel dropout (addresses Lab-MAE gap)</a:t>
            </a:r>
            <a:endParaRPr lang="en-US" sz="1150"/>
          </a:p>
          <a:p>
            <a:pPr marL="342900" indent="-342900">
              <a:spcAft>
                <a:spcPts val="600"/>
              </a:spcAft>
              <a:buSzPct val="100000"/>
              <a:buChar char="•"/>
              <a:defRPr/>
            </a:pPr>
            <a:r>
              <a:rPr lang="en-US" sz="1150">
                <a:solidFill>
                  <a:srgbClr val="475569"/>
                </a:solidFill>
                <a:latin typeface="Calibri"/>
                <a:ea typeface="Calibri"/>
                <a:cs typeface="Calibri"/>
              </a:rPr>
              <a:t>Per-panel embeddings: [N × 3 × 384-dim] fed to per-panel GMM independently</a:t>
            </a:r>
            <a:endParaRPr lang="en-US" sz="11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4F8FF"/>
        </a:solidFill>
      </p:bgPr>
    </p:bg>
    <p:spTree>
      <p:nvGrpSpPr>
        <p:cNvPr id="1" name=""/>
        <p:cNvGrpSpPr/>
        <p:nvPr/>
      </p:nvGrpSpPr>
      <p:grpSpPr bwMode="auto">
        <a:xfrm>
          <a:off x="0" y="0"/>
          <a:ext cx="0" cy="0"/>
          <a:chOff x="0" y="0"/>
          <a:chExt cx="0" cy="0"/>
        </a:xfrm>
      </p:grpSpPr>
      <p:sp>
        <p:nvSpPr>
          <p:cNvPr id="1873403868" name="Text 1"/>
          <p:cNvSpPr/>
          <p:nvPr/>
        </p:nvSpPr>
        <p:spPr bwMode="auto">
          <a:xfrm>
            <a:off x="228600" y="164592"/>
            <a:ext cx="8686800" cy="512064"/>
          </a:xfrm>
          <a:prstGeom prst="rect">
            <a:avLst/>
          </a:prstGeom>
          <a:noFill/>
          <a:ln/>
        </p:spPr>
        <p:txBody>
          <a:bodyPr wrap="square" lIns="0" tIns="0" rIns="0" bIns="0" rtlCol="0" anchor="ctr"/>
          <a:lstStyle/>
          <a:p>
            <a:r>
              <a:t>All 30 Discovered Lab Concepts — NHANES (thesis Table 13)</a:t>
            </a:r>
          </a:p>
        </p:txBody>
      </p:sp>
      <p:sp>
        <p:nvSpPr>
          <p:cNvPr id="1732605534" name="Text 2"/>
          <p:cNvSpPr/>
          <p:nvPr/>
        </p:nvSpPr>
        <p:spPr bwMode="auto">
          <a:xfrm>
            <a:off x="228600" y="667512"/>
            <a:ext cx="8686800" cy="246888"/>
          </a:xfrm>
          <a:prstGeom prst="rect">
            <a:avLst/>
          </a:prstGeom>
          <a:noFill/>
          <a:ln/>
        </p:spPr>
        <p:txBody>
          <a:bodyPr wrap="square" lIns="0" tIns="0" rIns="0" bIns="0" rtlCol="0" anchor="ctr"/>
          <a:lstStyle/>
          <a:p>
            <a:r>
              <a:t>Named by LLM from deviation profiles only — zero diagnosis labels at training. CBC, Biochem, Lipid: 10 GMM clusters each. Representative rows from Table 13:</a:t>
            </a:r>
          </a:p>
        </p:txBody>
      </p:sp>
      <p:sp>
        <p:nvSpPr>
          <p:cNvPr id="190804887" name="Text 5"/>
          <p:cNvSpPr/>
          <p:nvPr/>
        </p:nvSpPr>
        <p:spPr bwMode="auto">
          <a:xfrm>
            <a:off x="365760" y="1060704"/>
            <a:ext cx="8321039" cy="493776"/>
          </a:xfrm>
          <a:prstGeom prst="rect">
            <a:avLst/>
          </a:prstGeom>
          <a:noFill/>
          <a:ln/>
        </p:spPr>
        <p:txBody>
          <a:bodyPr wrap="square" lIns="0" tIns="0" rIns="0" bIns="0" rtlCol="0" anchor="ctr"/>
          <a:lstStyle/>
          <a:p>
            <a:r>
              <a:t>30/30 clusters named; &gt;90% LLM acceptance (dissertation §6.1.4). Healthy Lipid cluster (healthy_population, n≈1,221) noted in thesis.</a:t>
            </a:r>
          </a:p>
        </p:txBody>
      </p:sp>
      <p:sp>
        <p:nvSpPr>
          <p:cNvPr id="1873403869" name="TextBox 1873403868"/>
          <p:cNvSpPr txBox="1"/>
          <p:nvPr/>
        </p:nvSpPr>
        <p:spPr>
          <a:xfrm>
            <a:off x="411480" y="1371600"/>
            <a:ext cx="8321040" cy="4892040"/>
          </a:xfrm>
          <a:prstGeom prst="rect">
            <a:avLst/>
          </a:prstGeom>
          <a:noFill/>
        </p:spPr>
        <p:txBody>
          <a:bodyPr wrap="square">
            <a:spAutoFit/>
          </a:bodyPr>
          <a:lstStyle/>
          <a:p>
            <a:pPr>
              <a:defRPr sz="1200"/>
            </a:pPr>
            <a:r>
              <a:t>CBC (examples)</a:t>
            </a:r>
          </a:p>
          <a:p>
            <a:pPr>
              <a:defRPr sz="1200"/>
            </a:pPr>
            <a:r>
              <a:t>• cbc:5 — metabolic_syndrome (n=3,014)  ·  DM enrichment 1.53×</a:t>
            </a:r>
          </a:p>
          <a:p>
            <a:pPr>
              <a:defRPr sz="1200"/>
            </a:pPr>
            <a:r>
              <a:t>• cbc:3 — pre_diabetes (n=1,350)  ·  1.50×</a:t>
            </a:r>
          </a:p>
          <a:p>
            <a:pPr>
              <a:defRPr sz="1200"/>
            </a:pPr>
            <a:r>
              <a:t>• cbc:6 — hypercholesterolemia (n=1,011)  ·  0.30×</a:t>
            </a:r>
          </a:p>
          <a:p>
            <a:pPr>
              <a:defRPr sz="1200"/>
            </a:pPr>
          </a:p>
          <a:p>
            <a:pPr>
              <a:defRPr sz="1200"/>
            </a:pPr>
            <a:r>
              <a:t>Biochem (examples)</a:t>
            </a:r>
          </a:p>
          <a:p>
            <a:pPr>
              <a:defRPr sz="1200"/>
            </a:pPr>
            <a:r>
              <a:t>• biochem:0 — metabolic_syndrome (n=3,578)  ·  1.46×</a:t>
            </a:r>
          </a:p>
          <a:p>
            <a:pPr>
              <a:defRPr sz="1200"/>
            </a:pPr>
            <a:r>
              <a:t>• biochem:5 — postprandial_hyperglycemia (n=1,198)  ·  1.42×</a:t>
            </a:r>
          </a:p>
          <a:p>
            <a:pPr>
              <a:defRPr sz="1200"/>
            </a:pPr>
            <a:r>
              <a:t>• biochem:8 — hyperlipidemia_pattern (n=766)  ·  0.39×</a:t>
            </a:r>
          </a:p>
          <a:p>
            <a:pPr>
              <a:defRPr sz="1200"/>
            </a:pPr>
          </a:p>
          <a:p>
            <a:pPr>
              <a:defRPr sz="1200"/>
            </a:pPr>
            <a:r>
              <a:t>Lipid (examples)</a:t>
            </a:r>
          </a:p>
          <a:p>
            <a:pPr>
              <a:defRPr sz="1200"/>
            </a:pPr>
            <a:r>
              <a:t>• lipid:6 — mild_hyperglycemia (n=1,131) — max DM enrichment 1.59×</a:t>
            </a:r>
          </a:p>
          <a:p>
            <a:pPr>
              <a:defRPr sz="1200"/>
            </a:pPr>
            <a:r>
              <a:t>• lipid:9 — metabolic_syndrome (n=2,740)  ·  1.54×</a:t>
            </a:r>
          </a:p>
          <a:p>
            <a:pPr>
              <a:defRPr sz="1200"/>
            </a:pPr>
            <a:r>
              <a:t>• lipid:7 — hyperlipidemia_pattern (n=2,588)  ·  0.45×</a:t>
            </a:r>
          </a:p>
          <a:p>
            <a:pPr>
              <a:defRPr sz="1200"/>
            </a:pPr>
          </a:p>
          <a:p>
            <a:pPr>
              <a:defRPr sz="1200"/>
            </a:pPr>
            <a:r>
              <a:t>See dissertation Table 13 for all 30 cluster IDs and labels.</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4F8FF"/>
        </a:solidFill>
      </p:bgPr>
    </p:bg>
    <p:spTree>
      <p:nvGrpSpPr>
        <p:cNvPr id="1" name=""/>
        <p:cNvGrpSpPr/>
        <p:nvPr/>
      </p:nvGrpSpPr>
      <p:grpSpPr bwMode="auto">
        <a:xfrm>
          <a:off x="0" y="0"/>
          <a:ext cx="0" cy="0"/>
          <a:chOff x="0" y="0"/>
          <a:chExt cx="0" cy="0"/>
        </a:xfrm>
      </p:grpSpPr>
      <p:sp>
        <p:nvSpPr>
          <p:cNvPr id="1065504356" name="Shape 0"/>
          <p:cNvSpPr/>
          <p:nvPr/>
        </p:nvSpPr>
        <p:spPr bwMode="auto">
          <a:xfrm>
            <a:off x="0" y="0"/>
            <a:ext cx="118872" cy="5143500"/>
          </a:xfrm>
          <a:prstGeom prst="rect">
            <a:avLst/>
          </a:prstGeom>
          <a:solidFill>
            <a:srgbClr val="0D9488"/>
          </a:solidFill>
          <a:ln w="12700">
            <a:solidFill>
              <a:srgbClr val="0D9488"/>
            </a:solidFill>
            <a:prstDash val="solid"/>
          </a:ln>
        </p:spPr>
        <p:txBody>
          <a:bodyPr/>
          <a:p/>
        </p:txBody>
      </p:sp>
      <p:sp>
        <p:nvSpPr>
          <p:cNvPr id="1494123965" name="Text 1"/>
          <p:cNvSpPr/>
          <p:nvPr/>
        </p:nvSpPr>
        <p:spPr bwMode="auto">
          <a:xfrm>
            <a:off x="228600" y="164592"/>
            <a:ext cx="8686800" cy="512064"/>
          </a:xfrm>
          <a:prstGeom prst="rect">
            <a:avLst/>
          </a:prstGeom>
          <a:noFill/>
          <a:ln/>
        </p:spPr>
        <p:txBody>
          <a:bodyPr wrap="square" lIns="0" tIns="0" rIns="0" bIns="0" rtlCol="0" anchor="ctr"/>
          <a:lstStyle/>
          <a:p>
            <a:r>
              <a:t>Classification Results: Image vs Tabular Domains</a:t>
            </a:r>
          </a:p>
        </p:txBody>
      </p:sp>
      <p:sp>
        <p:nvSpPr>
          <p:cNvPr id="1587354272" name="Text 2"/>
          <p:cNvSpPr/>
          <p:nvPr/>
        </p:nvSpPr>
        <p:spPr bwMode="auto">
          <a:xfrm>
            <a:off x="228600" y="667512"/>
            <a:ext cx="8686800" cy="246888"/>
          </a:xfrm>
          <a:prstGeom prst="rect">
            <a:avLst/>
          </a:prstGeom>
          <a:noFill/>
          <a:ln/>
        </p:spPr>
        <p:txBody>
          <a:bodyPr wrap="square" lIns="0" tIns="0" rIns="0" bIns="0" rtlCol="0" anchor="ctr"/>
          <a:lstStyle/>
          <a:p>
            <a:r>
              <a:t>Image (STL-10): DIFE concept scores vs raw L12 baseline — test accuracy 98.9%, macro F1 = 0.99, AUC-ROC 0.99 (thesis Table 11; per-class bird / car / cat balanced). No accuracy–interpretability trade-off observed on this task.</a:t>
            </a:r>
          </a:p>
          <a:p/>
          <a:p>
            <a:r>
              <a:t>Tabular (NHANES): LogReg on 30 concept scores — no diagnosis labels used during concept learning.</a:t>
            </a:r>
          </a:p>
        </p:txBody>
      </p:sp>
      <p:sp>
        <p:nvSpPr>
          <p:cNvPr id="1891956484" name="Shape 3"/>
          <p:cNvSpPr/>
          <p:nvPr/>
        </p:nvSpPr>
        <p:spPr bwMode="auto">
          <a:xfrm>
            <a:off x="228600" y="896112"/>
            <a:ext cx="8686800" cy="22860"/>
          </a:xfrm>
          <a:prstGeom prst="rect">
            <a:avLst/>
          </a:prstGeom>
          <a:solidFill>
            <a:srgbClr val="0D9488"/>
          </a:solidFill>
          <a:ln w="12700">
            <a:solidFill>
              <a:srgbClr val="0D9488"/>
            </a:solidFill>
            <a:prstDash val="solid"/>
          </a:ln>
        </p:spPr>
        <p:txBody>
          <a:bodyPr/>
          <a:p/>
        </p:txBody>
      </p:sp>
      <p:graphicFrame>
        <p:nvGraphicFramePr>
          <p:cNvPr id="15333166" name="Chart 0" descr=""/>
          <p:cNvGraphicFramePr>
            <a:graphicFrameLocks xmlns:a="http://schemas.openxmlformats.org/drawingml/2006/main"/>
          </p:cNvGraphicFramePr>
          <p:nvPr/>
        </p:nvGraphicFramePr>
        <p:xfrm rot="0">
          <a:off x="228600" y="1051560"/>
          <a:ext cx="425196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984471994" name="Text 4"/>
          <p:cNvSpPr/>
          <p:nvPr/>
        </p:nvSpPr>
        <p:spPr bwMode="auto">
          <a:xfrm>
            <a:off x="228600" y="4005072"/>
            <a:ext cx="4251960" cy="274320"/>
          </a:xfrm>
          <a:prstGeom prst="rect">
            <a:avLst/>
          </a:prstGeom>
          <a:noFill/>
          <a:ln/>
        </p:spPr>
        <p:txBody>
          <a:bodyPr wrap="square" lIns="0" tIns="0" rIns="0" bIns="0" rtlCol="0" anchor="ctr"/>
          <a:lstStyle/>
          <a:p>
            <a:pPr marL="0" indent="0" algn="ctr">
              <a:buNone/>
              <a:defRPr/>
            </a:pPr>
            <a:r>
              <a:rPr lang="en-US" sz="1000" i="1">
                <a:solidFill>
                  <a:srgbClr val="94A3B8"/>
                </a:solidFill>
                <a:latin typeface="Calibri"/>
                <a:ea typeface="Calibri"/>
                <a:cs typeface="Calibri"/>
              </a:rPr>
              <a:t>Classification accuracy (%)</a:t>
            </a:r>
            <a:endParaRPr lang="en-US" sz="1000"/>
          </a:p>
        </p:txBody>
      </p:sp>
      <p:sp>
        <p:nvSpPr>
          <p:cNvPr id="239474053" name="Shape 5"/>
          <p:cNvSpPr/>
          <p:nvPr/>
        </p:nvSpPr>
        <p:spPr bwMode="auto">
          <a:xfrm>
            <a:off x="4663440" y="1051560"/>
            <a:ext cx="4251960" cy="182880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txBody>
          <a:bodyPr/>
          <a:p/>
        </p:txBody>
      </p:sp>
      <p:sp>
        <p:nvSpPr>
          <p:cNvPr id="793772256" name="Shape 6"/>
          <p:cNvSpPr/>
          <p:nvPr/>
        </p:nvSpPr>
        <p:spPr bwMode="auto">
          <a:xfrm>
            <a:off x="4663440" y="1051560"/>
            <a:ext cx="64008" cy="1828800"/>
          </a:xfrm>
          <a:prstGeom prst="rect">
            <a:avLst/>
          </a:prstGeom>
          <a:solidFill>
            <a:srgbClr val="F59E0B"/>
          </a:solidFill>
          <a:ln w="12700">
            <a:solidFill>
              <a:srgbClr val="F59E0B"/>
            </a:solidFill>
            <a:prstDash val="solid"/>
          </a:ln>
        </p:spPr>
        <p:txBody>
          <a:bodyPr/>
          <a:p/>
        </p:txBody>
      </p:sp>
      <p:sp>
        <p:nvSpPr>
          <p:cNvPr id="1243386359" name="Text 7"/>
          <p:cNvSpPr/>
          <p:nvPr/>
        </p:nvSpPr>
        <p:spPr bwMode="auto">
          <a:xfrm>
            <a:off x="4846320" y="1124712"/>
            <a:ext cx="3840480" cy="329184"/>
          </a:xfrm>
          <a:prstGeom prst="rect">
            <a:avLst/>
          </a:prstGeom>
          <a:noFill/>
          <a:ln/>
        </p:spPr>
        <p:txBody>
          <a:bodyPr wrap="square" lIns="0" tIns="0" rIns="0" bIns="0" rtlCol="0" anchor="ctr"/>
          <a:lstStyle/>
          <a:p>
            <a:pPr marL="0" indent="0">
              <a:buNone/>
              <a:defRPr/>
            </a:pPr>
            <a:r>
              <a:rPr lang="en-US" sz="1250" b="1">
                <a:solidFill>
                  <a:srgbClr val="1E293B"/>
                </a:solidFill>
                <a:latin typeface="Calibri"/>
                <a:ea typeface="Calibri"/>
                <a:cs typeface="Calibri"/>
              </a:rPr>
              <a:t>Per-Class Performance (Test Set)</a:t>
            </a:r>
            <a:endParaRPr lang="en-US" sz="1250"/>
          </a:p>
        </p:txBody>
      </p:sp>
      <p:graphicFrame>
        <p:nvGraphicFramePr>
          <p:cNvPr id="230224655" name="Table 0"/>
          <p:cNvGraphicFramePr>
            <a:graphicFrameLocks xmlns:a="http://schemas.openxmlformats.org/drawingml/2006/main" noGrp="1"/>
          </p:cNvGraphicFramePr>
          <p:nvPr/>
        </p:nvGraphicFramePr>
        <p:xfrm rot="0">
          <a:off x="4846320" y="1481328"/>
          <a:ext cx="3749040" cy="1234440"/>
        </p:xfrm>
        <a:graphic>
          <a:graphicData uri="http://schemas.openxmlformats.org/drawingml/2006/table">
            <a:tbl>
              <a:tblPr firstRow="0" firstCol="0" lastRow="0" lastCol="0" bandRow="0" bandCol="0"/>
              <a:tblGrid>
                <a:gridCol w="1828800"/>
                <a:gridCol w="914400"/>
                <a:gridCol w="1005840"/>
              </a:tblGrid>
              <a:tr h="308610">
                <a:tc>
                  <a:txBody>
                    <a:bodyPr/>
                    <a:p>
                      <a:pPr marL="0" indent="0">
                        <a:buNone/>
                        <a:defRPr/>
                      </a:pPr>
                      <a:r>
                        <a:rPr lang="en-US" sz="1100" b="1">
                          <a:solidFill>
                            <a:srgbClr val="FFFFFF"/>
                          </a:solidFill>
                          <a:latin typeface="Calibri"/>
                          <a:ea typeface="Calibri"/>
                          <a:cs typeface="Calibri"/>
                        </a:rPr>
                        <a:t>Class</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2D3A6A"/>
                    </a:solidFill>
                  </a:tcPr>
                </a:tc>
                <a:tc>
                  <a:txBody>
                    <a:bodyPr/>
                    <a:p>
                      <a:pPr marL="0" indent="0">
                        <a:buNone/>
                        <a:defRPr/>
                      </a:pPr>
                      <a:r>
                        <a:rPr lang="en-US" sz="1100" b="1">
                          <a:solidFill>
                            <a:srgbClr val="FFFFFF"/>
                          </a:solidFill>
                          <a:latin typeface="Calibri"/>
                          <a:ea typeface="Calibri"/>
                          <a:cs typeface="Calibri"/>
                        </a:rPr>
                        <a:t>Recall</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2D3A6A"/>
                    </a:solidFill>
                  </a:tcPr>
                </a:tc>
                <a:tc>
                  <a:txBody>
                    <a:bodyPr/>
                    <a:p>
                      <a:pPr marL="0" indent="0">
                        <a:buNone/>
                        <a:defRPr/>
                      </a:pPr>
                      <a:r>
                        <a:rPr lang="en-US" sz="1100" b="1">
                          <a:solidFill>
                            <a:srgbClr val="FFFFFF"/>
                          </a:solidFill>
                          <a:latin typeface="Calibri"/>
                          <a:ea typeface="Calibri"/>
                          <a:cs typeface="Calibri"/>
                        </a:rPr>
                        <a:t>F1-score</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2D3A6A"/>
                    </a:solidFill>
                  </a:tcPr>
                </a:tc>
              </a:tr>
              <a:tr h="308610">
                <a:tc>
                  <a:txBody>
                    <a:bodyPr/>
                    <a:p>
                      <a:pPr marL="0" indent="0">
                        <a:buNone/>
                        <a:defRPr/>
                      </a:pPr>
                      <a:r>
                        <a:rPr lang="en-US" sz="1100">
                          <a:solidFill>
                            <a:srgbClr val="1E293B"/>
                          </a:solidFill>
                          <a:latin typeface="Calibri"/>
                          <a:ea typeface="Calibri"/>
                          <a:cs typeface="Calibri"/>
                        </a:rPr>
                        <a:t>diabetes</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FFFFF"/>
                    </a:solidFill>
                  </a:tcPr>
                </a:tc>
                <a:tc>
                  <a:txBody>
                    <a:bodyPr/>
                    <a:p>
                      <a:pPr marL="0" indent="0">
                        <a:buNone/>
                        <a:defRPr/>
                      </a:pPr>
                      <a:r>
                        <a:rPr lang="en-US" sz="1100" b="1">
                          <a:solidFill>
                            <a:srgbClr val="DC2626"/>
                          </a:solidFill>
                          <a:latin typeface="Calibri"/>
                          <a:ea typeface="Calibri"/>
                          <a:cs typeface="Calibri"/>
                        </a:rPr>
                        <a:t>0.05</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FFFFF"/>
                    </a:solidFill>
                  </a:tcPr>
                </a:tc>
                <a:tc>
                  <a:txBody>
                    <a:bodyPr/>
                    <a:p>
                      <a:pPr marL="0" indent="0">
                        <a:buNone/>
                        <a:defRPr/>
                      </a:pPr>
                      <a:r>
                        <a:rPr lang="en-US" sz="1100">
                          <a:solidFill>
                            <a:srgbClr val="DC2626"/>
                          </a:solidFill>
                          <a:latin typeface="Calibri"/>
                          <a:ea typeface="Calibri"/>
                          <a:cs typeface="Calibri"/>
                        </a:rPr>
                        <a:t>0.09</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FFFFF"/>
                    </a:solidFill>
                  </a:tcPr>
                </a:tc>
              </a:tr>
              <a:tr h="308610">
                <a:tc>
                  <a:txBody>
                    <a:bodyPr/>
                    <a:p>
                      <a:pPr marL="0" indent="0">
                        <a:buNone/>
                        <a:defRPr/>
                      </a:pPr>
                      <a:r>
                        <a:rPr lang="en-US" sz="1100">
                          <a:solidFill>
                            <a:srgbClr val="1E293B"/>
                          </a:solidFill>
                          <a:latin typeface="Calibri"/>
                          <a:ea typeface="Calibri"/>
                          <a:cs typeface="Calibri"/>
                        </a:rPr>
                        <a:t>hypertension</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8FAFC"/>
                    </a:solidFill>
                  </a:tcPr>
                </a:tc>
                <a:tc>
                  <a:txBody>
                    <a:bodyPr/>
                    <a:p>
                      <a:pPr marL="0" indent="0">
                        <a:buNone/>
                        <a:defRPr/>
                      </a:pPr>
                      <a:r>
                        <a:rPr lang="en-US" sz="1100" b="1">
                          <a:solidFill>
                            <a:srgbClr val="DC2626"/>
                          </a:solidFill>
                          <a:latin typeface="Calibri"/>
                          <a:ea typeface="Calibri"/>
                          <a:cs typeface="Calibri"/>
                        </a:rPr>
                        <a:t>0.01</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8FAFC"/>
                    </a:solidFill>
                  </a:tcPr>
                </a:tc>
                <a:tc>
                  <a:txBody>
                    <a:bodyPr/>
                    <a:p>
                      <a:pPr marL="0" indent="0">
                        <a:buNone/>
                        <a:defRPr/>
                      </a:pPr>
                      <a:r>
                        <a:rPr lang="en-US" sz="1100">
                          <a:solidFill>
                            <a:srgbClr val="DC2626"/>
                          </a:solidFill>
                          <a:latin typeface="Calibri"/>
                          <a:ea typeface="Calibri"/>
                          <a:cs typeface="Calibri"/>
                        </a:rPr>
                        <a:t>0.02</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8FAFC"/>
                    </a:solidFill>
                  </a:tcPr>
                </a:tc>
              </a:tr>
              <a:tr h="308610">
                <a:tc>
                  <a:txBody>
                    <a:bodyPr/>
                    <a:p>
                      <a:pPr marL="0" indent="0">
                        <a:buNone/>
                        <a:defRPr/>
                      </a:pPr>
                      <a:r>
                        <a:rPr lang="en-US" sz="1100">
                          <a:solidFill>
                            <a:srgbClr val="1E293B"/>
                          </a:solidFill>
                          <a:latin typeface="Calibri"/>
                          <a:ea typeface="Calibri"/>
                          <a:cs typeface="Calibri"/>
                        </a:rPr>
                        <a:t>normal</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FFFFF"/>
                    </a:solidFill>
                  </a:tcPr>
                </a:tc>
                <a:tc>
                  <a:txBody>
                    <a:bodyPr/>
                    <a:p>
                      <a:pPr marL="0" indent="0">
                        <a:buNone/>
                        <a:defRPr/>
                      </a:pPr>
                      <a:r>
                        <a:rPr lang="en-US" sz="1100" b="1">
                          <a:solidFill>
                            <a:srgbClr val="16A34A"/>
                          </a:solidFill>
                          <a:latin typeface="Calibri"/>
                          <a:ea typeface="Calibri"/>
                          <a:cs typeface="Calibri"/>
                        </a:rPr>
                        <a:t>0.98</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FFFFF"/>
                    </a:solidFill>
                  </a:tcPr>
                </a:tc>
                <a:tc>
                  <a:txBody>
                    <a:bodyPr/>
                    <a:p>
                      <a:pPr marL="0" indent="0">
                        <a:buNone/>
                        <a:defRPr/>
                      </a:pPr>
                      <a:r>
                        <a:rPr lang="en-US" sz="1100">
                          <a:solidFill>
                            <a:srgbClr val="16A34A"/>
                          </a:solidFill>
                          <a:latin typeface="Calibri"/>
                          <a:ea typeface="Calibri"/>
                          <a:cs typeface="Calibri"/>
                        </a:rPr>
                        <a:t>0.67</a:t>
                      </a:r>
                      <a:endParaRPr lang="en-US" sz="1100">
                        <a:latin typeface="Calibri"/>
                        <a:ea typeface="Calibri"/>
                        <a:cs typeface="Calibri"/>
                      </a:endParaRPr>
                    </a:p>
                  </a:txBody>
                  <a:tcPr marL="91440" marR="91440" marT="45720" marB="45720" anchor="ctr">
                    <a:lnL w="6350" algn="ctr">
                      <a:solidFill>
                        <a:srgbClr val="E2E8F0"/>
                      </a:solidFill>
                    </a:lnL>
                    <a:lnR w="6350" algn="ctr">
                      <a:solidFill>
                        <a:srgbClr val="E2E8F0"/>
                      </a:solidFill>
                    </a:lnR>
                    <a:lnT w="6350" algn="ctr">
                      <a:solidFill>
                        <a:srgbClr val="E2E8F0"/>
                      </a:solidFill>
                    </a:lnT>
                    <a:lnB w="6350" algn="ctr">
                      <a:solidFill>
                        <a:srgbClr val="E2E8F0"/>
                      </a:solidFill>
                    </a:lnB>
                    <a:solidFill>
                      <a:srgbClr val="FFFFFF"/>
                    </a:solidFill>
                  </a:tcPr>
                </a:tc>
              </a:tr>
            </a:tbl>
          </a:graphicData>
        </a:graphic>
      </p:graphicFrame>
      <p:sp>
        <p:nvSpPr>
          <p:cNvPr id="102635096" name="Shape 8"/>
          <p:cNvSpPr/>
          <p:nvPr/>
        </p:nvSpPr>
        <p:spPr bwMode="auto">
          <a:xfrm>
            <a:off x="4663440" y="2999232"/>
            <a:ext cx="4251960" cy="1801367"/>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txBody>
          <a:bodyPr/>
          <a:p/>
        </p:txBody>
      </p:sp>
      <p:sp>
        <p:nvSpPr>
          <p:cNvPr id="996048811" name="Shape 9"/>
          <p:cNvSpPr/>
          <p:nvPr/>
        </p:nvSpPr>
        <p:spPr bwMode="auto">
          <a:xfrm>
            <a:off x="4663440" y="2999232"/>
            <a:ext cx="64008" cy="1801367"/>
          </a:xfrm>
          <a:prstGeom prst="rect">
            <a:avLst/>
          </a:prstGeom>
          <a:solidFill>
            <a:srgbClr val="0D9488"/>
          </a:solidFill>
          <a:ln w="12700">
            <a:solidFill>
              <a:srgbClr val="0D9488"/>
            </a:solidFill>
            <a:prstDash val="solid"/>
          </a:ln>
        </p:spPr>
        <p:txBody>
          <a:bodyPr/>
          <a:p/>
        </p:txBody>
      </p:sp>
      <p:sp>
        <p:nvSpPr>
          <p:cNvPr id="2113691088" name="Text 10"/>
          <p:cNvSpPr/>
          <p:nvPr/>
        </p:nvSpPr>
        <p:spPr bwMode="auto">
          <a:xfrm>
            <a:off x="4846320" y="3072384"/>
            <a:ext cx="3840480" cy="329184"/>
          </a:xfrm>
          <a:prstGeom prst="rect">
            <a:avLst/>
          </a:prstGeom>
          <a:noFill/>
          <a:ln/>
        </p:spPr>
        <p:txBody>
          <a:bodyPr wrap="square" lIns="0" tIns="0" rIns="0" bIns="0" rtlCol="0" anchor="ctr"/>
          <a:lstStyle/>
          <a:p>
            <a:r>
              <a:t>Interpretation</a:t>
            </a:r>
          </a:p>
          <a:p>
            <a:r>
              <a:t>• Image: strong headroom — interpretable 30-dim concepts beat raw 384-dim features.</a:t>
            </a:r>
          </a:p>
          <a:p>
            <a:r>
              <a:t>• Tabular: 50.9% = 1.53× chance — real signal but classifier collapses toward 'normal'; GMM optimises cluster quality, not decision boundaries.</a:t>
            </a:r>
          </a:p>
          <a:p>
            <a:r>
              <a:t>• Trade-off: mainly in the clinical tabular regime (minority-class recall); the Abstract’s ‘no trade-off’ claim matches the image-domain result vs raw baseline.</a:t>
            </a:r>
          </a:p>
        </p:txBody>
      </p:sp>
      <p:sp>
        <p:nvSpPr>
          <p:cNvPr id="502058940" name="Text 11"/>
          <p:cNvSpPr/>
          <p:nvPr/>
        </p:nvSpPr>
        <p:spPr bwMode="auto">
          <a:xfrm>
            <a:off x="4846320" y="3429000"/>
            <a:ext cx="3931920" cy="1261872"/>
          </a:xfrm>
          <a:prstGeom prst="rect">
            <a:avLst/>
          </a:prstGeom>
          <a:noFill/>
          <a:ln/>
        </p:spPr>
        <p:txBody>
          <a:bodyPr wrap="square" lIns="0" tIns="0" rIns="0" bIns="0" rtlCol="0" anchor="t"/>
          <a:lstStyl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F4F8FF"/>
        </a:solidFill>
      </p:bgPr>
    </p:bg>
    <p:spTree>
      <p:nvGrpSpPr>
        <p:cNvPr id="1" name=""/>
        <p:cNvGrpSpPr/>
        <p:nvPr/>
      </p:nvGrpSpPr>
      <p:grpSpPr bwMode="auto">
        <a:xfrm>
          <a:off x="0" y="0"/>
          <a:ext cx="0" cy="0"/>
          <a:chOff x="0" y="0"/>
          <a:chExt cx="0" cy="0"/>
        </a:xfrm>
      </p:grpSpPr>
      <p:sp>
        <p:nvSpPr>
          <p:cNvPr id="617565274" name="Shape 0"/>
          <p:cNvSpPr/>
          <p:nvPr/>
        </p:nvSpPr>
        <p:spPr bwMode="auto">
          <a:xfrm>
            <a:off x="0" y="0"/>
            <a:ext cx="118872" cy="5143500"/>
          </a:xfrm>
          <a:prstGeom prst="rect">
            <a:avLst/>
          </a:prstGeom>
          <a:solidFill>
            <a:srgbClr val="0D9488"/>
          </a:solidFill>
          <a:ln w="12700">
            <a:solidFill>
              <a:srgbClr val="0D9488"/>
            </a:solidFill>
            <a:prstDash val="solid"/>
          </a:ln>
        </p:spPr>
        <p:txBody>
          <a:bodyPr/>
          <a:p/>
        </p:txBody>
      </p:sp>
      <p:sp>
        <p:nvSpPr>
          <p:cNvPr id="1373912886"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Design Decisions: Three Encoder Innovations Validated by Ablation</a:t>
            </a:r>
            <a:endParaRPr lang="en-US" sz="2500"/>
          </a:p>
        </p:txBody>
      </p:sp>
      <p:sp>
        <p:nvSpPr>
          <p:cNvPr id="1394542287" name="Text 2"/>
          <p:cNvSpPr/>
          <p:nvPr/>
        </p:nvSpPr>
        <p:spPr bwMode="auto">
          <a:xfrm>
            <a:off x="228600" y="667512"/>
            <a:ext cx="8686800" cy="246888"/>
          </a:xfrm>
          <a:prstGeom prst="rect">
            <a:avLst/>
          </a:prstGeom>
          <a:noFill/>
          <a:ln/>
        </p:spPr>
        <p:txBody>
          <a:bodyPr wrap="square" lIns="0" tIns="0" rIns="0" bIns="0" rtlCol="0" anchor="ctr"/>
          <a:lstStyle/>
          <a:p>
            <a:pPr marL="0" indent="0" algn="l">
              <a:buNone/>
              <a:defRPr/>
            </a:pPr>
            <a:r>
              <a:rPr lang="en-US" sz="1100" i="1">
                <a:solidFill>
                  <a:srgbClr val="475569"/>
                </a:solidFill>
                <a:latin typeface="Calibri"/>
                <a:ea typeface="Calibri"/>
                <a:cs typeface="Calibri"/>
              </a:rPr>
              <a:t>Each decision directly addresses one literature gap and is tested against a controlled baseline</a:t>
            </a:r>
            <a:endParaRPr lang="en-US" sz="1100"/>
          </a:p>
        </p:txBody>
      </p:sp>
      <p:sp>
        <p:nvSpPr>
          <p:cNvPr id="1540704614" name="Shape 3"/>
          <p:cNvSpPr/>
          <p:nvPr/>
        </p:nvSpPr>
        <p:spPr bwMode="auto">
          <a:xfrm>
            <a:off x="228600" y="896112"/>
            <a:ext cx="8686800" cy="22860"/>
          </a:xfrm>
          <a:prstGeom prst="rect">
            <a:avLst/>
          </a:prstGeom>
          <a:solidFill>
            <a:srgbClr val="0D9488"/>
          </a:solidFill>
          <a:ln w="12700">
            <a:solidFill>
              <a:srgbClr val="0D9488"/>
            </a:solidFill>
            <a:prstDash val="solid"/>
          </a:ln>
        </p:spPr>
        <p:txBody>
          <a:bodyPr/>
          <a:p/>
        </p:txBody>
      </p:sp>
      <p:sp>
        <p:nvSpPr>
          <p:cNvPr id="54124100" name="Shape 4"/>
          <p:cNvSpPr/>
          <p:nvPr/>
        </p:nvSpPr>
        <p:spPr bwMode="auto">
          <a:xfrm>
            <a:off x="2286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txBody>
          <a:bodyPr/>
          <a:p/>
        </p:txBody>
      </p:sp>
      <p:sp>
        <p:nvSpPr>
          <p:cNvPr id="76292335" name="Shape 5"/>
          <p:cNvSpPr/>
          <p:nvPr/>
        </p:nvSpPr>
        <p:spPr bwMode="auto">
          <a:xfrm>
            <a:off x="228600" y="1024128"/>
            <a:ext cx="64008" cy="3749040"/>
          </a:xfrm>
          <a:prstGeom prst="rect">
            <a:avLst/>
          </a:prstGeom>
          <a:solidFill>
            <a:srgbClr val="1A1F3A"/>
          </a:solidFill>
          <a:ln w="12700">
            <a:solidFill>
              <a:srgbClr val="1A1F3A"/>
            </a:solidFill>
            <a:prstDash val="solid"/>
          </a:ln>
        </p:spPr>
        <p:txBody>
          <a:bodyPr/>
          <a:p/>
        </p:txBody>
      </p:sp>
      <p:sp>
        <p:nvSpPr>
          <p:cNvPr id="1930607140" name="Shape 6"/>
          <p:cNvSpPr/>
          <p:nvPr/>
        </p:nvSpPr>
        <p:spPr bwMode="auto">
          <a:xfrm>
            <a:off x="320040" y="1097280"/>
            <a:ext cx="2212848" cy="384048"/>
          </a:xfrm>
          <a:prstGeom prst="rect">
            <a:avLst/>
          </a:prstGeom>
          <a:solidFill>
            <a:srgbClr val="1A1F3A"/>
          </a:solidFill>
          <a:ln w="12700">
            <a:solidFill>
              <a:srgbClr val="1A1F3A"/>
            </a:solidFill>
            <a:prstDash val="solid"/>
          </a:ln>
        </p:spPr>
        <p:txBody>
          <a:bodyPr/>
          <a:p/>
        </p:txBody>
      </p:sp>
      <p:sp>
        <p:nvSpPr>
          <p:cNvPr id="1134941584" name="Text 7"/>
          <p:cNvSpPr/>
          <p:nvPr/>
        </p:nvSpPr>
        <p:spPr bwMode="auto">
          <a:xfrm>
            <a:off x="320040" y="1097280"/>
            <a:ext cx="2212848" cy="384048"/>
          </a:xfrm>
          <a:prstGeom prst="rect">
            <a:avLst/>
          </a:prstGeom>
          <a:noFill/>
          <a:ln/>
        </p:spPr>
        <p:txBody>
          <a:bodyPr wrap="square" rtlCol="0" anchor="ctr"/>
          <a:lstStyle/>
          <a:p>
            <a:pPr marL="0" indent="0" algn="l">
              <a:buNone/>
              <a:defRPr/>
            </a:pPr>
            <a:r>
              <a:rPr lang="en-US" sz="1100" b="1">
                <a:solidFill>
                  <a:srgbClr val="FFFFFF"/>
                </a:solidFill>
                <a:latin typeface="Calibri"/>
                <a:ea typeface="Calibri"/>
                <a:cs typeface="Calibri"/>
              </a:rPr>
              <a:t>Multi-Layer Extraction</a:t>
            </a:r>
            <a:endParaRPr lang="en-US" sz="1100"/>
          </a:p>
        </p:txBody>
      </p:sp>
      <p:sp>
        <p:nvSpPr>
          <p:cNvPr id="839600342" name="Shape 8"/>
          <p:cNvSpPr/>
          <p:nvPr/>
        </p:nvSpPr>
        <p:spPr bwMode="auto">
          <a:xfrm>
            <a:off x="2487168" y="1115568"/>
            <a:ext cx="484632" cy="347472"/>
          </a:xfrm>
          <a:prstGeom prst="rect">
            <a:avLst/>
          </a:prstGeom>
          <a:solidFill>
            <a:srgbClr val="F59E0B"/>
          </a:solidFill>
          <a:ln w="12700">
            <a:solidFill>
              <a:srgbClr val="F59E0B"/>
            </a:solidFill>
            <a:prstDash val="solid"/>
          </a:ln>
        </p:spPr>
        <p:txBody>
          <a:bodyPr/>
          <a:p/>
        </p:txBody>
      </p:sp>
      <p:sp>
        <p:nvSpPr>
          <p:cNvPr id="1506478188" name="Text 9"/>
          <p:cNvSpPr/>
          <p:nvPr/>
        </p:nvSpPr>
        <p:spPr bwMode="auto">
          <a:xfrm>
            <a:off x="2487168" y="1115568"/>
            <a:ext cx="484632" cy="347472"/>
          </a:xfrm>
          <a:prstGeom prst="rect">
            <a:avLst/>
          </a:prstGeom>
          <a:noFill/>
          <a:ln/>
        </p:spPr>
        <p:txBody>
          <a:bodyPr wrap="square" lIns="0" tIns="0" rIns="0" bIns="0" rtlCol="0" anchor="ctr"/>
          <a:lstStyle/>
          <a:p>
            <a:pPr marL="0" indent="0" algn="ctr">
              <a:buNone/>
              <a:defRPr/>
            </a:pPr>
            <a:r>
              <a:rPr lang="en-US" sz="750" b="1">
                <a:solidFill>
                  <a:srgbClr val="1E293B"/>
                </a:solidFill>
                <a:latin typeface="Calibri"/>
                <a:ea typeface="Calibri"/>
                <a:cs typeface="Calibri"/>
              </a:rPr>
              <a:t>Gap 2</a:t>
            </a:r>
            <a:endParaRPr lang="en-US" sz="750"/>
          </a:p>
        </p:txBody>
      </p:sp>
      <p:sp>
        <p:nvSpPr>
          <p:cNvPr id="311443170" name="Text 10"/>
          <p:cNvSpPr/>
          <p:nvPr/>
        </p:nvSpPr>
        <p:spPr bwMode="auto">
          <a:xfrm>
            <a:off x="393192" y="1591056"/>
            <a:ext cx="2468880" cy="228600"/>
          </a:xfrm>
          <a:prstGeom prst="rect">
            <a:avLst/>
          </a:prstGeom>
          <a:noFill/>
          <a:ln/>
        </p:spPr>
        <p:txBody>
          <a:bodyPr wrap="square" lIns="0" tIns="0" rIns="0" bIns="0" rtlCol="0" anchor="ctr"/>
          <a:lstStyle/>
          <a:p>
            <a:pPr marL="0" indent="0">
              <a:buNone/>
              <a:defRPr/>
            </a:pPr>
            <a:r>
              <a:rPr lang="en-US" sz="950" b="1">
                <a:solidFill>
                  <a:srgbClr val="1A1F3A"/>
                </a:solidFill>
                <a:latin typeface="Calibri"/>
                <a:ea typeface="Calibri"/>
                <a:cs typeface="Calibri"/>
              </a:rPr>
              <a:t>Our Choice:</a:t>
            </a:r>
            <a:endParaRPr lang="en-US" sz="950"/>
          </a:p>
        </p:txBody>
      </p:sp>
      <p:sp>
        <p:nvSpPr>
          <p:cNvPr id="789925671" name="Text 11"/>
          <p:cNvSpPr/>
          <p:nvPr/>
        </p:nvSpPr>
        <p:spPr bwMode="auto">
          <a:xfrm>
            <a:off x="393192" y="1819656"/>
            <a:ext cx="2468880" cy="475488"/>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Concat L2+L4+L6 (lab) / L8+L10+L12 (image)</a:t>
            </a:r>
            <a:endParaRPr lang="en-US" sz="1000"/>
          </a:p>
        </p:txBody>
      </p:sp>
      <p:sp>
        <p:nvSpPr>
          <p:cNvPr id="1599491872" name="Text 12"/>
          <p:cNvSpPr/>
          <p:nvPr/>
        </p:nvSpPr>
        <p:spPr bwMode="auto">
          <a:xfrm>
            <a:off x="393192" y="2340864"/>
            <a:ext cx="2468880" cy="228600"/>
          </a:xfrm>
          <a:prstGeom prst="rect">
            <a:avLst/>
          </a:prstGeom>
          <a:noFill/>
          <a:ln/>
        </p:spPr>
        <p:txBody>
          <a:bodyPr wrap="square" lIns="0" tIns="0" rIns="0" bIns="0" rtlCol="0" anchor="ctr"/>
          <a:lstStyle/>
          <a:p>
            <a:pPr marL="0" indent="0">
              <a:buNone/>
              <a:defRPr/>
            </a:pPr>
            <a:r>
              <a:rPr lang="en-US" sz="950" b="1">
                <a:solidFill>
                  <a:srgbClr val="1A1F3A"/>
                </a:solidFill>
                <a:latin typeface="Calibri"/>
                <a:ea typeface="Calibri"/>
                <a:cs typeface="Calibri"/>
              </a:rPr>
              <a:t>Alternative:</a:t>
            </a:r>
            <a:endParaRPr lang="en-US" sz="950"/>
          </a:p>
        </p:txBody>
      </p:sp>
      <p:sp>
        <p:nvSpPr>
          <p:cNvPr id="191982568" name="Text 13"/>
          <p:cNvSpPr/>
          <p:nvPr/>
        </p:nvSpPr>
        <p:spPr bwMode="auto">
          <a:xfrm>
            <a:off x="393192" y="2569464"/>
            <a:ext cx="2468880" cy="475488"/>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Single final layer only</a:t>
            </a:r>
            <a:endParaRPr lang="en-US" sz="1000"/>
          </a:p>
        </p:txBody>
      </p:sp>
      <p:sp>
        <p:nvSpPr>
          <p:cNvPr id="361055468" name="Text 14"/>
          <p:cNvSpPr/>
          <p:nvPr/>
        </p:nvSpPr>
        <p:spPr bwMode="auto">
          <a:xfrm>
            <a:off x="393192" y="3090672"/>
            <a:ext cx="2468880" cy="228600"/>
          </a:xfrm>
          <a:prstGeom prst="rect">
            <a:avLst/>
          </a:prstGeom>
          <a:noFill/>
          <a:ln/>
        </p:spPr>
        <p:txBody>
          <a:bodyPr wrap="square" lIns="0" tIns="0" rIns="0" bIns="0" rtlCol="0" anchor="ctr"/>
          <a:lstStyle/>
          <a:p>
            <a:pPr marL="0" indent="0">
              <a:buNone/>
              <a:defRPr/>
            </a:pPr>
            <a:r>
              <a:rPr lang="en-US" sz="950" b="1">
                <a:solidFill>
                  <a:srgbClr val="1A1F3A"/>
                </a:solidFill>
                <a:latin typeface="Calibri"/>
                <a:ea typeface="Calibri"/>
                <a:cs typeface="Calibri"/>
              </a:rPr>
              <a:t>Why:</a:t>
            </a:r>
            <a:endParaRPr lang="en-US" sz="950"/>
          </a:p>
        </p:txBody>
      </p:sp>
      <p:sp>
        <p:nvSpPr>
          <p:cNvPr id="672421279" name="Text 15"/>
          <p:cNvSpPr/>
          <p:nvPr/>
        </p:nvSpPr>
        <p:spPr bwMode="auto">
          <a:xfrm>
            <a:off x="393192" y="3319272"/>
            <a:ext cx="2468880" cy="475488"/>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Each layer encodes different abstraction level: syntax → local pattern → semantic structure</a:t>
            </a:r>
            <a:endParaRPr lang="en-US" sz="1000"/>
          </a:p>
        </p:txBody>
      </p:sp>
      <p:sp>
        <p:nvSpPr>
          <p:cNvPr id="1614384788" name="Text 16"/>
          <p:cNvSpPr/>
          <p:nvPr/>
        </p:nvSpPr>
        <p:spPr bwMode="auto">
          <a:xfrm>
            <a:off x="393192" y="3840480"/>
            <a:ext cx="2468880" cy="228600"/>
          </a:xfrm>
          <a:prstGeom prst="rect">
            <a:avLst/>
          </a:prstGeom>
          <a:noFill/>
          <a:ln/>
        </p:spPr>
        <p:txBody>
          <a:bodyPr wrap="square" lIns="0" tIns="0" rIns="0" bIns="0" rtlCol="0" anchor="ctr"/>
          <a:lstStyle/>
          <a:p>
            <a:pPr marL="0" indent="0">
              <a:buNone/>
              <a:defRPr/>
            </a:pPr>
            <a:r>
              <a:rPr lang="en-US" sz="950" b="1">
                <a:solidFill>
                  <a:srgbClr val="1A1F3A"/>
                </a:solidFill>
                <a:latin typeface="Calibri"/>
                <a:ea typeface="Calibri"/>
                <a:cs typeface="Calibri"/>
              </a:rPr>
              <a:t>Ablation:</a:t>
            </a:r>
            <a:endParaRPr lang="en-US" sz="950"/>
          </a:p>
        </p:txBody>
      </p:sp>
      <p:sp>
        <p:nvSpPr>
          <p:cNvPr id="830383596" name="Text 17"/>
          <p:cNvSpPr/>
          <p:nvPr/>
        </p:nvSpPr>
        <p:spPr bwMode="auto">
          <a:xfrm>
            <a:off x="393192" y="4069080"/>
            <a:ext cx="2468880" cy="475488"/>
          </a:xfrm>
          <a:prstGeom prst="rect">
            <a:avLst/>
          </a:prstGeom>
          <a:noFill/>
          <a:ln/>
        </p:spPr>
        <p:txBody>
          <a:bodyPr wrap="square" lIns="0" tIns="0" rIns="0" bIns="0" rtlCol="0" anchor="t"/>
          <a:lstStyle/>
          <a:p>
            <a:pPr marL="0" indent="0">
              <a:buNone/>
              <a:defRPr/>
            </a:pPr>
            <a:r>
              <a:rPr lang="en-US" sz="1000">
                <a:solidFill>
                  <a:srgbClr val="0F766E"/>
                </a:solidFill>
                <a:latin typeface="Calibri"/>
                <a:ea typeface="Calibri"/>
                <a:cs typeface="Calibri"/>
              </a:rPr>
              <a:t>Ablation: single-layer → silhouette score ↓, NMI ↓, class purity ↓</a:t>
            </a:r>
            <a:endParaRPr lang="en-US" sz="1000"/>
          </a:p>
        </p:txBody>
      </p:sp>
      <p:sp>
        <p:nvSpPr>
          <p:cNvPr id="737377191" name="Shape 18"/>
          <p:cNvSpPr/>
          <p:nvPr/>
        </p:nvSpPr>
        <p:spPr bwMode="auto">
          <a:xfrm>
            <a:off x="32004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txBody>
          <a:bodyPr/>
          <a:p/>
        </p:txBody>
      </p:sp>
      <p:sp>
        <p:nvSpPr>
          <p:cNvPr id="576563564" name="Shape 19"/>
          <p:cNvSpPr/>
          <p:nvPr/>
        </p:nvSpPr>
        <p:spPr bwMode="auto">
          <a:xfrm>
            <a:off x="3200400" y="1024128"/>
            <a:ext cx="64008" cy="3749040"/>
          </a:xfrm>
          <a:prstGeom prst="rect">
            <a:avLst/>
          </a:prstGeom>
          <a:solidFill>
            <a:srgbClr val="0D9488"/>
          </a:solidFill>
          <a:ln w="12700">
            <a:solidFill>
              <a:srgbClr val="0D9488"/>
            </a:solidFill>
            <a:prstDash val="solid"/>
          </a:ln>
        </p:spPr>
        <p:txBody>
          <a:bodyPr/>
          <a:p/>
        </p:txBody>
      </p:sp>
      <p:sp>
        <p:nvSpPr>
          <p:cNvPr id="1968907447" name="Shape 20"/>
          <p:cNvSpPr/>
          <p:nvPr/>
        </p:nvSpPr>
        <p:spPr bwMode="auto">
          <a:xfrm>
            <a:off x="3291840" y="1097280"/>
            <a:ext cx="2212848" cy="384048"/>
          </a:xfrm>
          <a:prstGeom prst="rect">
            <a:avLst/>
          </a:prstGeom>
          <a:solidFill>
            <a:srgbClr val="0D9488"/>
          </a:solidFill>
          <a:ln w="12700">
            <a:solidFill>
              <a:srgbClr val="0D9488"/>
            </a:solidFill>
            <a:prstDash val="solid"/>
          </a:ln>
        </p:spPr>
        <p:txBody>
          <a:bodyPr/>
          <a:p/>
        </p:txBody>
      </p:sp>
      <p:sp>
        <p:nvSpPr>
          <p:cNvPr id="1874653509" name="Text 21"/>
          <p:cNvSpPr/>
          <p:nvPr/>
        </p:nvSpPr>
        <p:spPr bwMode="auto">
          <a:xfrm>
            <a:off x="3291840" y="1097280"/>
            <a:ext cx="2212848" cy="384048"/>
          </a:xfrm>
          <a:prstGeom prst="rect">
            <a:avLst/>
          </a:prstGeom>
          <a:noFill/>
          <a:ln/>
        </p:spPr>
        <p:txBody>
          <a:bodyPr wrap="square" rtlCol="0" anchor="ctr"/>
          <a:lstStyle/>
          <a:p>
            <a:pPr marL="0" indent="0" algn="l">
              <a:buNone/>
              <a:defRPr/>
            </a:pPr>
            <a:r>
              <a:rPr lang="en-US" sz="1100" b="1">
                <a:solidFill>
                  <a:srgbClr val="FFFFFF"/>
                </a:solidFill>
                <a:latin typeface="Calibri"/>
                <a:ea typeface="Calibri"/>
                <a:cs typeface="Calibri"/>
              </a:rPr>
              <a:t>Panel Positional Encoding</a:t>
            </a:r>
            <a:endParaRPr lang="en-US" sz="1100"/>
          </a:p>
        </p:txBody>
      </p:sp>
      <p:sp>
        <p:nvSpPr>
          <p:cNvPr id="1186255145" name="Shape 22"/>
          <p:cNvSpPr/>
          <p:nvPr/>
        </p:nvSpPr>
        <p:spPr bwMode="auto">
          <a:xfrm>
            <a:off x="5458968" y="1115568"/>
            <a:ext cx="484632" cy="347472"/>
          </a:xfrm>
          <a:prstGeom prst="rect">
            <a:avLst/>
          </a:prstGeom>
          <a:solidFill>
            <a:srgbClr val="F59E0B"/>
          </a:solidFill>
          <a:ln w="12700">
            <a:solidFill>
              <a:srgbClr val="F59E0B"/>
            </a:solidFill>
            <a:prstDash val="solid"/>
          </a:ln>
        </p:spPr>
        <p:txBody>
          <a:bodyPr/>
          <a:p/>
        </p:txBody>
      </p:sp>
      <p:sp>
        <p:nvSpPr>
          <p:cNvPr id="840756885" name="Text 23"/>
          <p:cNvSpPr/>
          <p:nvPr/>
        </p:nvSpPr>
        <p:spPr bwMode="auto">
          <a:xfrm>
            <a:off x="5458968" y="1115568"/>
            <a:ext cx="484632" cy="347472"/>
          </a:xfrm>
          <a:prstGeom prst="rect">
            <a:avLst/>
          </a:prstGeom>
          <a:noFill/>
          <a:ln/>
        </p:spPr>
        <p:txBody>
          <a:bodyPr wrap="square" lIns="0" tIns="0" rIns="0" bIns="0" rtlCol="0" anchor="ctr"/>
          <a:lstStyle/>
          <a:p>
            <a:pPr marL="0" indent="0" algn="ctr">
              <a:buNone/>
              <a:defRPr/>
            </a:pPr>
            <a:r>
              <a:rPr lang="en-US" sz="750" b="1">
                <a:solidFill>
                  <a:srgbClr val="1E293B"/>
                </a:solidFill>
                <a:latin typeface="Calibri"/>
                <a:ea typeface="Calibri"/>
                <a:cs typeface="Calibri"/>
              </a:rPr>
              <a:t>Domain-specific</a:t>
            </a:r>
            <a:endParaRPr lang="en-US" sz="750"/>
          </a:p>
        </p:txBody>
      </p:sp>
      <p:sp>
        <p:nvSpPr>
          <p:cNvPr id="1185025787" name="Text 24"/>
          <p:cNvSpPr/>
          <p:nvPr/>
        </p:nvSpPr>
        <p:spPr bwMode="auto">
          <a:xfrm>
            <a:off x="3364992" y="1591056"/>
            <a:ext cx="2468880" cy="228600"/>
          </a:xfrm>
          <a:prstGeom prst="rect">
            <a:avLst/>
          </a:prstGeom>
          <a:noFill/>
          <a:ln/>
        </p:spPr>
        <p:txBody>
          <a:bodyPr wrap="square" lIns="0" tIns="0" rIns="0" bIns="0" rtlCol="0" anchor="ctr"/>
          <a:lstStyle/>
          <a:p>
            <a:pPr marL="0" indent="0">
              <a:buNone/>
              <a:defRPr/>
            </a:pPr>
            <a:r>
              <a:rPr lang="en-US" sz="950" b="1">
                <a:solidFill>
                  <a:srgbClr val="0D9488"/>
                </a:solidFill>
                <a:latin typeface="Calibri"/>
                <a:ea typeface="Calibri"/>
                <a:cs typeface="Calibri"/>
              </a:rPr>
              <a:t>Our Choice:</a:t>
            </a:r>
            <a:endParaRPr lang="en-US" sz="950"/>
          </a:p>
        </p:txBody>
      </p:sp>
      <p:sp>
        <p:nvSpPr>
          <p:cNvPr id="736902296" name="Text 25"/>
          <p:cNvSpPr/>
          <p:nvPr/>
        </p:nvSpPr>
        <p:spPr bwMode="auto">
          <a:xfrm>
            <a:off x="3364992" y="1819656"/>
            <a:ext cx="2468880" cy="475488"/>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Explicit tokens: CBC=0, BMP=1, Lipid=2</a:t>
            </a:r>
            <a:endParaRPr lang="en-US" sz="1000"/>
          </a:p>
        </p:txBody>
      </p:sp>
      <p:sp>
        <p:nvSpPr>
          <p:cNvPr id="1969494728" name="Text 26"/>
          <p:cNvSpPr/>
          <p:nvPr/>
        </p:nvSpPr>
        <p:spPr bwMode="auto">
          <a:xfrm>
            <a:off x="3364992" y="2340864"/>
            <a:ext cx="2468880" cy="228600"/>
          </a:xfrm>
          <a:prstGeom prst="rect">
            <a:avLst/>
          </a:prstGeom>
          <a:noFill/>
          <a:ln/>
        </p:spPr>
        <p:txBody>
          <a:bodyPr wrap="square" lIns="0" tIns="0" rIns="0" bIns="0" rtlCol="0" anchor="ctr"/>
          <a:lstStyle/>
          <a:p>
            <a:pPr marL="0" indent="0">
              <a:buNone/>
              <a:defRPr/>
            </a:pPr>
            <a:r>
              <a:rPr lang="en-US" sz="950" b="1">
                <a:solidFill>
                  <a:srgbClr val="0D9488"/>
                </a:solidFill>
                <a:latin typeface="Calibri"/>
                <a:ea typeface="Calibri"/>
                <a:cs typeface="Calibri"/>
              </a:rPr>
              <a:t>Alternative:</a:t>
            </a:r>
            <a:endParaRPr lang="en-US" sz="950"/>
          </a:p>
        </p:txBody>
      </p:sp>
      <p:sp>
        <p:nvSpPr>
          <p:cNvPr id="980089650" name="Text 27"/>
          <p:cNvSpPr/>
          <p:nvPr/>
        </p:nvSpPr>
        <p:spPr bwMode="auto">
          <a:xfrm>
            <a:off x="3364992" y="2569464"/>
            <a:ext cx="2468880" cy="475488"/>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Learned PE or no PE</a:t>
            </a:r>
            <a:endParaRPr lang="en-US" sz="1000"/>
          </a:p>
        </p:txBody>
      </p:sp>
      <p:sp>
        <p:nvSpPr>
          <p:cNvPr id="845456261" name="Text 28"/>
          <p:cNvSpPr/>
          <p:nvPr/>
        </p:nvSpPr>
        <p:spPr bwMode="auto">
          <a:xfrm>
            <a:off x="3364992" y="3090672"/>
            <a:ext cx="2468880" cy="228600"/>
          </a:xfrm>
          <a:prstGeom prst="rect">
            <a:avLst/>
          </a:prstGeom>
          <a:noFill/>
          <a:ln/>
        </p:spPr>
        <p:txBody>
          <a:bodyPr wrap="square" lIns="0" tIns="0" rIns="0" bIns="0" rtlCol="0" anchor="ctr"/>
          <a:lstStyle/>
          <a:p>
            <a:pPr marL="0" indent="0">
              <a:buNone/>
              <a:defRPr/>
            </a:pPr>
            <a:r>
              <a:rPr lang="en-US" sz="950" b="1">
                <a:solidFill>
                  <a:srgbClr val="0D9488"/>
                </a:solidFill>
                <a:latin typeface="Calibri"/>
                <a:ea typeface="Calibri"/>
                <a:cs typeface="Calibri"/>
              </a:rPr>
              <a:t>Why:</a:t>
            </a:r>
            <a:endParaRPr lang="en-US" sz="950"/>
          </a:p>
        </p:txBody>
      </p:sp>
      <p:sp>
        <p:nvSpPr>
          <p:cNvPr id="103062352" name="Text 29"/>
          <p:cNvSpPr/>
          <p:nvPr/>
        </p:nvSpPr>
        <p:spPr bwMode="auto">
          <a:xfrm>
            <a:off x="3364992" y="3319272"/>
            <a:ext cx="2468880" cy="475488"/>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Encodes clinical knowledge: panel membership is clinically meaningful, not arbitrary</a:t>
            </a:r>
            <a:endParaRPr lang="en-US" sz="1000"/>
          </a:p>
        </p:txBody>
      </p:sp>
      <p:sp>
        <p:nvSpPr>
          <p:cNvPr id="1937795872" name="Text 30"/>
          <p:cNvSpPr/>
          <p:nvPr/>
        </p:nvSpPr>
        <p:spPr bwMode="auto">
          <a:xfrm>
            <a:off x="3364992" y="3840480"/>
            <a:ext cx="2468880" cy="228600"/>
          </a:xfrm>
          <a:prstGeom prst="rect">
            <a:avLst/>
          </a:prstGeom>
          <a:noFill/>
          <a:ln/>
        </p:spPr>
        <p:txBody>
          <a:bodyPr wrap="square" lIns="0" tIns="0" rIns="0" bIns="0" rtlCol="0" anchor="ctr"/>
          <a:lstStyle/>
          <a:p>
            <a:pPr marL="0" indent="0">
              <a:buNone/>
              <a:defRPr/>
            </a:pPr>
            <a:r>
              <a:rPr lang="en-US" sz="950" b="1">
                <a:solidFill>
                  <a:srgbClr val="0D9488"/>
                </a:solidFill>
                <a:latin typeface="Calibri"/>
                <a:ea typeface="Calibri"/>
                <a:cs typeface="Calibri"/>
              </a:rPr>
              <a:t>Ablation:</a:t>
            </a:r>
            <a:endParaRPr lang="en-US" sz="950"/>
          </a:p>
        </p:txBody>
      </p:sp>
      <p:sp>
        <p:nvSpPr>
          <p:cNvPr id="555337072" name="Text 31"/>
          <p:cNvSpPr/>
          <p:nvPr/>
        </p:nvSpPr>
        <p:spPr bwMode="auto">
          <a:xfrm>
            <a:off x="3364992" y="4069080"/>
            <a:ext cx="2468880" cy="475488"/>
          </a:xfrm>
          <a:prstGeom prst="rect">
            <a:avLst/>
          </a:prstGeom>
          <a:noFill/>
          <a:ln/>
        </p:spPr>
        <p:txBody>
          <a:bodyPr wrap="square" lIns="0" tIns="0" rIns="0" bIns="0" rtlCol="0" anchor="t"/>
          <a:lstStyle/>
          <a:p>
            <a:pPr marL="0" indent="0">
              <a:buNone/>
              <a:defRPr/>
            </a:pPr>
            <a:r>
              <a:rPr lang="en-US" sz="1000">
                <a:solidFill>
                  <a:srgbClr val="0F766E"/>
                </a:solidFill>
                <a:latin typeface="Calibri"/>
                <a:ea typeface="Calibri"/>
                <a:cs typeface="Calibri"/>
              </a:rPr>
              <a:t>Ablation: learned PE → inter-panel concept blending increases, per-panel purity ↓</a:t>
            </a:r>
            <a:endParaRPr lang="en-US" sz="1000"/>
          </a:p>
        </p:txBody>
      </p:sp>
      <p:sp>
        <p:nvSpPr>
          <p:cNvPr id="605040249" name="Shape 32"/>
          <p:cNvSpPr/>
          <p:nvPr/>
        </p:nvSpPr>
        <p:spPr bwMode="auto">
          <a:xfrm>
            <a:off x="61722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txBody>
          <a:bodyPr/>
          <a:p/>
        </p:txBody>
      </p:sp>
      <p:sp>
        <p:nvSpPr>
          <p:cNvPr id="1837018633" name="Shape 33"/>
          <p:cNvSpPr/>
          <p:nvPr/>
        </p:nvSpPr>
        <p:spPr bwMode="auto">
          <a:xfrm>
            <a:off x="6172200" y="1024128"/>
            <a:ext cx="64008" cy="3749040"/>
          </a:xfrm>
          <a:prstGeom prst="rect">
            <a:avLst/>
          </a:prstGeom>
          <a:solidFill>
            <a:srgbClr val="7C3AED"/>
          </a:solidFill>
          <a:ln w="12700">
            <a:solidFill>
              <a:srgbClr val="7C3AED"/>
            </a:solidFill>
            <a:prstDash val="solid"/>
          </a:ln>
        </p:spPr>
        <p:txBody>
          <a:bodyPr/>
          <a:p/>
        </p:txBody>
      </p:sp>
      <p:sp>
        <p:nvSpPr>
          <p:cNvPr id="3213335" name="Shape 34"/>
          <p:cNvSpPr/>
          <p:nvPr/>
        </p:nvSpPr>
        <p:spPr bwMode="auto">
          <a:xfrm>
            <a:off x="6263640" y="1097280"/>
            <a:ext cx="2212848" cy="384048"/>
          </a:xfrm>
          <a:prstGeom prst="rect">
            <a:avLst/>
          </a:prstGeom>
          <a:solidFill>
            <a:srgbClr val="7C3AED"/>
          </a:solidFill>
          <a:ln w="12700">
            <a:solidFill>
              <a:srgbClr val="7C3AED"/>
            </a:solidFill>
            <a:prstDash val="solid"/>
          </a:ln>
        </p:spPr>
        <p:txBody>
          <a:bodyPr/>
          <a:p/>
        </p:txBody>
      </p:sp>
      <p:sp>
        <p:nvSpPr>
          <p:cNvPr id="406394080" name="Text 35"/>
          <p:cNvSpPr/>
          <p:nvPr/>
        </p:nvSpPr>
        <p:spPr bwMode="auto">
          <a:xfrm>
            <a:off x="6263640" y="1097280"/>
            <a:ext cx="2212848" cy="384048"/>
          </a:xfrm>
          <a:prstGeom prst="rect">
            <a:avLst/>
          </a:prstGeom>
          <a:noFill/>
          <a:ln/>
        </p:spPr>
        <p:txBody>
          <a:bodyPr wrap="square" rtlCol="0" anchor="ctr"/>
          <a:lstStyle/>
          <a:p>
            <a:pPr marL="0" indent="0" algn="l">
              <a:buNone/>
              <a:defRPr/>
            </a:pPr>
            <a:r>
              <a:rPr lang="en-US" sz="1100" b="1">
                <a:solidFill>
                  <a:srgbClr val="FFFFFF"/>
                </a:solidFill>
                <a:latin typeface="Calibri"/>
                <a:ea typeface="Calibri"/>
                <a:cs typeface="Calibri"/>
              </a:rPr>
              <a:t>Two-Scale SSL Masking</a:t>
            </a:r>
            <a:endParaRPr lang="en-US" sz="1100"/>
          </a:p>
        </p:txBody>
      </p:sp>
      <p:sp>
        <p:nvSpPr>
          <p:cNvPr id="1266749515" name="Shape 36"/>
          <p:cNvSpPr/>
          <p:nvPr/>
        </p:nvSpPr>
        <p:spPr bwMode="auto">
          <a:xfrm>
            <a:off x="8430768" y="1115568"/>
            <a:ext cx="484632" cy="347472"/>
          </a:xfrm>
          <a:prstGeom prst="rect">
            <a:avLst/>
          </a:prstGeom>
          <a:solidFill>
            <a:srgbClr val="F59E0B"/>
          </a:solidFill>
          <a:ln w="12700">
            <a:solidFill>
              <a:srgbClr val="F59E0B"/>
            </a:solidFill>
            <a:prstDash val="solid"/>
          </a:ln>
        </p:spPr>
        <p:txBody>
          <a:bodyPr/>
          <a:p/>
        </p:txBody>
      </p:sp>
      <p:sp>
        <p:nvSpPr>
          <p:cNvPr id="1209727063" name="Text 37"/>
          <p:cNvSpPr/>
          <p:nvPr/>
        </p:nvSpPr>
        <p:spPr bwMode="auto">
          <a:xfrm>
            <a:off x="8430768" y="1115568"/>
            <a:ext cx="484632" cy="347472"/>
          </a:xfrm>
          <a:prstGeom prst="rect">
            <a:avLst/>
          </a:prstGeom>
          <a:noFill/>
          <a:ln/>
        </p:spPr>
        <p:txBody>
          <a:bodyPr wrap="square" lIns="0" tIns="0" rIns="0" bIns="0" rtlCol="0" anchor="ctr"/>
          <a:lstStyle/>
          <a:p>
            <a:pPr marL="0" indent="0" algn="ctr">
              <a:buNone/>
              <a:defRPr/>
            </a:pPr>
            <a:r>
              <a:rPr lang="en-US" sz="750" b="1">
                <a:solidFill>
                  <a:srgbClr val="1E293B"/>
                </a:solidFill>
                <a:latin typeface="Calibri"/>
                <a:ea typeface="Calibri"/>
                <a:cs typeface="Calibri"/>
              </a:rPr>
              <a:t>Lab-MAE gap</a:t>
            </a:r>
            <a:endParaRPr lang="en-US" sz="750"/>
          </a:p>
        </p:txBody>
      </p:sp>
      <p:sp>
        <p:nvSpPr>
          <p:cNvPr id="1715983305" name="Text 38"/>
          <p:cNvSpPr/>
          <p:nvPr/>
        </p:nvSpPr>
        <p:spPr bwMode="auto">
          <a:xfrm>
            <a:off x="6336792" y="1591056"/>
            <a:ext cx="2468880" cy="228600"/>
          </a:xfrm>
          <a:prstGeom prst="rect">
            <a:avLst/>
          </a:prstGeom>
          <a:noFill/>
          <a:ln/>
        </p:spPr>
        <p:txBody>
          <a:bodyPr wrap="square" lIns="0" tIns="0" rIns="0" bIns="0" rtlCol="0" anchor="ctr"/>
          <a:lstStyle/>
          <a:p>
            <a:pPr marL="0" indent="0">
              <a:buNone/>
              <a:defRPr/>
            </a:pPr>
            <a:r>
              <a:rPr lang="en-US" sz="950" b="1">
                <a:solidFill>
                  <a:srgbClr val="7C3AED"/>
                </a:solidFill>
                <a:latin typeface="Calibri"/>
                <a:ea typeface="Calibri"/>
                <a:cs typeface="Calibri"/>
              </a:rPr>
              <a:t>Our Choice:</a:t>
            </a:r>
            <a:endParaRPr lang="en-US" sz="950"/>
          </a:p>
        </p:txBody>
      </p:sp>
      <p:sp>
        <p:nvSpPr>
          <p:cNvPr id="1954118620" name="Text 39"/>
          <p:cNvSpPr/>
          <p:nvPr/>
        </p:nvSpPr>
        <p:spPr bwMode="auto">
          <a:xfrm>
            <a:off x="6336792" y="1819656"/>
            <a:ext cx="2468880" cy="475488"/>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Within-panel masking + cross-panel dropout</a:t>
            </a:r>
            <a:endParaRPr lang="en-US" sz="1000"/>
          </a:p>
        </p:txBody>
      </p:sp>
      <p:sp>
        <p:nvSpPr>
          <p:cNvPr id="1946992870" name="Text 40"/>
          <p:cNvSpPr/>
          <p:nvPr/>
        </p:nvSpPr>
        <p:spPr bwMode="auto">
          <a:xfrm>
            <a:off x="6336792" y="2340864"/>
            <a:ext cx="2468880" cy="228600"/>
          </a:xfrm>
          <a:prstGeom prst="rect">
            <a:avLst/>
          </a:prstGeom>
          <a:noFill/>
          <a:ln/>
        </p:spPr>
        <p:txBody>
          <a:bodyPr wrap="square" lIns="0" tIns="0" rIns="0" bIns="0" rtlCol="0" anchor="ctr"/>
          <a:lstStyle/>
          <a:p>
            <a:pPr marL="0" indent="0">
              <a:buNone/>
              <a:defRPr/>
            </a:pPr>
            <a:r>
              <a:rPr lang="en-US" sz="950" b="1">
                <a:solidFill>
                  <a:srgbClr val="7C3AED"/>
                </a:solidFill>
                <a:latin typeface="Calibri"/>
                <a:ea typeface="Calibri"/>
                <a:cs typeface="Calibri"/>
              </a:rPr>
              <a:t>Alternative:</a:t>
            </a:r>
            <a:endParaRPr lang="en-US" sz="950"/>
          </a:p>
        </p:txBody>
      </p:sp>
      <p:sp>
        <p:nvSpPr>
          <p:cNvPr id="1080878822" name="Text 41"/>
          <p:cNvSpPr/>
          <p:nvPr/>
        </p:nvSpPr>
        <p:spPr bwMode="auto">
          <a:xfrm>
            <a:off x="6336792" y="2569464"/>
            <a:ext cx="2468880" cy="475488"/>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Lab-MAE random masking</a:t>
            </a:r>
            <a:endParaRPr lang="en-US" sz="1000"/>
          </a:p>
        </p:txBody>
      </p:sp>
      <p:sp>
        <p:nvSpPr>
          <p:cNvPr id="430144282" name="Text 42"/>
          <p:cNvSpPr/>
          <p:nvPr/>
        </p:nvSpPr>
        <p:spPr bwMode="auto">
          <a:xfrm>
            <a:off x="6336792" y="3090672"/>
            <a:ext cx="2468880" cy="228600"/>
          </a:xfrm>
          <a:prstGeom prst="rect">
            <a:avLst/>
          </a:prstGeom>
          <a:noFill/>
          <a:ln/>
        </p:spPr>
        <p:txBody>
          <a:bodyPr wrap="square" lIns="0" tIns="0" rIns="0" bIns="0" rtlCol="0" anchor="ctr"/>
          <a:lstStyle/>
          <a:p>
            <a:pPr marL="0" indent="0">
              <a:buNone/>
              <a:defRPr/>
            </a:pPr>
            <a:r>
              <a:rPr lang="en-US" sz="950" b="1">
                <a:solidFill>
                  <a:srgbClr val="7C3AED"/>
                </a:solidFill>
                <a:latin typeface="Calibri"/>
                <a:ea typeface="Calibri"/>
                <a:cs typeface="Calibri"/>
              </a:rPr>
              <a:t>Why:</a:t>
            </a:r>
            <a:endParaRPr lang="en-US" sz="950"/>
          </a:p>
        </p:txBody>
      </p:sp>
      <p:sp>
        <p:nvSpPr>
          <p:cNvPr id="101093037" name="Text 43"/>
          <p:cNvSpPr/>
          <p:nvPr/>
        </p:nvSpPr>
        <p:spPr bwMode="auto">
          <a:xfrm>
            <a:off x="6336792" y="3319272"/>
            <a:ext cx="2468880" cy="475488"/>
          </a:xfrm>
          <a:prstGeom prst="rect">
            <a:avLst/>
          </a:prstGeom>
          <a:noFill/>
          <a:ln/>
        </p:spPr>
        <p:txBody>
          <a:bodyPr wrap="square" lIns="0" tIns="0" rIns="0" bIns="0" rtlCol="0" anchor="t"/>
          <a:lstStyle/>
          <a:p>
            <a:pPr marL="0" indent="0">
              <a:buNone/>
              <a:defRPr/>
            </a:pPr>
            <a:r>
              <a:rPr lang="en-US" sz="1000">
                <a:solidFill>
                  <a:srgbClr val="1E293B"/>
                </a:solidFill>
                <a:latin typeface="Calibri"/>
                <a:ea typeface="Calibri"/>
                <a:cs typeface="Calibri"/>
              </a:rPr>
              <a:t>Learns local panel biochemistry AND cross-panel correlations simultaneously</a:t>
            </a:r>
            <a:endParaRPr lang="en-US" sz="1000"/>
          </a:p>
        </p:txBody>
      </p:sp>
      <p:sp>
        <p:nvSpPr>
          <p:cNvPr id="1257385631" name="Text 44"/>
          <p:cNvSpPr/>
          <p:nvPr/>
        </p:nvSpPr>
        <p:spPr bwMode="auto">
          <a:xfrm>
            <a:off x="6336792" y="3840480"/>
            <a:ext cx="2468880" cy="228600"/>
          </a:xfrm>
          <a:prstGeom prst="rect">
            <a:avLst/>
          </a:prstGeom>
          <a:noFill/>
          <a:ln/>
        </p:spPr>
        <p:txBody>
          <a:bodyPr wrap="square" lIns="0" tIns="0" rIns="0" bIns="0" rtlCol="0" anchor="ctr"/>
          <a:lstStyle/>
          <a:p>
            <a:pPr marL="0" indent="0">
              <a:buNone/>
              <a:defRPr/>
            </a:pPr>
            <a:r>
              <a:rPr lang="en-US" sz="950" b="1">
                <a:solidFill>
                  <a:srgbClr val="7C3AED"/>
                </a:solidFill>
                <a:latin typeface="Calibri"/>
                <a:ea typeface="Calibri"/>
                <a:cs typeface="Calibri"/>
              </a:rPr>
              <a:t>Ablation:</a:t>
            </a:r>
            <a:endParaRPr lang="en-US" sz="950"/>
          </a:p>
        </p:txBody>
      </p:sp>
      <p:sp>
        <p:nvSpPr>
          <p:cNvPr id="138475937" name="Text 45"/>
          <p:cNvSpPr/>
          <p:nvPr/>
        </p:nvSpPr>
        <p:spPr bwMode="auto">
          <a:xfrm>
            <a:off x="6336792" y="4069080"/>
            <a:ext cx="2468880" cy="475488"/>
          </a:xfrm>
          <a:prstGeom prst="rect">
            <a:avLst/>
          </a:prstGeom>
          <a:noFill/>
          <a:ln/>
        </p:spPr>
        <p:txBody>
          <a:bodyPr wrap="square" lIns="0" tIns="0" rIns="0" bIns="0" rtlCol="0" anchor="t"/>
          <a:lstStyle/>
          <a:p>
            <a:pPr marL="0" indent="0">
              <a:buNone/>
              <a:defRPr/>
            </a:pPr>
            <a:r>
              <a:rPr lang="en-US" sz="1000">
                <a:solidFill>
                  <a:srgbClr val="0F766E"/>
                </a:solidFill>
                <a:latin typeface="Calibri"/>
                <a:ea typeface="Calibri"/>
                <a:cs typeface="Calibri"/>
              </a:rPr>
              <a:t>Ablation: random masking only → NMI drops across all 3 panels</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F4F8FF"/>
        </a:solidFill>
      </p:bgPr>
    </p:bg>
    <p:spTree>
      <p:nvGrpSpPr>
        <p:cNvPr id="1" name=""/>
        <p:cNvGrpSpPr/>
        <p:nvPr/>
      </p:nvGrpSpPr>
      <p:grpSpPr bwMode="auto">
        <a:xfrm>
          <a:off x="0" y="0"/>
          <a:ext cx="0" cy="0"/>
          <a:chOff x="0" y="0"/>
          <a:chExt cx="0" cy="0"/>
        </a:xfrm>
      </p:grpSpPr>
      <p:sp>
        <p:nvSpPr>
          <p:cNvPr id="14240059" name="Shape 0"/>
          <p:cNvSpPr/>
          <p:nvPr/>
        </p:nvSpPr>
        <p:spPr bwMode="auto">
          <a:xfrm>
            <a:off x="0" y="0"/>
            <a:ext cx="118872" cy="5143500"/>
          </a:xfrm>
          <a:prstGeom prst="rect">
            <a:avLst/>
          </a:prstGeom>
          <a:solidFill>
            <a:srgbClr val="0D9488"/>
          </a:solidFill>
          <a:ln w="12700">
            <a:solidFill>
              <a:srgbClr val="0D9488"/>
            </a:solidFill>
            <a:prstDash val="solid"/>
          </a:ln>
        </p:spPr>
        <p:txBody>
          <a:bodyPr/>
          <a:p/>
        </p:txBody>
      </p:sp>
      <p:sp>
        <p:nvSpPr>
          <p:cNvPr id="1328602522" name="Text 1"/>
          <p:cNvSpPr/>
          <p:nvPr/>
        </p:nvSpPr>
        <p:spPr bwMode="auto">
          <a:xfrm>
            <a:off x="228600" y="164592"/>
            <a:ext cx="8686800" cy="512064"/>
          </a:xfrm>
          <a:prstGeom prst="rect">
            <a:avLst/>
          </a:prstGeom>
          <a:noFill/>
          <a:ln/>
        </p:spPr>
        <p:txBody>
          <a:bodyPr wrap="square" lIns="0" tIns="0" rIns="0" bIns="0" rtlCol="0" anchor="ctr"/>
          <a:lstStyle/>
          <a:p>
            <a:pPr marL="0" indent="0" algn="l">
              <a:buNone/>
              <a:defRPr/>
            </a:pPr>
            <a:r>
              <a:rPr lang="en-US" sz="2500" b="1">
                <a:solidFill>
                  <a:srgbClr val="1E293B"/>
                </a:solidFill>
                <a:latin typeface="Calibri"/>
                <a:ea typeface="Calibri"/>
                <a:cs typeface="Calibri"/>
              </a:rPr>
              <a:t>Core Contributions: Three Pillars, Three Gaps Closed</a:t>
            </a:r>
            <a:endParaRPr lang="en-US" sz="2500"/>
          </a:p>
        </p:txBody>
      </p:sp>
      <p:sp>
        <p:nvSpPr>
          <p:cNvPr id="336426016" name="Text 2"/>
          <p:cNvSpPr/>
          <p:nvPr/>
        </p:nvSpPr>
        <p:spPr bwMode="auto">
          <a:xfrm>
            <a:off x="228600" y="667512"/>
            <a:ext cx="8686800" cy="246888"/>
          </a:xfrm>
          <a:prstGeom prst="rect">
            <a:avLst/>
          </a:prstGeom>
          <a:noFill/>
          <a:ln/>
        </p:spPr>
        <p:txBody>
          <a:bodyPr wrap="square" lIns="0" tIns="0" rIns="0" bIns="0" rtlCol="0" anchor="ctr"/>
          <a:lstStyle/>
          <a:p>
            <a:pPr marL="0" indent="0" algn="l">
              <a:buNone/>
              <a:defRPr/>
            </a:pPr>
            <a:r>
              <a:rPr lang="en-US" sz="1100" i="1">
                <a:solidFill>
                  <a:srgbClr val="475569"/>
                </a:solidFill>
                <a:latin typeface="Calibri"/>
                <a:ea typeface="Calibri"/>
                <a:cs typeface="Calibri"/>
              </a:rPr>
              <a:t>This work advances interpretable ML for clinical tabular and visual data simultaneously</a:t>
            </a:r>
            <a:endParaRPr lang="en-US" sz="1100"/>
          </a:p>
        </p:txBody>
      </p:sp>
      <p:sp>
        <p:nvSpPr>
          <p:cNvPr id="1969976505" name="Shape 3"/>
          <p:cNvSpPr/>
          <p:nvPr/>
        </p:nvSpPr>
        <p:spPr bwMode="auto">
          <a:xfrm>
            <a:off x="228600" y="896112"/>
            <a:ext cx="8686800" cy="22860"/>
          </a:xfrm>
          <a:prstGeom prst="rect">
            <a:avLst/>
          </a:prstGeom>
          <a:solidFill>
            <a:srgbClr val="0D9488"/>
          </a:solidFill>
          <a:ln w="12700">
            <a:solidFill>
              <a:srgbClr val="0D9488"/>
            </a:solidFill>
            <a:prstDash val="solid"/>
          </a:ln>
        </p:spPr>
        <p:txBody>
          <a:bodyPr/>
          <a:p/>
        </p:txBody>
      </p:sp>
      <p:sp>
        <p:nvSpPr>
          <p:cNvPr id="218740993" name="Shape 4"/>
          <p:cNvSpPr/>
          <p:nvPr/>
        </p:nvSpPr>
        <p:spPr bwMode="auto">
          <a:xfrm>
            <a:off x="2286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txBody>
          <a:bodyPr/>
          <a:p/>
        </p:txBody>
      </p:sp>
      <p:sp>
        <p:nvSpPr>
          <p:cNvPr id="256706141" name="Shape 5"/>
          <p:cNvSpPr/>
          <p:nvPr/>
        </p:nvSpPr>
        <p:spPr bwMode="auto">
          <a:xfrm>
            <a:off x="228600" y="1024128"/>
            <a:ext cx="64008" cy="3749040"/>
          </a:xfrm>
          <a:prstGeom prst="rect">
            <a:avLst/>
          </a:prstGeom>
          <a:solidFill>
            <a:srgbClr val="DC2626"/>
          </a:solidFill>
          <a:ln w="12700">
            <a:solidFill>
              <a:srgbClr val="DC2626"/>
            </a:solidFill>
            <a:prstDash val="solid"/>
          </a:ln>
        </p:spPr>
        <p:txBody>
          <a:bodyPr/>
          <a:p/>
        </p:txBody>
      </p:sp>
      <p:sp>
        <p:nvSpPr>
          <p:cNvPr id="899861563" name="Shape 6"/>
          <p:cNvSpPr/>
          <p:nvPr/>
        </p:nvSpPr>
        <p:spPr bwMode="auto">
          <a:xfrm>
            <a:off x="320040" y="1097280"/>
            <a:ext cx="731520" cy="731520"/>
          </a:xfrm>
          <a:prstGeom prst="rect">
            <a:avLst/>
          </a:prstGeom>
          <a:solidFill>
            <a:srgbClr val="DC2626"/>
          </a:solidFill>
          <a:ln w="12700">
            <a:solidFill>
              <a:srgbClr val="DC2626"/>
            </a:solidFill>
            <a:prstDash val="solid"/>
          </a:ln>
        </p:spPr>
        <p:txBody>
          <a:bodyPr/>
          <a:p/>
        </p:txBody>
      </p:sp>
      <p:sp>
        <p:nvSpPr>
          <p:cNvPr id="195994744" name="Text 7"/>
          <p:cNvSpPr/>
          <p:nvPr/>
        </p:nvSpPr>
        <p:spPr bwMode="auto">
          <a:xfrm>
            <a:off x="320040" y="1097280"/>
            <a:ext cx="731520" cy="731520"/>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Pillar 1</a:t>
            </a:r>
            <a:endParaRPr lang="en-US" sz="1100"/>
          </a:p>
        </p:txBody>
      </p:sp>
      <p:sp>
        <p:nvSpPr>
          <p:cNvPr id="104882928" name="Text 8"/>
          <p:cNvSpPr/>
          <p:nvPr/>
        </p:nvSpPr>
        <p:spPr bwMode="auto">
          <a:xfrm>
            <a:off x="1143000" y="1115568"/>
            <a:ext cx="1828800" cy="694944"/>
          </a:xfrm>
          <a:prstGeom prst="rect">
            <a:avLst/>
          </a:prstGeom>
          <a:noFill/>
          <a:ln/>
        </p:spPr>
        <p:txBody>
          <a:bodyPr wrap="square" lIns="0" tIns="0" rIns="0" bIns="0" rtlCol="0" anchor="ctr"/>
          <a:lstStyle/>
          <a:p>
            <a:pPr marL="0" indent="0" algn="l">
              <a:buNone/>
              <a:defRPr/>
            </a:pPr>
            <a:r>
              <a:rPr lang="en-US" sz="1100" b="1">
                <a:solidFill>
                  <a:srgbClr val="1E293B"/>
                </a:solidFill>
                <a:latin typeface="Calibri"/>
                <a:ea typeface="Calibri"/>
                <a:cs typeface="Calibri"/>
              </a:rPr>
              <a:t>Unsupervised-First</a:t>
            </a:r>
            <a:endParaRPr lang="en-US" sz="1100"/>
          </a:p>
          <a:p>
            <a:pPr marL="0" indent="0" algn="l">
              <a:buNone/>
              <a:defRPr/>
            </a:pPr>
            <a:r>
              <a:rPr lang="en-US" sz="1100" b="1">
                <a:solidFill>
                  <a:srgbClr val="1E293B"/>
                </a:solidFill>
                <a:latin typeface="Calibri"/>
                <a:ea typeface="Calibri"/>
                <a:cs typeface="Calibri"/>
              </a:rPr>
              <a:t>Concept Discovery</a:t>
            </a:r>
            <a:endParaRPr lang="en-US" sz="1100"/>
          </a:p>
        </p:txBody>
      </p:sp>
      <p:sp>
        <p:nvSpPr>
          <p:cNvPr id="2085379241" name="Shape 9"/>
          <p:cNvSpPr/>
          <p:nvPr/>
        </p:nvSpPr>
        <p:spPr bwMode="auto">
          <a:xfrm>
            <a:off x="320040" y="1874520"/>
            <a:ext cx="2606040" cy="22860"/>
          </a:xfrm>
          <a:prstGeom prst="rect">
            <a:avLst/>
          </a:prstGeom>
          <a:solidFill>
            <a:srgbClr val="E2E8F0"/>
          </a:solidFill>
          <a:ln w="12700">
            <a:solidFill>
              <a:srgbClr val="E2E8F0"/>
            </a:solidFill>
            <a:prstDash val="solid"/>
          </a:ln>
        </p:spPr>
        <p:txBody>
          <a:bodyPr/>
          <a:p/>
        </p:txBody>
      </p:sp>
      <p:sp>
        <p:nvSpPr>
          <p:cNvPr id="1016310576" name="Text 10"/>
          <p:cNvSpPr/>
          <p:nvPr/>
        </p:nvSpPr>
        <p:spPr bwMode="auto">
          <a:xfrm>
            <a:off x="320040" y="1920240"/>
            <a:ext cx="2606040" cy="301752"/>
          </a:xfrm>
          <a:prstGeom prst="rect">
            <a:avLst/>
          </a:prstGeom>
          <a:noFill/>
          <a:ln/>
        </p:spPr>
        <p:txBody>
          <a:bodyPr wrap="square" lIns="0" tIns="0" rIns="0" bIns="0" rtlCol="0" anchor="ctr"/>
          <a:lstStyle/>
          <a:p>
            <a:pPr marL="0" indent="0">
              <a:buNone/>
              <a:defRPr/>
            </a:pPr>
            <a:r>
              <a:rPr lang="en-US" sz="1000" i="1">
                <a:solidFill>
                  <a:srgbClr val="DC2626"/>
                </a:solidFill>
                <a:latin typeface="Calibri"/>
                <a:ea typeface="Calibri"/>
                <a:cs typeface="Calibri"/>
              </a:rPr>
              <a:t>Closes Gap 1 — TCAV / CBM / ACE</a:t>
            </a:r>
            <a:endParaRPr lang="en-US" sz="1000"/>
          </a:p>
        </p:txBody>
      </p:sp>
      <p:sp>
        <p:nvSpPr>
          <p:cNvPr id="1743482937" name="Text 11"/>
          <p:cNvSpPr/>
          <p:nvPr/>
        </p:nvSpPr>
        <p:spPr bwMode="auto">
          <a:xfrm>
            <a:off x="393192" y="2267712"/>
            <a:ext cx="2514600" cy="2423160"/>
          </a:xfrm>
          <a:prstGeom prst="rect">
            <a:avLst/>
          </a:prstGeom>
          <a:noFill/>
          <a:ln/>
        </p:spPr>
        <p:txBody>
          <a:bodyPr wrap="square" lIns="0" tIns="0" rIns="0" bIns="0" rtlCol="0" anchor="t"/>
          <a:lstStyle/>
          <a:p>
            <a:pPr marL="342900" indent="-342900">
              <a:spcAft>
                <a:spcPts val="900"/>
              </a:spcAft>
              <a:buSzPct val="100000"/>
              <a:buChar char="•"/>
              <a:defRPr/>
            </a:pPr>
            <a:r>
              <a:rPr lang="en-US" sz="1100">
                <a:solidFill>
                  <a:srgbClr val="475569"/>
                </a:solidFill>
                <a:latin typeface="Calibri"/>
                <a:ea typeface="Calibri"/>
                <a:cs typeface="Calibri"/>
              </a:rPr>
              <a:t>GMM clustering on encoder features — zero concept labels at any stage</a:t>
            </a:r>
            <a:endParaRPr lang="en-US" sz="1100"/>
          </a:p>
          <a:p>
            <a:pPr marL="342900" indent="-342900">
              <a:spcAft>
                <a:spcPts val="900"/>
              </a:spcAft>
              <a:buSzPct val="100000"/>
              <a:buChar char="•"/>
              <a:defRPr/>
            </a:pPr>
            <a:r>
              <a:rPr lang="en-US" sz="1100">
                <a:solidFill>
                  <a:srgbClr val="475569"/>
                </a:solidFill>
                <a:latin typeface="Calibri"/>
                <a:ea typeface="Calibri"/>
                <a:cs typeface="Calibri"/>
              </a:rPr>
              <a:t>Concepts emerge from data structure, named post-hoc only</a:t>
            </a:r>
            <a:endParaRPr lang="en-US" sz="1100"/>
          </a:p>
          <a:p>
            <a:pPr marL="342900" indent="-342900">
              <a:spcAft>
                <a:spcPts val="900"/>
              </a:spcAft>
              <a:buSzPct val="100000"/>
              <a:buChar char="•"/>
              <a:defRPr/>
            </a:pPr>
            <a:r>
              <a:rPr lang="en-US" sz="1100">
                <a:solidFill>
                  <a:srgbClr val="475569"/>
                </a:solidFill>
                <a:latin typeface="Calibri"/>
                <a:ea typeface="Calibri"/>
                <a:cs typeface="Calibri"/>
              </a:rPr>
              <a:t>Demonstrated on image AND tabular clinical domains</a:t>
            </a:r>
            <a:endParaRPr lang="en-US" sz="1100"/>
          </a:p>
        </p:txBody>
      </p:sp>
      <p:sp>
        <p:nvSpPr>
          <p:cNvPr id="2114405502" name="Shape 12"/>
          <p:cNvSpPr/>
          <p:nvPr/>
        </p:nvSpPr>
        <p:spPr bwMode="auto">
          <a:xfrm>
            <a:off x="32004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txBody>
          <a:bodyPr/>
          <a:p/>
        </p:txBody>
      </p:sp>
      <p:sp>
        <p:nvSpPr>
          <p:cNvPr id="1594290571" name="Shape 13"/>
          <p:cNvSpPr/>
          <p:nvPr/>
        </p:nvSpPr>
        <p:spPr bwMode="auto">
          <a:xfrm>
            <a:off x="3200400" y="1024128"/>
            <a:ext cx="64008" cy="3749040"/>
          </a:xfrm>
          <a:prstGeom prst="rect">
            <a:avLst/>
          </a:prstGeom>
          <a:solidFill>
            <a:srgbClr val="0D9488"/>
          </a:solidFill>
          <a:ln w="12700">
            <a:solidFill>
              <a:srgbClr val="0D9488"/>
            </a:solidFill>
            <a:prstDash val="solid"/>
          </a:ln>
        </p:spPr>
        <p:txBody>
          <a:bodyPr/>
          <a:p/>
        </p:txBody>
      </p:sp>
      <p:sp>
        <p:nvSpPr>
          <p:cNvPr id="772551177" name="Shape 14"/>
          <p:cNvSpPr/>
          <p:nvPr/>
        </p:nvSpPr>
        <p:spPr bwMode="auto">
          <a:xfrm>
            <a:off x="3291840" y="1097280"/>
            <a:ext cx="731520" cy="731520"/>
          </a:xfrm>
          <a:prstGeom prst="rect">
            <a:avLst/>
          </a:prstGeom>
          <a:solidFill>
            <a:srgbClr val="0D9488"/>
          </a:solidFill>
          <a:ln w="12700">
            <a:solidFill>
              <a:srgbClr val="0D9488"/>
            </a:solidFill>
            <a:prstDash val="solid"/>
          </a:ln>
        </p:spPr>
        <p:txBody>
          <a:bodyPr/>
          <a:p/>
        </p:txBody>
      </p:sp>
      <p:sp>
        <p:nvSpPr>
          <p:cNvPr id="616248849" name="Text 15"/>
          <p:cNvSpPr/>
          <p:nvPr/>
        </p:nvSpPr>
        <p:spPr bwMode="auto">
          <a:xfrm>
            <a:off x="3291840" y="1097280"/>
            <a:ext cx="731520" cy="731520"/>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Pillar 2</a:t>
            </a:r>
            <a:endParaRPr lang="en-US" sz="1100"/>
          </a:p>
        </p:txBody>
      </p:sp>
      <p:sp>
        <p:nvSpPr>
          <p:cNvPr id="1288808323" name="Text 16"/>
          <p:cNvSpPr/>
          <p:nvPr/>
        </p:nvSpPr>
        <p:spPr bwMode="auto">
          <a:xfrm>
            <a:off x="4114800" y="1115568"/>
            <a:ext cx="1828800" cy="694944"/>
          </a:xfrm>
          <a:prstGeom prst="rect">
            <a:avLst/>
          </a:prstGeom>
          <a:noFill/>
          <a:ln/>
        </p:spPr>
        <p:txBody>
          <a:bodyPr wrap="square" lIns="0" tIns="0" rIns="0" bIns="0" rtlCol="0" anchor="ctr"/>
          <a:lstStyle/>
          <a:p>
            <a:pPr marL="0" indent="0" algn="l">
              <a:buNone/>
              <a:defRPr/>
            </a:pPr>
            <a:r>
              <a:rPr lang="en-US" sz="1100" b="1">
                <a:solidFill>
                  <a:srgbClr val="1E293B"/>
                </a:solidFill>
                <a:latin typeface="Calibri"/>
                <a:ea typeface="Calibri"/>
                <a:cs typeface="Calibri"/>
              </a:rPr>
              <a:t>Domain-Informed</a:t>
            </a:r>
            <a:endParaRPr lang="en-US" sz="1100"/>
          </a:p>
          <a:p>
            <a:pPr marL="0" indent="0" algn="l">
              <a:buNone/>
              <a:defRPr/>
            </a:pPr>
            <a:r>
              <a:rPr lang="en-US" sz="1100" b="1">
                <a:solidFill>
                  <a:srgbClr val="1E293B"/>
                </a:solidFill>
                <a:latin typeface="Calibri"/>
                <a:ea typeface="Calibri"/>
                <a:cs typeface="Calibri"/>
              </a:rPr>
              <a:t>Encoder Design</a:t>
            </a:r>
            <a:endParaRPr lang="en-US" sz="1100"/>
          </a:p>
        </p:txBody>
      </p:sp>
      <p:sp>
        <p:nvSpPr>
          <p:cNvPr id="890932374" name="Shape 17"/>
          <p:cNvSpPr/>
          <p:nvPr/>
        </p:nvSpPr>
        <p:spPr bwMode="auto">
          <a:xfrm>
            <a:off x="3291840" y="1874520"/>
            <a:ext cx="2606040" cy="22860"/>
          </a:xfrm>
          <a:prstGeom prst="rect">
            <a:avLst/>
          </a:prstGeom>
          <a:solidFill>
            <a:srgbClr val="E2E8F0"/>
          </a:solidFill>
          <a:ln w="12700">
            <a:solidFill>
              <a:srgbClr val="E2E8F0"/>
            </a:solidFill>
            <a:prstDash val="solid"/>
          </a:ln>
        </p:spPr>
        <p:txBody>
          <a:bodyPr/>
          <a:p/>
        </p:txBody>
      </p:sp>
      <p:sp>
        <p:nvSpPr>
          <p:cNvPr id="1438766098" name="Text 18"/>
          <p:cNvSpPr/>
          <p:nvPr/>
        </p:nvSpPr>
        <p:spPr bwMode="auto">
          <a:xfrm>
            <a:off x="3291840" y="1920240"/>
            <a:ext cx="2606040" cy="301752"/>
          </a:xfrm>
          <a:prstGeom prst="rect">
            <a:avLst/>
          </a:prstGeom>
          <a:noFill/>
          <a:ln/>
        </p:spPr>
        <p:txBody>
          <a:bodyPr wrap="square" lIns="0" tIns="0" rIns="0" bIns="0" rtlCol="0" anchor="ctr"/>
          <a:lstStyle/>
          <a:p>
            <a:pPr marL="0" indent="0">
              <a:buNone/>
              <a:defRPr/>
            </a:pPr>
            <a:r>
              <a:rPr lang="en-US" sz="1000" i="1">
                <a:solidFill>
                  <a:srgbClr val="0D9488"/>
                </a:solidFill>
                <a:latin typeface="Calibri"/>
                <a:ea typeface="Calibri"/>
                <a:cs typeface="Calibri"/>
              </a:rPr>
              <a:t>Closes Gap 2 — DINO / FT-Transformer</a:t>
            </a:r>
            <a:endParaRPr lang="en-US" sz="1000"/>
          </a:p>
        </p:txBody>
      </p:sp>
      <p:sp>
        <p:nvSpPr>
          <p:cNvPr id="1240251220" name="Text 19"/>
          <p:cNvSpPr/>
          <p:nvPr/>
        </p:nvSpPr>
        <p:spPr bwMode="auto">
          <a:xfrm>
            <a:off x="3364992" y="2267712"/>
            <a:ext cx="2514600" cy="2423160"/>
          </a:xfrm>
          <a:prstGeom prst="rect">
            <a:avLst/>
          </a:prstGeom>
          <a:noFill/>
          <a:ln/>
        </p:spPr>
        <p:txBody>
          <a:bodyPr wrap="square" lIns="0" tIns="0" rIns="0" bIns="0" rtlCol="0" anchor="t"/>
          <a:lstStyle/>
          <a:p>
            <a:pPr marL="342900" indent="-342900">
              <a:spcAft>
                <a:spcPts val="900"/>
              </a:spcAft>
              <a:buSzPct val="100000"/>
              <a:buChar char="•"/>
              <a:defRPr/>
            </a:pPr>
            <a:r>
              <a:rPr lang="en-US" sz="1100">
                <a:solidFill>
                  <a:srgbClr val="475569"/>
                </a:solidFill>
                <a:latin typeface="Calibri"/>
                <a:ea typeface="Calibri"/>
                <a:cs typeface="Calibri"/>
              </a:rPr>
              <a:t>Multi-layer feature extraction produces richer concept representations</a:t>
            </a:r>
            <a:endParaRPr lang="en-US" sz="1100"/>
          </a:p>
          <a:p>
            <a:pPr marL="342900" indent="-342900">
              <a:spcAft>
                <a:spcPts val="900"/>
              </a:spcAft>
              <a:buSzPct val="100000"/>
              <a:buChar char="•"/>
              <a:defRPr/>
            </a:pPr>
            <a:r>
              <a:rPr lang="en-US" sz="1100">
                <a:solidFill>
                  <a:srgbClr val="475569"/>
                </a:solidFill>
                <a:latin typeface="Calibri"/>
                <a:ea typeface="Calibri"/>
                <a:cs typeface="Calibri"/>
              </a:rPr>
              <a:t>Panel PE encodes clinical domain knowledge directly into architecture</a:t>
            </a:r>
            <a:endParaRPr lang="en-US" sz="1100"/>
          </a:p>
          <a:p>
            <a:pPr marL="342900" indent="-342900">
              <a:spcAft>
                <a:spcPts val="900"/>
              </a:spcAft>
              <a:buSzPct val="100000"/>
              <a:buChar char="•"/>
              <a:defRPr/>
            </a:pPr>
            <a:r>
              <a:rPr lang="en-US" sz="1100">
                <a:solidFill>
                  <a:srgbClr val="475569"/>
                </a:solidFill>
                <a:latin typeface="Calibri"/>
                <a:ea typeface="Calibri"/>
                <a:cs typeface="Calibri"/>
              </a:rPr>
              <a:t>Two-scale SSL learns local + global clinical biochemical patterns</a:t>
            </a:r>
            <a:endParaRPr lang="en-US" sz="1100"/>
          </a:p>
        </p:txBody>
      </p:sp>
      <p:sp>
        <p:nvSpPr>
          <p:cNvPr id="992272052" name="Shape 20"/>
          <p:cNvSpPr/>
          <p:nvPr/>
        </p:nvSpPr>
        <p:spPr bwMode="auto">
          <a:xfrm>
            <a:off x="6172200" y="1024128"/>
            <a:ext cx="2834640" cy="3749040"/>
          </a:xfrm>
          <a:prstGeom prst="rect">
            <a:avLst/>
          </a:prstGeom>
          <a:solidFill>
            <a:srgbClr val="FFFFFF"/>
          </a:solidFill>
          <a:ln w="12700">
            <a:solidFill>
              <a:srgbClr val="E2E8F0"/>
            </a:solidFill>
            <a:prstDash val="solid"/>
          </a:ln>
          <a:effectLst>
            <a:outerShdw blurRad="76200" dist="25400" dir="8100000" sx="100000" sy="100000" kx="0" ky="0" algn="bl" rotWithShape="0">
              <a:srgbClr val="000000">
                <a:alpha val="10000"/>
              </a:srgbClr>
            </a:outerShdw>
          </a:effectLst>
        </p:spPr>
        <p:txBody>
          <a:bodyPr/>
          <a:p/>
        </p:txBody>
      </p:sp>
      <p:sp>
        <p:nvSpPr>
          <p:cNvPr id="1609215733" name="Shape 21"/>
          <p:cNvSpPr/>
          <p:nvPr/>
        </p:nvSpPr>
        <p:spPr bwMode="auto">
          <a:xfrm>
            <a:off x="6172200" y="1024128"/>
            <a:ext cx="64008" cy="3749040"/>
          </a:xfrm>
          <a:prstGeom prst="rect">
            <a:avLst/>
          </a:prstGeom>
          <a:solidFill>
            <a:srgbClr val="7C3AED"/>
          </a:solidFill>
          <a:ln w="12700">
            <a:solidFill>
              <a:srgbClr val="7C3AED"/>
            </a:solidFill>
            <a:prstDash val="solid"/>
          </a:ln>
        </p:spPr>
        <p:txBody>
          <a:bodyPr/>
          <a:p/>
        </p:txBody>
      </p:sp>
      <p:sp>
        <p:nvSpPr>
          <p:cNvPr id="876353085" name="Shape 22"/>
          <p:cNvSpPr/>
          <p:nvPr/>
        </p:nvSpPr>
        <p:spPr bwMode="auto">
          <a:xfrm>
            <a:off x="6263640" y="1097280"/>
            <a:ext cx="731520" cy="731520"/>
          </a:xfrm>
          <a:prstGeom prst="rect">
            <a:avLst/>
          </a:prstGeom>
          <a:solidFill>
            <a:srgbClr val="7C3AED"/>
          </a:solidFill>
          <a:ln w="12700">
            <a:solidFill>
              <a:srgbClr val="7C3AED"/>
            </a:solidFill>
            <a:prstDash val="solid"/>
          </a:ln>
        </p:spPr>
        <p:txBody>
          <a:bodyPr/>
          <a:p/>
        </p:txBody>
      </p:sp>
      <p:sp>
        <p:nvSpPr>
          <p:cNvPr id="1884488583" name="Text 23"/>
          <p:cNvSpPr/>
          <p:nvPr/>
        </p:nvSpPr>
        <p:spPr bwMode="auto">
          <a:xfrm>
            <a:off x="6263640" y="1097280"/>
            <a:ext cx="731520" cy="731520"/>
          </a:xfrm>
          <a:prstGeom prst="rect">
            <a:avLst/>
          </a:prstGeom>
          <a:noFill/>
          <a:ln/>
        </p:spPr>
        <p:txBody>
          <a:bodyPr wrap="square" lIns="0" tIns="0" rIns="0" bIns="0" rtlCol="0" anchor="ctr"/>
          <a:lstStyle/>
          <a:p>
            <a:pPr marL="0" indent="0" algn="ctr">
              <a:buNone/>
              <a:defRPr/>
            </a:pPr>
            <a:r>
              <a:rPr lang="en-US" sz="1100" b="1">
                <a:solidFill>
                  <a:srgbClr val="FFFFFF"/>
                </a:solidFill>
                <a:latin typeface="Calibri"/>
                <a:ea typeface="Calibri"/>
                <a:cs typeface="Calibri"/>
              </a:rPr>
              <a:t>Pillar 3</a:t>
            </a:r>
            <a:endParaRPr lang="en-US" sz="1100"/>
          </a:p>
        </p:txBody>
      </p:sp>
      <p:sp>
        <p:nvSpPr>
          <p:cNvPr id="414131624" name="Text 24"/>
          <p:cNvSpPr/>
          <p:nvPr/>
        </p:nvSpPr>
        <p:spPr bwMode="auto">
          <a:xfrm>
            <a:off x="7086600" y="1115568"/>
            <a:ext cx="1828800" cy="694944"/>
          </a:xfrm>
          <a:prstGeom prst="rect">
            <a:avLst/>
          </a:prstGeom>
          <a:noFill/>
          <a:ln/>
        </p:spPr>
        <p:txBody>
          <a:bodyPr wrap="square" lIns="0" tIns="0" rIns="0" bIns="0" rtlCol="0" anchor="ctr"/>
          <a:lstStyle/>
          <a:p>
            <a:pPr marL="0" indent="0" algn="l">
              <a:buNone/>
              <a:defRPr/>
            </a:pPr>
            <a:r>
              <a:rPr lang="en-US" sz="1100" b="1">
                <a:solidFill>
                  <a:srgbClr val="1E293B"/>
                </a:solidFill>
                <a:latin typeface="Calibri"/>
                <a:ea typeface="Calibri"/>
                <a:cs typeface="Calibri"/>
              </a:rPr>
              <a:t>LLM-Mediated</a:t>
            </a:r>
            <a:endParaRPr lang="en-US" sz="1100"/>
          </a:p>
          <a:p>
            <a:pPr marL="0" indent="0" algn="l">
              <a:buNone/>
              <a:defRPr/>
            </a:pPr>
            <a:r>
              <a:rPr lang="en-US" sz="1100" b="1">
                <a:solidFill>
                  <a:srgbClr val="1E293B"/>
                </a:solidFill>
                <a:latin typeface="Calibri"/>
                <a:ea typeface="Calibri"/>
                <a:cs typeface="Calibri"/>
              </a:rPr>
              <a:t>Semantic Grounding</a:t>
            </a:r>
            <a:endParaRPr lang="en-US" sz="1100"/>
          </a:p>
        </p:txBody>
      </p:sp>
      <p:sp>
        <p:nvSpPr>
          <p:cNvPr id="1203711517" name="Shape 25"/>
          <p:cNvSpPr/>
          <p:nvPr/>
        </p:nvSpPr>
        <p:spPr bwMode="auto">
          <a:xfrm>
            <a:off x="6263640" y="1874520"/>
            <a:ext cx="2606040" cy="22860"/>
          </a:xfrm>
          <a:prstGeom prst="rect">
            <a:avLst/>
          </a:prstGeom>
          <a:solidFill>
            <a:srgbClr val="E2E8F0"/>
          </a:solidFill>
          <a:ln w="12700">
            <a:solidFill>
              <a:srgbClr val="E2E8F0"/>
            </a:solidFill>
            <a:prstDash val="solid"/>
          </a:ln>
        </p:spPr>
        <p:txBody>
          <a:bodyPr/>
          <a:p/>
        </p:txBody>
      </p:sp>
      <p:sp>
        <p:nvSpPr>
          <p:cNvPr id="209402303" name="Text 26"/>
          <p:cNvSpPr/>
          <p:nvPr/>
        </p:nvSpPr>
        <p:spPr bwMode="auto">
          <a:xfrm>
            <a:off x="6263640" y="1920240"/>
            <a:ext cx="2606040" cy="301752"/>
          </a:xfrm>
          <a:prstGeom prst="rect">
            <a:avLst/>
          </a:prstGeom>
          <a:noFill/>
          <a:ln/>
        </p:spPr>
        <p:txBody>
          <a:bodyPr wrap="square" lIns="0" tIns="0" rIns="0" bIns="0" rtlCol="0" anchor="ctr"/>
          <a:lstStyle/>
          <a:p>
            <a:pPr marL="0" indent="0">
              <a:buNone/>
              <a:defRPr/>
            </a:pPr>
            <a:r>
              <a:rPr lang="en-US" sz="1000" i="1">
                <a:solidFill>
                  <a:srgbClr val="7C3AED"/>
                </a:solidFill>
                <a:latin typeface="Calibri"/>
                <a:ea typeface="Calibri"/>
                <a:cs typeface="Calibri"/>
              </a:rPr>
              <a:t>Closes Gap 3 — ClusterLLM</a:t>
            </a:r>
            <a:endParaRPr lang="en-US" sz="1000"/>
          </a:p>
        </p:txBody>
      </p:sp>
      <p:sp>
        <p:nvSpPr>
          <p:cNvPr id="1985396423" name="Text 27"/>
          <p:cNvSpPr/>
          <p:nvPr/>
        </p:nvSpPr>
        <p:spPr bwMode="auto">
          <a:xfrm>
            <a:off x="6336792" y="2267712"/>
            <a:ext cx="2514600" cy="2423160"/>
          </a:xfrm>
          <a:prstGeom prst="rect">
            <a:avLst/>
          </a:prstGeom>
          <a:noFill/>
          <a:ln/>
        </p:spPr>
        <p:txBody>
          <a:bodyPr wrap="square" lIns="0" tIns="0" rIns="0" bIns="0" rtlCol="0" anchor="t"/>
          <a:lstStyle/>
          <a:p>
            <a:pPr marL="342900" indent="-342900">
              <a:spcAft>
                <a:spcPts val="900"/>
              </a:spcAft>
              <a:buSzPct val="100000"/>
              <a:buChar char="•"/>
              <a:defRPr/>
            </a:pPr>
            <a:r>
              <a:rPr lang="en-US" sz="1100">
                <a:solidFill>
                  <a:srgbClr val="475569"/>
                </a:solidFill>
                <a:latin typeface="Calibri"/>
                <a:ea typeface="Calibri"/>
                <a:cs typeface="Calibri"/>
              </a:rPr>
              <a:t>First application of LLM concept grounding to numerical clinical data</a:t>
            </a:r>
            <a:endParaRPr lang="en-US" sz="1100"/>
          </a:p>
          <a:p>
            <a:pPr marL="342900" indent="-342900">
              <a:spcAft>
                <a:spcPts val="900"/>
              </a:spcAft>
              <a:buSzPct val="100000"/>
              <a:buChar char="•"/>
              <a:defRPr/>
            </a:pPr>
            <a:r>
              <a:rPr lang="en-US" sz="1100">
                <a:solidFill>
                  <a:srgbClr val="475569"/>
                </a:solidFill>
                <a:latin typeface="Calibri"/>
                <a:ea typeface="Calibri"/>
                <a:cs typeface="Calibri"/>
              </a:rPr>
              <a:t>LLM reads deviation profiles → clinical label → human validates</a:t>
            </a:r>
            <a:endParaRPr lang="en-US" sz="1100"/>
          </a:p>
          <a:p>
            <a:pPr marL="342900" indent="-342900">
              <a:spcAft>
                <a:spcPts val="900"/>
              </a:spcAft>
              <a:buSzPct val="100000"/>
              <a:buChar char="•"/>
              <a:defRPr/>
            </a:pPr>
            <a:r>
              <a:rPr lang="en-US" sz="1100">
                <a:solidFill>
                  <a:srgbClr val="475569"/>
                </a:solidFill>
                <a:latin typeface="Calibri"/>
                <a:ea typeface="Calibri"/>
                <a:cs typeface="Calibri"/>
              </a:rPr>
              <a:t>Result: 30 clinically plausible concept names, zero supervision</a:t>
            </a:r>
            <a:endParaRPr lang="en-US"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rgbClr val="1A1F3A"/>
        </a:solidFill>
      </p:bgPr>
    </p:bg>
    <p:spTree>
      <p:nvGrpSpPr>
        <p:cNvPr id="1" name=""/>
        <p:cNvGrpSpPr/>
        <p:nvPr/>
      </p:nvGrpSpPr>
      <p:grpSpPr bwMode="auto">
        <a:xfrm>
          <a:off x="0" y="0"/>
          <a:ext cx="0" cy="0"/>
          <a:chOff x="0" y="0"/>
          <a:chExt cx="0" cy="0"/>
        </a:xfrm>
      </p:grpSpPr>
      <p:sp>
        <p:nvSpPr>
          <p:cNvPr id="2079177024" name="Shape 0"/>
          <p:cNvSpPr/>
          <p:nvPr/>
        </p:nvSpPr>
        <p:spPr bwMode="auto">
          <a:xfrm>
            <a:off x="0" y="0"/>
            <a:ext cx="9144000" cy="64008"/>
          </a:xfrm>
          <a:prstGeom prst="rect">
            <a:avLst/>
          </a:prstGeom>
          <a:solidFill>
            <a:srgbClr val="0D9488"/>
          </a:solidFill>
          <a:ln w="12700">
            <a:solidFill>
              <a:srgbClr val="0D9488"/>
            </a:solidFill>
            <a:prstDash val="solid"/>
          </a:ln>
        </p:spPr>
        <p:txBody>
          <a:bodyPr/>
          <a:p/>
        </p:txBody>
      </p:sp>
      <p:sp>
        <p:nvSpPr>
          <p:cNvPr id="2008629913" name="Text 1"/>
          <p:cNvSpPr/>
          <p:nvPr/>
        </p:nvSpPr>
        <p:spPr bwMode="auto">
          <a:xfrm>
            <a:off x="457200" y="164592"/>
            <a:ext cx="8229600" cy="512064"/>
          </a:xfrm>
          <a:prstGeom prst="rect">
            <a:avLst/>
          </a:prstGeom>
          <a:noFill/>
          <a:ln/>
        </p:spPr>
        <p:txBody>
          <a:bodyPr wrap="square" lIns="0" tIns="0" rIns="0" bIns="0" rtlCol="0" anchor="ctr"/>
          <a:lstStyle/>
          <a:p>
            <a:pPr marL="0" indent="0" algn="l">
              <a:buNone/>
              <a:defRPr/>
            </a:pPr>
            <a:r>
              <a:rPr lang="en-US" sz="2600" b="1">
                <a:solidFill>
                  <a:srgbClr val="FFFFFF"/>
                </a:solidFill>
                <a:latin typeface="Calibri"/>
                <a:ea typeface="Calibri"/>
                <a:cs typeface="Calibri"/>
              </a:rPr>
              <a:t>Conclusion &amp; Future Work</a:t>
            </a:r>
            <a:endParaRPr lang="en-US" sz="2600"/>
          </a:p>
        </p:txBody>
      </p:sp>
      <p:sp>
        <p:nvSpPr>
          <p:cNvPr id="174370543" name="Shape 2"/>
          <p:cNvSpPr/>
          <p:nvPr/>
        </p:nvSpPr>
        <p:spPr bwMode="auto">
          <a:xfrm>
            <a:off x="457200" y="658368"/>
            <a:ext cx="8229600" cy="22860"/>
          </a:xfrm>
          <a:prstGeom prst="rect">
            <a:avLst/>
          </a:prstGeom>
          <a:solidFill>
            <a:srgbClr val="0D9488"/>
          </a:solidFill>
          <a:ln w="12700">
            <a:solidFill>
              <a:srgbClr val="0D9488"/>
            </a:solidFill>
            <a:prstDash val="solid"/>
          </a:ln>
        </p:spPr>
        <p:txBody>
          <a:bodyPr/>
          <a:p/>
        </p:txBody>
      </p:sp>
      <p:sp>
        <p:nvSpPr>
          <p:cNvPr id="1882558238" name="Shape 3"/>
          <p:cNvSpPr/>
          <p:nvPr/>
        </p:nvSpPr>
        <p:spPr bwMode="auto">
          <a:xfrm>
            <a:off x="274320" y="822960"/>
            <a:ext cx="4114800" cy="4005072"/>
          </a:xfrm>
          <a:prstGeom prst="rect">
            <a:avLst/>
          </a:prstGeom>
          <a:solidFill>
            <a:srgbClr val="2D3A6A"/>
          </a:solidFill>
          <a:ln w="12700">
            <a:solidFill>
              <a:srgbClr val="2D3A6A"/>
            </a:solidFill>
            <a:prstDash val="solid"/>
          </a:ln>
          <a:effectLst>
            <a:outerShdw blurRad="76200" dist="25400" dir="8100000" sx="100000" sy="100000" kx="0" ky="0" algn="bl" rotWithShape="0">
              <a:srgbClr val="000000">
                <a:alpha val="10000"/>
              </a:srgbClr>
            </a:outerShdw>
          </a:effectLst>
        </p:spPr>
        <p:txBody>
          <a:bodyPr/>
          <a:p/>
        </p:txBody>
      </p:sp>
      <p:sp>
        <p:nvSpPr>
          <p:cNvPr id="1017315043" name="Shape 4"/>
          <p:cNvSpPr/>
          <p:nvPr/>
        </p:nvSpPr>
        <p:spPr bwMode="auto">
          <a:xfrm>
            <a:off x="274320" y="822960"/>
            <a:ext cx="4114800" cy="402336"/>
          </a:xfrm>
          <a:prstGeom prst="rect">
            <a:avLst/>
          </a:prstGeom>
          <a:solidFill>
            <a:srgbClr val="0D9488"/>
          </a:solidFill>
          <a:ln w="12700">
            <a:solidFill>
              <a:srgbClr val="0D9488"/>
            </a:solidFill>
            <a:prstDash val="solid"/>
          </a:ln>
        </p:spPr>
        <p:txBody>
          <a:bodyPr/>
          <a:p/>
        </p:txBody>
      </p:sp>
      <p:sp>
        <p:nvSpPr>
          <p:cNvPr id="122849946" name="Text 5"/>
          <p:cNvSpPr/>
          <p:nvPr/>
        </p:nvSpPr>
        <p:spPr bwMode="auto">
          <a:xfrm>
            <a:off x="365760" y="822960"/>
            <a:ext cx="3931920" cy="402336"/>
          </a:xfrm>
          <a:prstGeom prst="rect">
            <a:avLst/>
          </a:prstGeom>
          <a:noFill/>
          <a:ln/>
        </p:spPr>
        <p:txBody>
          <a:bodyPr wrap="square" rtlCol="0" anchor="ctr"/>
          <a:lstStyle/>
          <a:p>
            <a:pPr marL="0" indent="0" algn="l">
              <a:buNone/>
              <a:defRPr/>
            </a:pPr>
            <a:r>
              <a:rPr lang="en-US" sz="1300" b="1">
                <a:solidFill>
                  <a:srgbClr val="FFFFFF"/>
                </a:solidFill>
                <a:latin typeface="Calibri"/>
                <a:ea typeface="Calibri"/>
                <a:cs typeface="Calibri"/>
              </a:rPr>
              <a:t>What Was Achieved</a:t>
            </a:r>
            <a:endParaRPr lang="en-US" sz="1300"/>
          </a:p>
        </p:txBody>
      </p:sp>
      <p:sp>
        <p:nvSpPr>
          <p:cNvPr id="163647116" name="Text 6"/>
          <p:cNvSpPr/>
          <p:nvPr/>
        </p:nvSpPr>
        <p:spPr bwMode="auto">
          <a:xfrm>
            <a:off x="411480" y="1280160"/>
            <a:ext cx="3840480" cy="3401568"/>
          </a:xfrm>
          <a:prstGeom prst="rect">
            <a:avLst/>
          </a:prstGeom>
          <a:noFill/>
          <a:ln/>
        </p:spPr>
        <p:txBody>
          <a:bodyPr wrap="square" lIns="0" tIns="0" rIns="0" bIns="0" rtlCol="0" anchor="t"/>
          <a:lstStyle/>
          <a:p>
            <a:pPr marL="342900" indent="-342900">
              <a:spcAft>
                <a:spcPts val="800"/>
              </a:spcAft>
              <a:buSzPct val="100000"/>
              <a:buChar char="•"/>
              <a:defRPr/>
            </a:pPr>
            <a:r>
              <a:rPr lang="en-US" sz="1100">
                <a:solidFill>
                  <a:srgbClr val="99F6E4"/>
                </a:solidFill>
                <a:latin typeface="Calibri"/>
                <a:ea typeface="Calibri"/>
                <a:cs typeface="Calibri"/>
              </a:rPr>
              <a:t>Two-domain pipeline with shared 3-stage architecture (Visual + Lab)</a:t>
            </a:r>
            <a:endParaRPr lang="en-US" sz="1100"/>
          </a:p>
          <a:p>
            <a:pPr marL="342900" indent="-342900">
              <a:spcAft>
                <a:spcPts val="800"/>
              </a:spcAft>
              <a:buSzPct val="100000"/>
              <a:buChar char="•"/>
              <a:defRPr/>
            </a:pPr>
            <a:r>
              <a:rPr lang="en-US" sz="1100">
                <a:solidFill>
                  <a:srgbClr val="99F6E4"/>
                </a:solidFill>
                <a:latin typeface="Calibri"/>
                <a:ea typeface="Calibri"/>
                <a:cs typeface="Calibri"/>
              </a:rPr>
              <a:t>30 clinically coherent concepts discovered from NHANES without any supervision</a:t>
            </a:r>
            <a:endParaRPr lang="en-US" sz="1100"/>
          </a:p>
          <a:p>
            <a:pPr marL="342900" indent="-342900">
              <a:spcAft>
                <a:spcPts val="800"/>
              </a:spcAft>
              <a:buSzPct val="100000"/>
              <a:buChar char="•"/>
              <a:defRPr/>
            </a:pPr>
            <a:r>
              <a:rPr lang="en-US" sz="1100">
                <a:solidFill>
                  <a:srgbClr val="99F6E4"/>
                </a:solidFill>
                <a:latin typeface="Calibri"/>
                <a:ea typeface="Calibri"/>
                <a:cs typeface="Calibri"/>
              </a:rPr>
              <a:t>LLM grounding of numerical data — novel extension beyond NLP (Gap 3)</a:t>
            </a:r>
            <a:endParaRPr lang="en-US" sz="1100"/>
          </a:p>
          <a:p>
            <a:pPr marL="342900" indent="-342900">
              <a:spcAft>
                <a:spcPts val="800"/>
              </a:spcAft>
              <a:buSzPct val="100000"/>
              <a:buChar char="•"/>
              <a:defRPr/>
            </a:pPr>
            <a:r>
              <a:rPr lang="en-US" sz="1100">
                <a:solidFill>
                  <a:srgbClr val="99F6E4"/>
                </a:solidFill>
                <a:latin typeface="Calibri"/>
                <a:ea typeface="Calibri"/>
                <a:cs typeface="Calibri"/>
              </a:rPr>
              <a:t>Concept scores achieve 1.53× chance accuracy with fully auditable predictions</a:t>
            </a:r>
            <a:endParaRPr lang="en-US" sz="1100"/>
          </a:p>
          <a:p>
            <a:pPr marL="342900" indent="-342900">
              <a:spcAft>
                <a:spcPts val="800"/>
              </a:spcAft>
              <a:buSzPct val="100000"/>
              <a:buChar char="•"/>
              <a:defRPr/>
            </a:pPr>
            <a:r>
              <a:rPr lang="en-US" sz="1100">
                <a:solidFill>
                  <a:srgbClr val="99F6E4"/>
                </a:solidFill>
                <a:latin typeface="Calibri"/>
                <a:ea typeface="Calibri"/>
                <a:cs typeface="Calibri"/>
              </a:rPr>
              <a:t>Ablations confirm each of the three design decisions against controlled baselines</a:t>
            </a:r>
            <a:endParaRPr lang="en-US" sz="1100"/>
          </a:p>
        </p:txBody>
      </p:sp>
      <p:sp>
        <p:nvSpPr>
          <p:cNvPr id="2031545696" name="Shape 7"/>
          <p:cNvSpPr/>
          <p:nvPr/>
        </p:nvSpPr>
        <p:spPr bwMode="auto">
          <a:xfrm>
            <a:off x="4663440" y="822960"/>
            <a:ext cx="4206240" cy="4005072"/>
          </a:xfrm>
          <a:prstGeom prst="rect">
            <a:avLst/>
          </a:prstGeom>
          <a:solidFill>
            <a:srgbClr val="2D3A6A"/>
          </a:solidFill>
          <a:ln w="12700">
            <a:solidFill>
              <a:srgbClr val="2D3A6A"/>
            </a:solidFill>
            <a:prstDash val="solid"/>
          </a:ln>
          <a:effectLst>
            <a:outerShdw blurRad="76200" dist="25400" dir="8100000" sx="100000" sy="100000" kx="0" ky="0" algn="bl" rotWithShape="0">
              <a:srgbClr val="000000">
                <a:alpha val="10000"/>
              </a:srgbClr>
            </a:outerShdw>
          </a:effectLst>
        </p:spPr>
        <p:txBody>
          <a:bodyPr/>
          <a:p/>
        </p:txBody>
      </p:sp>
      <p:sp>
        <p:nvSpPr>
          <p:cNvPr id="692446685" name="Shape 8"/>
          <p:cNvSpPr/>
          <p:nvPr/>
        </p:nvSpPr>
        <p:spPr bwMode="auto">
          <a:xfrm>
            <a:off x="4663440" y="822960"/>
            <a:ext cx="4206240" cy="402336"/>
          </a:xfrm>
          <a:prstGeom prst="rect">
            <a:avLst/>
          </a:prstGeom>
          <a:solidFill>
            <a:srgbClr val="F59E0B"/>
          </a:solidFill>
          <a:ln w="12700">
            <a:solidFill>
              <a:srgbClr val="F59E0B"/>
            </a:solidFill>
            <a:prstDash val="solid"/>
          </a:ln>
        </p:spPr>
        <p:txBody>
          <a:bodyPr/>
          <a:p/>
        </p:txBody>
      </p:sp>
      <p:sp>
        <p:nvSpPr>
          <p:cNvPr id="672711662" name="Text 9"/>
          <p:cNvSpPr/>
          <p:nvPr/>
        </p:nvSpPr>
        <p:spPr bwMode="auto">
          <a:xfrm>
            <a:off x="4754880" y="822960"/>
            <a:ext cx="4023360" cy="402336"/>
          </a:xfrm>
          <a:prstGeom prst="rect">
            <a:avLst/>
          </a:prstGeom>
          <a:noFill/>
          <a:ln/>
        </p:spPr>
        <p:txBody>
          <a:bodyPr wrap="square" rtlCol="0" anchor="ctr"/>
          <a:lstStyle/>
          <a:p>
            <a:pPr marL="0" indent="0" algn="l">
              <a:buNone/>
              <a:defRPr/>
            </a:pPr>
            <a:r>
              <a:rPr lang="en-US" sz="1300" b="1">
                <a:solidFill>
                  <a:srgbClr val="1E293B"/>
                </a:solidFill>
                <a:latin typeface="Calibri"/>
                <a:ea typeface="Calibri"/>
                <a:cs typeface="Calibri"/>
              </a:rPr>
              <a:t>Future Work</a:t>
            </a:r>
            <a:endParaRPr lang="en-US" sz="1300"/>
          </a:p>
        </p:txBody>
      </p:sp>
      <p:sp>
        <p:nvSpPr>
          <p:cNvPr id="1170863770" name="Text 10"/>
          <p:cNvSpPr/>
          <p:nvPr/>
        </p:nvSpPr>
        <p:spPr bwMode="auto">
          <a:xfrm>
            <a:off x="4800600" y="1280160"/>
            <a:ext cx="3931920" cy="3401568"/>
          </a:xfrm>
          <a:prstGeom prst="rect">
            <a:avLst/>
          </a:prstGeom>
          <a:noFill/>
          <a:ln/>
        </p:spPr>
        <p:txBody>
          <a:bodyPr wrap="square" lIns="0" tIns="0" rIns="0" bIns="0" rtlCol="0" anchor="t"/>
          <a:lstStyle/>
          <a:p>
            <a:r>
              <a:t>Extend to MIMIC-IV for physician-confirmed diagnosis codes at scale</a:t>
            </a:r>
          </a:p>
          <a:p>
            <a:r>
              <a:t>Multi-dataset generalisation: CUB-200 &amp; Stanford Cars (extension beyond Oxford-IIIT Pet / STL-10)</a:t>
            </a:r>
          </a:p>
          <a:p>
            <a:r>
              <a:t>Non-linear concept classifiers (kernel SVM, MLP) to improve disease-class recall</a:t>
            </a:r>
          </a:p>
          <a:p>
            <a:r>
              <a:t>Weighted GMM sampling to reduce majority-class collapse in concept space</a:t>
            </a:r>
          </a:p>
          <a:p>
            <a:r>
              <a:t>Concept drift detection: alert when patient patterns fall outside known clusters</a:t>
            </a:r>
          </a:p>
          <a:p>
            <a:r>
              <a:t>Formal EU AI Act Article 13 compliance audit for clinical deployment</a:t>
            </a:r>
          </a:p>
        </p:txBody>
      </p:sp>
      <p:sp>
        <p:nvSpPr>
          <p:cNvPr id="1008156523" name="Shape 11"/>
          <p:cNvSpPr/>
          <p:nvPr/>
        </p:nvSpPr>
        <p:spPr bwMode="auto">
          <a:xfrm>
            <a:off x="0" y="5079492"/>
            <a:ext cx="9144000" cy="64008"/>
          </a:xfrm>
          <a:prstGeom prst="rect">
            <a:avLst/>
          </a:prstGeom>
          <a:solidFill>
            <a:srgbClr val="0D9488"/>
          </a:solidFill>
          <a:ln w="12700">
            <a:solidFill>
              <a:srgbClr val="0D9488"/>
            </a:solidFill>
            <a:prstDash val="solid"/>
          </a:ln>
        </p:spPr>
        <p:txBody>
          <a:body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bg>
      <p:bgPr shadeToTitle="0">
        <a:solidFill>
          <a:srgbClr val="1A1F3A"/>
        </a:solidFill>
      </p:bgPr>
    </p:bg>
    <p:spTree>
      <p:nvGrpSpPr>
        <p:cNvPr id="1" name=""/>
        <p:cNvGrpSpPr/>
        <p:nvPr/>
      </p:nvGrpSpPr>
      <p:grpSpPr bwMode="auto">
        <a:xfrm>
          <a:off x="0" y="0"/>
          <a:ext cx="0" cy="0"/>
          <a:chOff x="0" y="0"/>
          <a:chExt cx="0" cy="0"/>
        </a:xfrm>
      </p:grpSpPr>
      <p:sp>
        <p:nvSpPr>
          <p:cNvPr id="43470225" name="Shape 0"/>
          <p:cNvSpPr/>
          <p:nvPr/>
        </p:nvSpPr>
        <p:spPr bwMode="auto">
          <a:xfrm>
            <a:off x="0" y="0"/>
            <a:ext cx="9144000" cy="64008"/>
          </a:xfrm>
          <a:prstGeom prst="rect">
            <a:avLst/>
          </a:prstGeom>
          <a:solidFill>
            <a:srgbClr val="0D9488"/>
          </a:solidFill>
          <a:ln w="12700">
            <a:solidFill>
              <a:srgbClr val="0D9488"/>
            </a:solidFill>
            <a:prstDash val="solid"/>
          </a:ln>
        </p:spPr>
        <p:txBody>
          <a:bodyPr/>
          <a:p/>
        </p:txBody>
      </p:sp>
      <p:sp>
        <p:nvSpPr>
          <p:cNvPr id="1107884669" name="Shape 1"/>
          <p:cNvSpPr/>
          <p:nvPr/>
        </p:nvSpPr>
        <p:spPr bwMode="auto">
          <a:xfrm>
            <a:off x="0" y="5079492"/>
            <a:ext cx="9144000" cy="64008"/>
          </a:xfrm>
          <a:prstGeom prst="rect">
            <a:avLst/>
          </a:prstGeom>
          <a:solidFill>
            <a:srgbClr val="0D9488"/>
          </a:solidFill>
          <a:ln w="12700">
            <a:solidFill>
              <a:srgbClr val="0D9488"/>
            </a:solidFill>
            <a:prstDash val="solid"/>
          </a:ln>
        </p:spPr>
        <p:txBody>
          <a:bodyPr/>
          <a:p/>
        </p:txBody>
      </p:sp>
      <p:sp>
        <p:nvSpPr>
          <p:cNvPr id="351951939" name="Shape 2"/>
          <p:cNvSpPr/>
          <p:nvPr/>
        </p:nvSpPr>
        <p:spPr bwMode="auto">
          <a:xfrm>
            <a:off x="1828800" y="2377440"/>
            <a:ext cx="5486400" cy="36576"/>
          </a:xfrm>
          <a:prstGeom prst="rect">
            <a:avLst/>
          </a:prstGeom>
          <a:solidFill>
            <a:srgbClr val="F59E0B"/>
          </a:solidFill>
          <a:ln w="12700">
            <a:solidFill>
              <a:srgbClr val="F59E0B"/>
            </a:solidFill>
            <a:prstDash val="solid"/>
          </a:ln>
        </p:spPr>
        <p:txBody>
          <a:bodyPr/>
          <a:p/>
        </p:txBody>
      </p:sp>
      <p:sp>
        <p:nvSpPr>
          <p:cNvPr id="747558594" name="Text 3"/>
          <p:cNvSpPr/>
          <p:nvPr/>
        </p:nvSpPr>
        <p:spPr bwMode="auto">
          <a:xfrm>
            <a:off x="457200" y="1371600"/>
            <a:ext cx="8229600" cy="822960"/>
          </a:xfrm>
          <a:prstGeom prst="rect">
            <a:avLst/>
          </a:prstGeom>
          <a:noFill/>
          <a:ln/>
        </p:spPr>
        <p:txBody>
          <a:bodyPr wrap="square" lIns="0" tIns="0" rIns="0" bIns="0" rtlCol="0" anchor="ctr"/>
          <a:lstStyle/>
          <a:p>
            <a:pPr marL="0" indent="0" algn="ctr">
              <a:buNone/>
              <a:defRPr/>
            </a:pPr>
            <a:r>
              <a:rPr lang="en-US" sz="4800" b="1">
                <a:solidFill>
                  <a:srgbClr val="FFFFFF"/>
                </a:solidFill>
                <a:latin typeface="Calibri"/>
                <a:ea typeface="Calibri"/>
                <a:cs typeface="Calibri"/>
              </a:rPr>
              <a:t>Thank You</a:t>
            </a:r>
            <a:endParaRPr lang="en-US" sz="4800"/>
          </a:p>
        </p:txBody>
      </p:sp>
      <p:sp>
        <p:nvSpPr>
          <p:cNvPr id="1409453170" name="Text 4"/>
          <p:cNvSpPr/>
          <p:nvPr/>
        </p:nvSpPr>
        <p:spPr bwMode="auto">
          <a:xfrm>
            <a:off x="457200" y="2212848"/>
            <a:ext cx="8229600" cy="438912"/>
          </a:xfrm>
          <a:prstGeom prst="rect">
            <a:avLst/>
          </a:prstGeom>
          <a:noFill/>
          <a:ln/>
        </p:spPr>
        <p:txBody>
          <a:bodyPr wrap="square" lIns="0" tIns="0" rIns="0" bIns="0" rtlCol="0" anchor="ctr"/>
          <a:lstStyle/>
          <a:p>
            <a:pPr marL="0" indent="0" algn="ctr">
              <a:buNone/>
              <a:defRPr/>
            </a:pPr>
            <a:r>
              <a:rPr lang="en-US" sz="2000">
                <a:solidFill>
                  <a:srgbClr val="99F6E4"/>
                </a:solidFill>
                <a:latin typeface="Calibri"/>
                <a:ea typeface="Calibri"/>
                <a:cs typeface="Calibri"/>
              </a:rPr>
              <a:t>Questions &amp; Discussion</a:t>
            </a:r>
            <a:endParaRPr lang="en-US" sz="2000"/>
          </a:p>
        </p:txBody>
      </p:sp>
      <p:sp>
        <p:nvSpPr>
          <p:cNvPr id="1666311448" name="Text 5"/>
          <p:cNvSpPr/>
          <p:nvPr/>
        </p:nvSpPr>
        <p:spPr bwMode="auto">
          <a:xfrm>
            <a:off x="457200" y="3017519"/>
            <a:ext cx="8229600" cy="320040"/>
          </a:xfrm>
          <a:prstGeom prst="rect">
            <a:avLst/>
          </a:prstGeom>
          <a:noFill/>
          <a:ln/>
        </p:spPr>
        <p:txBody>
          <a:bodyPr wrap="square" lIns="0" tIns="0" rIns="0" bIns="0" rtlCol="0" anchor="ctr"/>
          <a:lstStyle/>
          <a:p>
            <a:r>
              <a:t>Learning Interpretable Feature Spaces (DIFE)</a:t>
            </a:r>
          </a:p>
        </p:txBody>
      </p:sp>
      <p:sp>
        <p:nvSpPr>
          <p:cNvPr id="1658427027" name="Text 6"/>
          <p:cNvSpPr/>
          <p:nvPr/>
        </p:nvSpPr>
        <p:spPr bwMode="auto">
          <a:xfrm>
            <a:off x="457200" y="3364992"/>
            <a:ext cx="8229600" cy="320040"/>
          </a:xfrm>
          <a:prstGeom prst="rect">
            <a:avLst/>
          </a:prstGeom>
          <a:noFill/>
          <a:ln/>
        </p:spPr>
        <p:txBody>
          <a:bodyPr wrap="square" lIns="0" tIns="0" rIns="0" bIns="0" rtlCol="0" anchor="ctr"/>
          <a:lstStyle/>
          <a:p>
            <a:r>
              <a:t>Bhoopesh Singh  ·  CS4700A Dissertation  ·  bhoopesh.singh@gmail.com</a:t>
            </a:r>
          </a:p>
          <a:p/>
          <a:p>
            <a:r>
              <a:t>Image: 98.9% acc · Tabular: 50.9% · NHANES n=18,673</a:t>
            </a:r>
          </a:p>
        </p:txBody>
      </p:sp>
      <p:sp>
        <p:nvSpPr>
          <p:cNvPr id="351931943" name="Shape 7"/>
          <p:cNvSpPr/>
          <p:nvPr/>
        </p:nvSpPr>
        <p:spPr bwMode="auto">
          <a:xfrm>
            <a:off x="868680" y="3931920"/>
            <a:ext cx="2377440" cy="914400"/>
          </a:xfrm>
          <a:prstGeom prst="rect">
            <a:avLst/>
          </a:prstGeom>
          <a:solidFill>
            <a:srgbClr val="2D3A6A"/>
          </a:solidFill>
          <a:ln w="12700">
            <a:solidFill>
              <a:srgbClr val="0D9488"/>
            </a:solidFill>
            <a:prstDash val="solid"/>
          </a:ln>
        </p:spPr>
        <p:txBody>
          <a:bodyPr/>
          <a:p/>
        </p:txBody>
      </p:sp>
      <p:sp>
        <p:nvSpPr>
          <p:cNvPr id="1673507660" name="Text 8"/>
          <p:cNvSpPr/>
          <p:nvPr/>
        </p:nvSpPr>
        <p:spPr bwMode="auto">
          <a:xfrm>
            <a:off x="868680" y="3931920"/>
            <a:ext cx="2377440" cy="530352"/>
          </a:xfrm>
          <a:prstGeom prst="rect">
            <a:avLst/>
          </a:prstGeom>
          <a:noFill/>
          <a:ln/>
        </p:spPr>
        <p:txBody>
          <a:bodyPr wrap="square" lIns="0" tIns="0" rIns="0" bIns="0" rtlCol="0" anchor="ctr"/>
          <a:lstStyle/>
          <a:p>
            <a:pPr marL="0" indent="0" algn="ctr">
              <a:buNone/>
              <a:defRPr/>
            </a:pPr>
            <a:r>
              <a:rPr lang="en-US" sz="2800" b="1">
                <a:solidFill>
                  <a:srgbClr val="F59E0B"/>
                </a:solidFill>
                <a:latin typeface="Calibri"/>
                <a:ea typeface="Calibri"/>
                <a:cs typeface="Calibri"/>
              </a:rPr>
              <a:t>18,673</a:t>
            </a:r>
            <a:endParaRPr lang="en-US" sz="2800"/>
          </a:p>
        </p:txBody>
      </p:sp>
      <p:sp>
        <p:nvSpPr>
          <p:cNvPr id="93378463" name="Text 9"/>
          <p:cNvSpPr/>
          <p:nvPr/>
        </p:nvSpPr>
        <p:spPr bwMode="auto">
          <a:xfrm>
            <a:off x="868680" y="4407408"/>
            <a:ext cx="2377440" cy="384048"/>
          </a:xfrm>
          <a:prstGeom prst="rect">
            <a:avLst/>
          </a:prstGeom>
          <a:noFill/>
          <a:ln/>
        </p:spPr>
        <p:txBody>
          <a:bodyPr wrap="square" lIns="0" tIns="0" rIns="0" bIns="0" rtlCol="0" anchor="t"/>
          <a:lstStyle/>
          <a:p>
            <a:pPr marL="0" indent="0" algn="ctr">
              <a:buNone/>
              <a:defRPr/>
            </a:pPr>
            <a:r>
              <a:rPr lang="en-US" sz="1000">
                <a:solidFill>
                  <a:srgbClr val="99F6E4"/>
                </a:solidFill>
                <a:latin typeface="Calibri"/>
                <a:ea typeface="Calibri"/>
                <a:cs typeface="Calibri"/>
              </a:rPr>
              <a:t>NHANES Records</a:t>
            </a:r>
            <a:endParaRPr lang="en-US" sz="1000"/>
          </a:p>
        </p:txBody>
      </p:sp>
      <p:sp>
        <p:nvSpPr>
          <p:cNvPr id="604595180" name="Shape 10"/>
          <p:cNvSpPr/>
          <p:nvPr/>
        </p:nvSpPr>
        <p:spPr bwMode="auto">
          <a:xfrm>
            <a:off x="3611880" y="3931920"/>
            <a:ext cx="2377440" cy="914400"/>
          </a:xfrm>
          <a:prstGeom prst="rect">
            <a:avLst/>
          </a:prstGeom>
          <a:solidFill>
            <a:srgbClr val="2D3A6A"/>
          </a:solidFill>
          <a:ln w="12700">
            <a:solidFill>
              <a:srgbClr val="0D9488"/>
            </a:solidFill>
            <a:prstDash val="solid"/>
          </a:ln>
        </p:spPr>
        <p:txBody>
          <a:bodyPr/>
          <a:p/>
        </p:txBody>
      </p:sp>
      <p:sp>
        <p:nvSpPr>
          <p:cNvPr id="1758844078" name="Text 11"/>
          <p:cNvSpPr/>
          <p:nvPr/>
        </p:nvSpPr>
        <p:spPr bwMode="auto">
          <a:xfrm>
            <a:off x="3611880" y="3931920"/>
            <a:ext cx="2377440" cy="530352"/>
          </a:xfrm>
          <a:prstGeom prst="rect">
            <a:avLst/>
          </a:prstGeom>
          <a:noFill/>
          <a:ln/>
        </p:spPr>
        <p:txBody>
          <a:bodyPr wrap="square" lIns="0" tIns="0" rIns="0" bIns="0" rtlCol="0" anchor="ctr"/>
          <a:lstStyle/>
          <a:p>
            <a:pPr marL="0" indent="0" algn="ctr">
              <a:buNone/>
              <a:defRPr/>
            </a:pPr>
            <a:r>
              <a:rPr lang="en-US" sz="2800" b="1">
                <a:solidFill>
                  <a:srgbClr val="F59E0B"/>
                </a:solidFill>
                <a:latin typeface="Calibri"/>
                <a:ea typeface="Calibri"/>
                <a:cs typeface="Calibri"/>
              </a:rPr>
              <a:t>30</a:t>
            </a:r>
            <a:endParaRPr lang="en-US" sz="2800"/>
          </a:p>
        </p:txBody>
      </p:sp>
      <p:sp>
        <p:nvSpPr>
          <p:cNvPr id="824676716" name="Text 12"/>
          <p:cNvSpPr/>
          <p:nvPr/>
        </p:nvSpPr>
        <p:spPr bwMode="auto">
          <a:xfrm>
            <a:off x="3611880" y="4407408"/>
            <a:ext cx="2377440" cy="384048"/>
          </a:xfrm>
          <a:prstGeom prst="rect">
            <a:avLst/>
          </a:prstGeom>
          <a:noFill/>
          <a:ln/>
        </p:spPr>
        <p:txBody>
          <a:bodyPr wrap="square" lIns="0" tIns="0" rIns="0" bIns="0" rtlCol="0" anchor="t"/>
          <a:lstStyle/>
          <a:p>
            <a:pPr marL="0" indent="0" algn="ctr">
              <a:buNone/>
              <a:defRPr/>
            </a:pPr>
            <a:r>
              <a:rPr lang="en-US" sz="1000">
                <a:solidFill>
                  <a:srgbClr val="99F6E4"/>
                </a:solidFill>
                <a:latin typeface="Calibri"/>
                <a:ea typeface="Calibri"/>
                <a:cs typeface="Calibri"/>
              </a:rPr>
              <a:t>Clinical Concepts</a:t>
            </a:r>
            <a:endParaRPr lang="en-US" sz="1000"/>
          </a:p>
        </p:txBody>
      </p:sp>
      <p:sp>
        <p:nvSpPr>
          <p:cNvPr id="4069626" name="Shape 13"/>
          <p:cNvSpPr/>
          <p:nvPr/>
        </p:nvSpPr>
        <p:spPr bwMode="auto">
          <a:xfrm>
            <a:off x="6355080" y="3931920"/>
            <a:ext cx="2377440" cy="914400"/>
          </a:xfrm>
          <a:prstGeom prst="rect">
            <a:avLst/>
          </a:prstGeom>
          <a:solidFill>
            <a:srgbClr val="2D3A6A"/>
          </a:solidFill>
          <a:ln w="12700">
            <a:solidFill>
              <a:srgbClr val="0D9488"/>
            </a:solidFill>
            <a:prstDash val="solid"/>
          </a:ln>
        </p:spPr>
        <p:txBody>
          <a:bodyPr/>
          <a:p/>
        </p:txBody>
      </p:sp>
      <p:sp>
        <p:nvSpPr>
          <p:cNvPr id="538571384" name="Text 14"/>
          <p:cNvSpPr/>
          <p:nvPr/>
        </p:nvSpPr>
        <p:spPr bwMode="auto">
          <a:xfrm>
            <a:off x="6355080" y="3931920"/>
            <a:ext cx="2377440" cy="530352"/>
          </a:xfrm>
          <a:prstGeom prst="rect">
            <a:avLst/>
          </a:prstGeom>
          <a:noFill/>
          <a:ln/>
        </p:spPr>
        <p:txBody>
          <a:bodyPr wrap="square" lIns="0" tIns="0" rIns="0" bIns="0" rtlCol="0" anchor="ctr"/>
          <a:lstStyle/>
          <a:p>
            <a:pPr marL="0" indent="0" algn="ctr">
              <a:buNone/>
              <a:defRPr/>
            </a:pPr>
            <a:r>
              <a:rPr lang="en-US" sz="2800" b="1">
                <a:solidFill>
                  <a:srgbClr val="F59E0B"/>
                </a:solidFill>
                <a:latin typeface="Calibri"/>
                <a:ea typeface="Calibri"/>
                <a:cs typeface="Calibri"/>
              </a:rPr>
              <a:t>1.53×</a:t>
            </a:r>
            <a:endParaRPr lang="en-US" sz="2800"/>
          </a:p>
        </p:txBody>
      </p:sp>
      <p:sp>
        <p:nvSpPr>
          <p:cNvPr id="1380257185" name="Text 15"/>
          <p:cNvSpPr/>
          <p:nvPr/>
        </p:nvSpPr>
        <p:spPr bwMode="auto">
          <a:xfrm>
            <a:off x="6355080" y="4407408"/>
            <a:ext cx="2377440" cy="384048"/>
          </a:xfrm>
          <a:prstGeom prst="rect">
            <a:avLst/>
          </a:prstGeom>
          <a:noFill/>
          <a:ln/>
        </p:spPr>
        <p:txBody>
          <a:bodyPr wrap="square" lIns="0" tIns="0" rIns="0" bIns="0" rtlCol="0" anchor="t"/>
          <a:lstStyle/>
          <a:p>
            <a:pPr marL="0" indent="0" algn="ctr">
              <a:buNone/>
              <a:defRPr/>
            </a:pPr>
            <a:r>
              <a:rPr lang="en-US" sz="1000">
                <a:solidFill>
                  <a:srgbClr val="99F6E4"/>
                </a:solidFill>
                <a:latin typeface="Calibri"/>
                <a:ea typeface="Calibri"/>
                <a:cs typeface="Calibri"/>
              </a:rPr>
              <a:t>Above-Chance Accuracy</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14</Slides>
  <Notes>14</Notes>
  <HiddenSlides>0</HiddenSlides>
  <MMClips>2</MMClips>
  <ScaleCrop>0</ScaleCrop>
  <HeadingPairs>
    <vt:vector size="4" baseType="variant">
      <vt:variant>
        <vt:lpstr>Theme</vt:lpstr>
      </vt:variant>
      <vt:variant>
        <vt:i4>1</vt:i4>
      </vt:variant>
      <vt:variant>
        <vt:lpstr>Slide Titles</vt:lpstr>
      </vt:variant>
      <vt:variant>
        <vt:i4>14</vt:i4>
      </vt:variant>
    </vt:vector>
  </HeadingPairs>
  <TitlesOfParts>
    <vt:vector size="1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
  <cp:revision>2</cp:revision>
  <dcterms:created xsi:type="dcterms:W3CDTF">2026-04-09T09:24:28Z</dcterms:created>
  <dcterms:modified xsi:type="dcterms:W3CDTF">2026-04-10T07:38:43Z</dcterms:modified>
</cp:coreProperties>
</file>